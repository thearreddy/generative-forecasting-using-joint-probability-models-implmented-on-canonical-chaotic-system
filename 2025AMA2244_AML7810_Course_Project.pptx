
<file path=[Content_Types].xml><?xml version="1.0" encoding="utf-8"?>
<Types xmlns="http://schemas.openxmlformats.org/package/2006/content-types">
  <Default Extension="gif" ContentType="image/gif"/>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88" r:id="rId3"/>
    <p:sldId id="259" r:id="rId4"/>
    <p:sldId id="260" r:id="rId5"/>
    <p:sldId id="261" r:id="rId6"/>
    <p:sldId id="268" r:id="rId7"/>
    <p:sldId id="265" r:id="rId8"/>
    <p:sldId id="271" r:id="rId9"/>
    <p:sldId id="272" r:id="rId10"/>
    <p:sldId id="273" r:id="rId11"/>
    <p:sldId id="277" r:id="rId12"/>
    <p:sldId id="276" r:id="rId13"/>
    <p:sldId id="280" r:id="rId14"/>
    <p:sldId id="281" r:id="rId15"/>
    <p:sldId id="282" r:id="rId16"/>
    <p:sldId id="283" r:id="rId17"/>
    <p:sldId id="284" r:id="rId18"/>
    <p:sldId id="285" r:id="rId19"/>
    <p:sldId id="291" r:id="rId20"/>
    <p:sldId id="292" r:id="rId21"/>
    <p:sldId id="293" r:id="rId22"/>
    <p:sldId id="289" r:id="rId23"/>
    <p:sldId id="294" r:id="rId24"/>
    <p:sldId id="295" r:id="rId25"/>
    <p:sldId id="296" r:id="rId26"/>
    <p:sldId id="297" r:id="rId27"/>
    <p:sldId id="28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1942F4B-9379-4C64-9E71-6B9AB606EA84}">
          <p14:sldIdLst>
            <p14:sldId id="256"/>
            <p14:sldId id="288"/>
            <p14:sldId id="259"/>
            <p14:sldId id="260"/>
            <p14:sldId id="261"/>
            <p14:sldId id="268"/>
            <p14:sldId id="265"/>
          </p14:sldIdLst>
        </p14:section>
        <p14:section name="Untitled Section" id="{863215AE-9FA7-41B3-95B4-3E8E8C153FCC}">
          <p14:sldIdLst>
            <p14:sldId id="271"/>
            <p14:sldId id="272"/>
            <p14:sldId id="273"/>
            <p14:sldId id="277"/>
            <p14:sldId id="276"/>
            <p14:sldId id="280"/>
            <p14:sldId id="281"/>
            <p14:sldId id="282"/>
            <p14:sldId id="283"/>
            <p14:sldId id="284"/>
            <p14:sldId id="285"/>
            <p14:sldId id="291"/>
            <p14:sldId id="292"/>
            <p14:sldId id="293"/>
            <p14:sldId id="289"/>
            <p14:sldId id="294"/>
            <p14:sldId id="295"/>
            <p14:sldId id="296"/>
            <p14:sldId id="297"/>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AA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89412" autoAdjust="0"/>
  </p:normalViewPr>
  <p:slideViewPr>
    <p:cSldViewPr snapToGrid="0">
      <p:cViewPr varScale="1">
        <p:scale>
          <a:sx n="74" d="100"/>
          <a:sy n="74" d="100"/>
        </p:scale>
        <p:origin x="878" y="58"/>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3652F0-F17F-454F-81C7-1C5CAA014646}" type="datetimeFigureOut">
              <a:rPr lang="en-IN" smtClean="0"/>
              <a:t>07-05-2026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2ABD5-52A0-4444-AF4A-2F674B8BAB06}" type="slidenum">
              <a:rPr lang="en-IN" smtClean="0"/>
              <a:t>‹#›</a:t>
            </a:fld>
            <a:endParaRPr lang="en-IN"/>
          </a:p>
        </p:txBody>
      </p:sp>
    </p:spTree>
    <p:extLst>
      <p:ext uri="{BB962C8B-B14F-4D97-AF65-F5344CB8AC3E}">
        <p14:creationId xmlns:p14="http://schemas.microsoft.com/office/powerpoint/2010/main" val="1629091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a:t>
            </a:r>
            <a:r>
              <a:rPr lang="en-US" b="1" dirty="0"/>
              <a:t>Abhishek R Reddy</a:t>
            </a:r>
            <a:r>
              <a:rPr lang="en-US" dirty="0"/>
              <a:t>, and my presentation topic is </a:t>
            </a:r>
            <a:r>
              <a:rPr lang="en-US" b="1" dirty="0"/>
              <a:t>Generative Forecasting with Joint Probability Models</a:t>
            </a:r>
            <a:r>
              <a:rPr lang="en-US" dirty="0"/>
              <a:t>.</a:t>
            </a:r>
          </a:p>
          <a:p>
            <a:r>
              <a:rPr lang="en-US" dirty="0"/>
              <a:t>This project is part of the course </a:t>
            </a:r>
            <a:r>
              <a:rPr lang="en-US" b="1" dirty="0"/>
              <a:t>Probabilistic Machine Learning for Mechanics</a:t>
            </a:r>
            <a:r>
              <a:rPr lang="en-US" dirty="0"/>
              <a:t>, under the topic of </a:t>
            </a:r>
            <a:r>
              <a:rPr lang="en-US" b="1" dirty="0"/>
              <a:t>Deep Generative Models</a:t>
            </a:r>
            <a:r>
              <a:rPr lang="en-US" dirty="0"/>
              <a:t>.</a:t>
            </a:r>
          </a:p>
          <a:p>
            <a:r>
              <a:rPr lang="en-US" dirty="0"/>
              <a:t>The main idea of this work is to study a forecasting framework for complex and chaotic dynamical systems.</a:t>
            </a:r>
          </a:p>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1</a:t>
            </a:fld>
            <a:endParaRPr lang="en-IN"/>
          </a:p>
        </p:txBody>
      </p:sp>
    </p:spTree>
    <p:extLst>
      <p:ext uri="{BB962C8B-B14F-4D97-AF65-F5344CB8AC3E}">
        <p14:creationId xmlns:p14="http://schemas.microsoft.com/office/powerpoint/2010/main" val="4138221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topic is </a:t>
            </a:r>
            <a:r>
              <a:rPr lang="en-US" b="1" dirty="0"/>
              <a:t>Generative Forecasting using Joint Probability Models</a:t>
            </a:r>
            <a:r>
              <a:rPr lang="en-US" dirty="0"/>
              <a:t>.</a:t>
            </a:r>
          </a:p>
          <a:p>
            <a:r>
              <a:rPr lang="en-US" dirty="0"/>
              <a:t>In this presentation, I will first give a brief introduction to </a:t>
            </a:r>
            <a:r>
              <a:rPr lang="en-US" b="1" dirty="0"/>
              <a:t>chaotic dynamical systems</a:t>
            </a:r>
            <a:r>
              <a:rPr lang="en-US" dirty="0"/>
              <a:t> and the important concepts related to them. Then I will move to </a:t>
            </a:r>
            <a:r>
              <a:rPr lang="en-US" b="1" dirty="0"/>
              <a:t>generative forecasting</a:t>
            </a:r>
            <a:r>
              <a:rPr lang="en-US" dirty="0"/>
              <a:t>. First, I will discuss the usual conditional probability approach. Then I will explain the main idea of this work, which is forecasting using </a:t>
            </a:r>
            <a:r>
              <a:rPr lang="en-US" b="1" dirty="0"/>
              <a:t>joint probability models</a:t>
            </a:r>
            <a:r>
              <a:rPr lang="en-US" dirty="0"/>
              <a:t>.</a:t>
            </a:r>
          </a:p>
          <a:p>
            <a:r>
              <a:rPr lang="en-US" dirty="0"/>
              <a:t>Next, I will discuss how uncertainty can be estimated from joint samples. I will also explain the </a:t>
            </a:r>
            <a:r>
              <a:rPr lang="en-US" b="1" dirty="0"/>
              <a:t>Wasserstein drift metric</a:t>
            </a:r>
            <a:r>
              <a:rPr lang="en-US" dirty="0"/>
              <a:t>, which is used to measure distribution mismatch.</a:t>
            </a:r>
          </a:p>
          <a:p>
            <a:r>
              <a:rPr lang="en-US" dirty="0"/>
              <a:t>After that, I will briefly cover possible extensions of the joint generative framework, including conditional joint models and latent optimal control.</a:t>
            </a:r>
          </a:p>
          <a:p>
            <a:r>
              <a:rPr lang="en-US" dirty="0"/>
              <a:t>Finally, I will present the evaluation of the framework on the </a:t>
            </a:r>
            <a:r>
              <a:rPr lang="en-US" b="1" dirty="0"/>
              <a:t>Lorenz-63 model</a:t>
            </a:r>
            <a:r>
              <a:rPr lang="en-US" dirty="0"/>
              <a:t>. This includes data generation, NADE implementation, testing methodology, distribution adherence test, uncertainty quantification metrics, and implementation of the conditional joint model.</a:t>
            </a:r>
          </a:p>
          <a:p>
            <a:r>
              <a:rPr lang="en-US" dirty="0"/>
              <a:t>So overall, the presentation moves from the basic forecasting problem to the joint probability modelling approach and finally to its evaluation on Lorenz-63.</a:t>
            </a:r>
          </a:p>
          <a:p>
            <a:r>
              <a:rPr lang="en-US" dirty="0"/>
              <a:t> </a:t>
            </a:r>
          </a:p>
        </p:txBody>
      </p:sp>
      <p:sp>
        <p:nvSpPr>
          <p:cNvPr id="4" name="Slide Number Placeholder 3"/>
          <p:cNvSpPr>
            <a:spLocks noGrp="1"/>
          </p:cNvSpPr>
          <p:nvPr>
            <p:ph type="sldNum" sz="quarter" idx="5"/>
          </p:nvPr>
        </p:nvSpPr>
        <p:spPr/>
        <p:txBody>
          <a:bodyPr/>
          <a:lstStyle/>
          <a:p>
            <a:fld id="{8222ABD5-52A0-4444-AF4A-2F674B8BAB06}" type="slidenum">
              <a:rPr lang="en-IN" smtClean="0"/>
              <a:t>2</a:t>
            </a:fld>
            <a:endParaRPr lang="en-IN"/>
          </a:p>
        </p:txBody>
      </p:sp>
    </p:spTree>
    <p:extLst>
      <p:ext uri="{BB962C8B-B14F-4D97-AF65-F5344CB8AC3E}">
        <p14:creationId xmlns:p14="http://schemas.microsoft.com/office/powerpoint/2010/main" val="2339510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IN" dirty="0"/>
                  <a:t>In the usual forecasting approach, the model predicts the future state by looking at the past sequence of observations.</a:t>
                </a:r>
              </a:p>
              <a:p>
                <a:r>
                  <a:rPr lang="en-IN" dirty="0"/>
                  <a:t>Mathematically, we try to estimate the probability of the next state,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𝑥</m:t>
                        </m:r>
                      </m:e>
                      <m:sub>
                        <m:r>
                          <a:rPr lang="ar-AE" sz="1200" i="1" kern="1200">
                            <a:solidFill>
                              <a:schemeClr val="tx1"/>
                            </a:solidFill>
                            <a:latin typeface="+mn-lt"/>
                            <a:ea typeface="+mn-ea"/>
                            <a:cs typeface="+mn-cs"/>
                          </a:rPr>
                          <m:t>𝑡</m:t>
                        </m:r>
                      </m:sub>
                    </m:sSub>
                  </m:oMath>
                </a14:m>
                <a:r>
                  <a:rPr lang="ar-AE" dirty="0"/>
                  <a:t>, </a:t>
                </a:r>
                <a:r>
                  <a:rPr lang="en-IN" dirty="0"/>
                  <a:t>conditioned on previous states such as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𝑥</m:t>
                        </m:r>
                      </m:e>
                      <m:sub>
                        <m:r>
                          <a:rPr lang="ar-AE" sz="1200" i="1" kern="1200">
                            <a:solidFill>
                              <a:schemeClr val="tx1"/>
                            </a:solidFill>
                            <a:latin typeface="+mn-lt"/>
                            <a:ea typeface="+mn-ea"/>
                            <a:cs typeface="+mn-cs"/>
                          </a:rPr>
                          <m:t>𝑡</m:t>
                        </m:r>
                        <m:r>
                          <a:rPr lang="ar-AE" sz="1200" i="0" kern="1200">
                            <a:solidFill>
                              <a:schemeClr val="tx1"/>
                            </a:solidFill>
                            <a:latin typeface="+mn-lt"/>
                            <a:ea typeface="+mn-ea"/>
                            <a:cs typeface="+mn-cs"/>
                          </a:rPr>
                          <m:t>−</m:t>
                        </m:r>
                        <m:r>
                          <m:rPr>
                            <m:sty m:val="p"/>
                          </m:rPr>
                          <a:rPr lang="el-GR" sz="1200" i="0" kern="1200">
                            <a:solidFill>
                              <a:schemeClr val="tx1"/>
                            </a:solidFill>
                            <a:latin typeface="+mn-lt"/>
                            <a:ea typeface="+mn-ea"/>
                            <a:cs typeface="+mn-cs"/>
                          </a:rPr>
                          <m:t>Δ</m:t>
                        </m:r>
                        <m:r>
                          <a:rPr lang="el-GR" sz="1200" i="1" kern="1200">
                            <a:solidFill>
                              <a:schemeClr val="tx1"/>
                            </a:solidFill>
                            <a:latin typeface="+mn-lt"/>
                            <a:ea typeface="+mn-ea"/>
                            <a:cs typeface="+mn-cs"/>
                          </a:rPr>
                          <m:t>𝑡</m:t>
                        </m:r>
                      </m:sub>
                    </m:sSub>
                  </m:oMath>
                </a14:m>
                <a:r>
                  <a:rPr lang="ar-AE" dirty="0"/>
                  <a:t>,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𝑥</m:t>
                        </m:r>
                      </m:e>
                      <m:sub>
                        <m:r>
                          <a:rPr lang="ar-AE" sz="1200" i="1" kern="1200">
                            <a:solidFill>
                              <a:schemeClr val="tx1"/>
                            </a:solidFill>
                            <a:latin typeface="+mn-lt"/>
                            <a:ea typeface="+mn-ea"/>
                            <a:cs typeface="+mn-cs"/>
                          </a:rPr>
                          <m:t>𝑡</m:t>
                        </m:r>
                        <m:r>
                          <a:rPr lang="ar-AE" sz="1200" i="0" kern="1200">
                            <a:solidFill>
                              <a:schemeClr val="tx1"/>
                            </a:solidFill>
                            <a:latin typeface="+mn-lt"/>
                            <a:ea typeface="+mn-ea"/>
                            <a:cs typeface="+mn-cs"/>
                          </a:rPr>
                          <m:t>−</m:t>
                        </m:r>
                        <m:r>
                          <a:rPr lang="ar-AE" sz="1200" i="0" kern="1200">
                            <a:solidFill>
                              <a:schemeClr val="tx1"/>
                            </a:solidFill>
                            <a:latin typeface="+mn-lt"/>
                            <a:ea typeface="+mn-ea"/>
                            <a:cs typeface="+mn-cs"/>
                          </a:rPr>
                          <m:t>2</m:t>
                        </m:r>
                        <m:r>
                          <m:rPr>
                            <m:sty m:val="p"/>
                          </m:rPr>
                          <a:rPr lang="el-GR" sz="1200" i="0" kern="1200">
                            <a:solidFill>
                              <a:schemeClr val="tx1"/>
                            </a:solidFill>
                            <a:latin typeface="+mn-lt"/>
                            <a:ea typeface="+mn-ea"/>
                            <a:cs typeface="+mn-cs"/>
                          </a:rPr>
                          <m:t>Δ</m:t>
                        </m:r>
                        <m:r>
                          <a:rPr lang="el-GR" sz="1200" i="1" kern="1200">
                            <a:solidFill>
                              <a:schemeClr val="tx1"/>
                            </a:solidFill>
                            <a:latin typeface="+mn-lt"/>
                            <a:ea typeface="+mn-ea"/>
                            <a:cs typeface="+mn-cs"/>
                          </a:rPr>
                          <m:t>𝑡</m:t>
                        </m:r>
                      </m:sub>
                    </m:sSub>
                  </m:oMath>
                </a14:m>
                <a:r>
                  <a:rPr lang="ar-AE" dirty="0"/>
                  <a:t>, </a:t>
                </a:r>
                <a:r>
                  <a:rPr lang="en-IN" dirty="0"/>
                  <a:t>and so on.</a:t>
                </a:r>
              </a:p>
              <a:p>
                <a:r>
                  <a:rPr lang="en-IN" dirty="0"/>
                  <a:t>So instead of giving only one fixed prediction, the model learns a </a:t>
                </a:r>
                <a:r>
                  <a:rPr lang="en-IN" b="1" dirty="0"/>
                  <a:t>conditional probability distribution</a:t>
                </a:r>
                <a:r>
                  <a:rPr lang="en-IN" dirty="0"/>
                  <a:t>. From this distribution, we can sample possible future states.</a:t>
                </a:r>
              </a:p>
              <a:p>
                <a:r>
                  <a:rPr lang="en-IN" dirty="0"/>
                  <a:t>In the example shown here, we can think of the data as a time sequence from Monday to Saturday. During training, the model learns patterns from the sequence and updates its parameters by minimizing the negative log likelihood.</a:t>
                </a:r>
              </a:p>
              <a:p>
                <a:r>
                  <a:rPr lang="en-IN" dirty="0"/>
                  <a:t>After training, if we give the model the recent past observations, such as Friday and Saturday, it can sample the likely next state, which is Sunday.</a:t>
                </a:r>
              </a:p>
              <a:p>
                <a:r>
                  <a:rPr lang="en-IN" dirty="0"/>
                  <a:t>The main point is that this method predicts the future </a:t>
                </a:r>
                <a:r>
                  <a:rPr lang="en-IN" b="1" dirty="0"/>
                  <a:t>only based on the given past sequence</a:t>
                </a:r>
                <a:r>
                  <a:rPr lang="en-IN" dirty="0"/>
                  <a:t>. This is useful, but it depends strongly on the conditioning history.</a:t>
                </a:r>
              </a:p>
              <a:p>
                <a:endParaRPr lang="en-IN" dirty="0"/>
              </a:p>
            </p:txBody>
          </p:sp>
        </mc:Choice>
        <mc:Fallback>
          <p:sp>
            <p:nvSpPr>
              <p:cNvPr id="3" name="Notes Placeholder 2"/>
              <p:cNvSpPr>
                <a:spLocks noGrp="1"/>
              </p:cNvSpPr>
              <p:nvPr>
                <p:ph type="body" idx="1"/>
              </p:nvPr>
            </p:nvSpPr>
            <p:spPr/>
            <p:txBody>
              <a:bodyPr/>
              <a:lstStyle/>
              <a:p>
                <a:r>
                  <a:rPr lang="en-IN" dirty="0"/>
                  <a:t>In the usual forecasting approach, the model predicts the future state by looking at the past sequence of observations.</a:t>
                </a:r>
              </a:p>
              <a:p>
                <a:r>
                  <a:rPr lang="en-IN" dirty="0"/>
                  <a:t>Mathematically, we try to estimate the probability of the next state, </a:t>
                </a:r>
                <a:r>
                  <a:rPr lang="ar-AE" sz="1200" i="0" kern="1200">
                    <a:solidFill>
                      <a:schemeClr val="tx1"/>
                    </a:solidFill>
                    <a:latin typeface="+mn-lt"/>
                    <a:ea typeface="+mn-ea"/>
                    <a:cs typeface="+mn-cs"/>
                  </a:rPr>
                  <a:t>𝑥_𝑡</a:t>
                </a:r>
                <a:r>
                  <a:rPr lang="ar-AE" dirty="0"/>
                  <a:t>, </a:t>
                </a:r>
                <a:r>
                  <a:rPr lang="en-IN" dirty="0"/>
                  <a:t>conditioned on previous states such as </a:t>
                </a:r>
                <a:r>
                  <a:rPr lang="ar-AE" sz="1200" i="0" kern="1200">
                    <a:solidFill>
                      <a:schemeClr val="tx1"/>
                    </a:solidFill>
                    <a:latin typeface="+mn-lt"/>
                    <a:ea typeface="+mn-ea"/>
                    <a:cs typeface="+mn-cs"/>
                  </a:rPr>
                  <a:t>𝑥_(𝑡−</a:t>
                </a:r>
                <a:r>
                  <a:rPr lang="el-GR" sz="1200" i="0" kern="1200">
                    <a:solidFill>
                      <a:schemeClr val="tx1"/>
                    </a:solidFill>
                    <a:latin typeface="+mn-lt"/>
                    <a:ea typeface="+mn-ea"/>
                    <a:cs typeface="+mn-cs"/>
                  </a:rPr>
                  <a:t>Δ𝑡</a:t>
                </a:r>
                <a:r>
                  <a:rPr lang="ar-AE" sz="1200" i="0" kern="1200">
                    <a:solidFill>
                      <a:schemeClr val="tx1"/>
                    </a:solidFill>
                    <a:latin typeface="+mn-lt"/>
                    <a:ea typeface="+mn-ea"/>
                    <a:cs typeface="+mn-cs"/>
                  </a:rPr>
                  <a:t>)</a:t>
                </a:r>
                <a:r>
                  <a:rPr lang="ar-AE" dirty="0"/>
                  <a:t>, </a:t>
                </a:r>
                <a:r>
                  <a:rPr lang="ar-AE" sz="1200" i="0" kern="1200">
                    <a:solidFill>
                      <a:schemeClr val="tx1"/>
                    </a:solidFill>
                    <a:latin typeface="+mn-lt"/>
                    <a:ea typeface="+mn-ea"/>
                    <a:cs typeface="+mn-cs"/>
                  </a:rPr>
                  <a:t>𝑥_(𝑡−2</a:t>
                </a:r>
                <a:r>
                  <a:rPr lang="el-GR" sz="1200" i="0" kern="1200">
                    <a:solidFill>
                      <a:schemeClr val="tx1"/>
                    </a:solidFill>
                    <a:latin typeface="+mn-lt"/>
                    <a:ea typeface="+mn-ea"/>
                    <a:cs typeface="+mn-cs"/>
                  </a:rPr>
                  <a:t>Δ𝑡</a:t>
                </a:r>
                <a:r>
                  <a:rPr lang="ar-AE" sz="1200" i="0" kern="1200">
                    <a:solidFill>
                      <a:schemeClr val="tx1"/>
                    </a:solidFill>
                    <a:latin typeface="+mn-lt"/>
                    <a:ea typeface="+mn-ea"/>
                    <a:cs typeface="+mn-cs"/>
                  </a:rPr>
                  <a:t>)</a:t>
                </a:r>
                <a:r>
                  <a:rPr lang="ar-AE" dirty="0"/>
                  <a:t>, </a:t>
                </a:r>
                <a:r>
                  <a:rPr lang="en-IN" dirty="0"/>
                  <a:t>and so on.</a:t>
                </a:r>
              </a:p>
              <a:p>
                <a:r>
                  <a:rPr lang="en-IN" dirty="0"/>
                  <a:t>So instead of giving only one fixed prediction, the model learns a </a:t>
                </a:r>
                <a:r>
                  <a:rPr lang="en-IN" b="1" dirty="0"/>
                  <a:t>conditional probability distribution</a:t>
                </a:r>
                <a:r>
                  <a:rPr lang="en-IN" dirty="0"/>
                  <a:t>. From this distribution, we can sample possible future states.</a:t>
                </a:r>
              </a:p>
              <a:p>
                <a:r>
                  <a:rPr lang="en-IN" dirty="0"/>
                  <a:t>In the example shown here, we can think of the data as a time sequence from Monday to Saturday. During training, the model learns patterns from the sequence and updates its parameters by minimizing the negative log likelihood.</a:t>
                </a:r>
              </a:p>
              <a:p>
                <a:r>
                  <a:rPr lang="en-IN" dirty="0"/>
                  <a:t>After training, if we give the model the recent past observations, such as Friday and Saturday, it can sample the likely next state, which is Sunday.</a:t>
                </a:r>
              </a:p>
              <a:p>
                <a:r>
                  <a:rPr lang="en-IN" dirty="0"/>
                  <a:t>The main point is that this method predicts the future </a:t>
                </a:r>
                <a:r>
                  <a:rPr lang="en-IN" b="1" dirty="0"/>
                  <a:t>only based on the given past sequence</a:t>
                </a:r>
                <a:r>
                  <a:rPr lang="en-IN" dirty="0"/>
                  <a:t>. This is useful, but it depends strongly on the conditioning history.</a:t>
                </a:r>
              </a:p>
              <a:p>
                <a:endParaRPr lang="en-IN" dirty="0"/>
              </a:p>
            </p:txBody>
          </p:sp>
        </mc:Fallback>
      </mc:AlternateContent>
      <p:sp>
        <p:nvSpPr>
          <p:cNvPr id="4" name="Slide Number Placeholder 3"/>
          <p:cNvSpPr>
            <a:spLocks noGrp="1"/>
          </p:cNvSpPr>
          <p:nvPr>
            <p:ph type="sldNum" sz="quarter" idx="5"/>
          </p:nvPr>
        </p:nvSpPr>
        <p:spPr/>
        <p:txBody>
          <a:bodyPr/>
          <a:lstStyle/>
          <a:p>
            <a:fld id="{8222ABD5-52A0-4444-AF4A-2F674B8BAB06}" type="slidenum">
              <a:rPr lang="en-IN" smtClean="0"/>
              <a:t>6</a:t>
            </a:fld>
            <a:endParaRPr lang="en-IN"/>
          </a:p>
        </p:txBody>
      </p:sp>
    </p:spTree>
    <p:extLst>
      <p:ext uri="{BB962C8B-B14F-4D97-AF65-F5344CB8AC3E}">
        <p14:creationId xmlns:p14="http://schemas.microsoft.com/office/powerpoint/2010/main" val="3615791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Now I will explain the main idea of </a:t>
            </a:r>
            <a:r>
              <a:rPr lang="en-US" b="1" dirty="0"/>
              <a:t>generative forecasting using joint probability models</a:t>
            </a:r>
            <a:r>
              <a:rPr lang="en-US" dirty="0"/>
              <a:t>.</a:t>
            </a:r>
          </a:p>
          <a:p>
            <a:r>
              <a:rPr lang="en-US" dirty="0"/>
              <a:t>In the conditional approach, we usually model the probability of the future state given the past states. But using the product rule of probability, this conditional probability can also be written as a ratio of two joint probability distributions.</a:t>
            </a:r>
          </a:p>
          <a:p>
            <a:r>
              <a:rPr lang="en-US" dirty="0"/>
              <a:t>So instead of directly learning only the conditional rule, this method learns the </a:t>
            </a:r>
            <a:r>
              <a:rPr lang="en-US" b="1" dirty="0"/>
              <a:t>joint distribution of short time windows</a:t>
            </a:r>
            <a:r>
              <a:rPr lang="en-US" dirty="0"/>
              <a:t>.</a:t>
            </a:r>
          </a:p>
          <a:p>
            <a:r>
              <a:rPr lang="en-US" dirty="0"/>
              <a:t>For example, instead of learning only “Friday and Saturday give Sunday,” the model learns the overall pattern of adjacent time steps such as Thursday, Friday, Saturday, or Friday, Saturday, Sunday.</a:t>
            </a:r>
          </a:p>
          <a:p>
            <a:r>
              <a:rPr lang="en-US" dirty="0"/>
              <a:t>During training, the data is divided into short temporal windows. Here, the temporal window length is taken as 3. The generative model learns the probability distribution of these three-step sequences.</a:t>
            </a:r>
          </a:p>
          <a:p>
            <a:r>
              <a:rPr lang="en-US" dirty="0"/>
              <a:t>After training, the model generates many possible samples. During sampling, we compare the known past part, for example Friday and Saturday, with the generated samples. The sample whose past part matches best is selected, and its next value is taken as the forecast for Sunday.</a:t>
            </a:r>
          </a:p>
          <a:p>
            <a:r>
              <a:rPr lang="en-US" dirty="0"/>
              <a:t>So the key idea is: </a:t>
            </a:r>
            <a:r>
              <a:rPr lang="en-US" b="1" dirty="0"/>
              <a:t>the model does not directly predict the future using only one conditional rule. Instead, it learns the joint structure of short trajectories and then extracts the future by matching the known past.</a:t>
            </a:r>
            <a:endParaRPr lang="en-US" dirty="0"/>
          </a:p>
          <a:p>
            <a:r>
              <a:rPr lang="en-US" dirty="0"/>
              <a:t>This makes the framework useful for generative forecasting, because it can produce multiple possible future states and also help in uncertainty quantification.</a:t>
            </a:r>
          </a:p>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7</a:t>
            </a:fld>
            <a:endParaRPr lang="en-IN"/>
          </a:p>
        </p:txBody>
      </p:sp>
    </p:spTree>
    <p:extLst>
      <p:ext uri="{BB962C8B-B14F-4D97-AF65-F5344CB8AC3E}">
        <p14:creationId xmlns:p14="http://schemas.microsoft.com/office/powerpoint/2010/main" val="3121222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chaotic systems, the forecast will eventually lose track of the true trajectory. So we need a way to understand </a:t>
            </a:r>
            <a:r>
              <a:rPr lang="en-US" b="1" dirty="0"/>
              <a:t>when</a:t>
            </a:r>
            <a:r>
              <a:rPr lang="en-US" dirty="0"/>
              <a:t> the forecast becomes uncertain and </a:t>
            </a:r>
            <a:r>
              <a:rPr lang="en-US" b="1" dirty="0"/>
              <a:t>why</a:t>
            </a:r>
            <a:r>
              <a:rPr lang="en-US" dirty="0"/>
              <a:t>, even when the actual future is not available.</a:t>
            </a:r>
          </a:p>
          <a:p>
            <a:r>
              <a:rPr lang="en-US" dirty="0"/>
              <a:t>Here, the model first generates many joint samples. Each sample contains the past time steps and the possible future state.</a:t>
            </a:r>
          </a:p>
          <a:p>
            <a:r>
              <a:rPr lang="en-US" dirty="0"/>
              <a:t>Then we compare the known past part, like Friday and Saturday, with the generated samples. Based on this comparison, we select the </a:t>
            </a:r>
            <a:r>
              <a:rPr lang="en-US" b="1" dirty="0"/>
              <a:t>top-k nearest samples</a:t>
            </a:r>
            <a:r>
              <a:rPr lang="en-US" dirty="0"/>
              <a:t>. These are the samples whose past values are closest to the observed history.</a:t>
            </a:r>
          </a:p>
          <a:p>
            <a:r>
              <a:rPr lang="en-US" dirty="0"/>
              <a:t>From these selected samples, the future part is used to form an ensemble forecast. The best matching sample can be used as the </a:t>
            </a:r>
            <a:r>
              <a:rPr lang="en-US" b="1" dirty="0"/>
              <a:t>point forecast</a:t>
            </a:r>
            <a:r>
              <a:rPr lang="en-US" dirty="0"/>
              <a:t>, while the full top-k set gives a </a:t>
            </a:r>
            <a:r>
              <a:rPr lang="en-US" b="1" dirty="0"/>
              <a:t>k-nearest ensemble</a:t>
            </a:r>
            <a:r>
              <a:rPr lang="en-US" dirty="0"/>
              <a:t>.</a:t>
            </a:r>
          </a:p>
          <a:p>
            <a:r>
              <a:rPr lang="en-US" dirty="0"/>
              <a:t>If the selected future samples are very close to each other, uncertainty is low. But if they are widely spread, uncertainty is high. So this method gives both the forecast and an estimate of uncertainty from the generated joint samples.</a:t>
            </a:r>
          </a:p>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8</a:t>
            </a:fld>
            <a:endParaRPr lang="en-IN"/>
          </a:p>
        </p:txBody>
      </p:sp>
    </p:spTree>
    <p:extLst>
      <p:ext uri="{BB962C8B-B14F-4D97-AF65-F5344CB8AC3E}">
        <p14:creationId xmlns:p14="http://schemas.microsoft.com/office/powerpoint/2010/main" val="1638206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9</a:t>
            </a:fld>
            <a:endParaRPr lang="en-IN"/>
          </a:p>
        </p:txBody>
      </p:sp>
    </p:spTree>
    <p:extLst>
      <p:ext uri="{BB962C8B-B14F-4D97-AF65-F5344CB8AC3E}">
        <p14:creationId xmlns:p14="http://schemas.microsoft.com/office/powerpoint/2010/main" val="459796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Now I will explain the </a:t>
            </a:r>
            <a:r>
              <a:rPr lang="en-US" b="1" dirty="0"/>
              <a:t>Wasserstein Drift</a:t>
            </a:r>
            <a:r>
              <a:rPr lang="en-US" dirty="0"/>
              <a:t> metric.</a:t>
            </a:r>
          </a:p>
          <a:p>
            <a:r>
              <a:rPr lang="en-US" dirty="0"/>
              <a:t>The main idea is to check whether the model gives consistent predictions for the same future time when we approach it from overlapping time windows.</a:t>
            </a:r>
          </a:p>
          <a:p>
            <a:r>
              <a:rPr lang="en-US" dirty="0"/>
              <a:t>For example, one set of samples may predict Sunday using Friday and Saturday. Another overlapping set may also contain predictions for Sunday while predicting Monday. Ideally, both predictions for Sunday should be similar.</a:t>
            </a:r>
          </a:p>
          <a:p>
            <a:r>
              <a:rPr lang="en-US" dirty="0"/>
              <a:t>Wasserstein Drift measures how much these overlapping predictions differ. If the drift is small, the model is self-consistent. If the drift is large, it means the predictions are moving apart, and the model may be losing reliability.</a:t>
            </a:r>
          </a:p>
          <a:p>
            <a:r>
              <a:rPr lang="en-US" dirty="0"/>
              <a:t>This is useful because it gives an early warning of forecast failure without needing the actual ground truth future.</a:t>
            </a:r>
          </a:p>
          <a:p>
            <a:r>
              <a:rPr lang="en-US" dirty="0"/>
              <a:t>In practice, the Wasserstein distance is estimated using an optimal transport solver. A signed version can also be used by checking whether the ensemble variance is increasing or decreasing.</a:t>
            </a:r>
          </a:p>
          <a:p>
            <a:r>
              <a:rPr lang="en-US" dirty="0"/>
              <a:t>Finally, the cumulative Wasserstein Drift adds this drift over time, so we can track how prediction inconsistency grows as the forecast horizon increases.</a:t>
            </a:r>
          </a:p>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11</a:t>
            </a:fld>
            <a:endParaRPr lang="en-IN"/>
          </a:p>
        </p:txBody>
      </p:sp>
    </p:spTree>
    <p:extLst>
      <p:ext uri="{BB962C8B-B14F-4D97-AF65-F5344CB8AC3E}">
        <p14:creationId xmlns:p14="http://schemas.microsoft.com/office/powerpoint/2010/main" val="2862668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explain an extension of the joint generative framework called </a:t>
            </a:r>
            <a:r>
              <a:rPr lang="en-US" b="1" dirty="0"/>
              <a:t>conditional joint models</a:t>
            </a:r>
            <a:r>
              <a:rPr lang="en-US" dirty="0"/>
              <a:t>.</a:t>
            </a:r>
          </a:p>
          <a:p>
            <a:r>
              <a:rPr lang="en-US" dirty="0"/>
              <a:t>In the baseline conditional model, the past data is used only to predict the </a:t>
            </a:r>
            <a:r>
              <a:rPr lang="en-US" b="1" dirty="0"/>
              <a:t>single next time step</a:t>
            </a:r>
            <a:r>
              <a:rPr lang="en-US" dirty="0"/>
              <a:t>. But in the conditional joint model, the past data is used to generate a complete overlapping time window.</a:t>
            </a:r>
          </a:p>
          <a:p>
            <a:r>
              <a:rPr lang="en-US" dirty="0"/>
              <a:t>So instead of generating only one future point, the model generates a short sequence that includes both the recent past and the future state.</a:t>
            </a:r>
          </a:p>
          <a:p>
            <a:r>
              <a:rPr lang="en-US" dirty="0"/>
              <a:t>Here, the observed history is used in two ways. First, it is used </a:t>
            </a:r>
            <a:r>
              <a:rPr lang="en-US" b="1" dirty="0"/>
              <a:t>explicitly</a:t>
            </a:r>
            <a:r>
              <a:rPr lang="en-US" dirty="0"/>
              <a:t> as a condition to the model. Second, it is used </a:t>
            </a:r>
            <a:r>
              <a:rPr lang="en-US" b="1" dirty="0"/>
              <a:t>implicitly</a:t>
            </a:r>
            <a:r>
              <a:rPr lang="en-US" dirty="0"/>
              <a:t> during sieving, where we select the generated window that best matches the known recent past.</a:t>
            </a:r>
          </a:p>
          <a:p>
            <a:r>
              <a:rPr lang="en-US" dirty="0"/>
              <a:t>This improves the forecasting process because the model uses past information while generating the sample, and again while selecting the best forecast.</a:t>
            </a:r>
          </a:p>
          <a:p>
            <a:r>
              <a:rPr lang="en-US" dirty="0"/>
              <a:t>So the key point is: </a:t>
            </a:r>
            <a:r>
              <a:rPr lang="en-US" b="1" dirty="0"/>
              <a:t>conditional joint models combine conditional forecasting with the joint window-based approach.</a:t>
            </a:r>
            <a:r>
              <a:rPr lang="en-US" dirty="0"/>
              <a:t> This helps the model generate more consistent and better-matched future predictions.</a:t>
            </a:r>
          </a:p>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12</a:t>
            </a:fld>
            <a:endParaRPr lang="en-IN"/>
          </a:p>
        </p:txBody>
      </p:sp>
    </p:spTree>
    <p:extLst>
      <p:ext uri="{BB962C8B-B14F-4D97-AF65-F5344CB8AC3E}">
        <p14:creationId xmlns:p14="http://schemas.microsoft.com/office/powerpoint/2010/main" val="180374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17</a:t>
            </a:fld>
            <a:endParaRPr lang="en-IN"/>
          </a:p>
        </p:txBody>
      </p:sp>
    </p:spTree>
    <p:extLst>
      <p:ext uri="{BB962C8B-B14F-4D97-AF65-F5344CB8AC3E}">
        <p14:creationId xmlns:p14="http://schemas.microsoft.com/office/powerpoint/2010/main" val="2526677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explain the </a:t>
            </a:r>
            <a:r>
              <a:rPr lang="en-US" b="1" dirty="0"/>
              <a:t>distribution adherence test</a:t>
            </a:r>
            <a:r>
              <a:rPr lang="en-US" dirty="0"/>
              <a:t>.</a:t>
            </a:r>
          </a:p>
          <a:p>
            <a:r>
              <a:rPr lang="en-US" dirty="0"/>
              <a:t>The aim of this test is to check whether the generated forecasts follow the same statistical distribution as the true Lorenz-63 system.</a:t>
            </a:r>
          </a:p>
          <a:p>
            <a:r>
              <a:rPr lang="en-US" dirty="0"/>
              <a:t>Here, the NADE model was trained using </a:t>
            </a:r>
            <a:r>
              <a:rPr lang="en-US" b="1" dirty="0"/>
              <a:t>40,000 time windows</a:t>
            </a:r>
            <a:r>
              <a:rPr lang="en-US" dirty="0"/>
              <a:t>. After training, forecasting was done for </a:t>
            </a:r>
            <a:r>
              <a:rPr lang="en-US" b="1" dirty="0"/>
              <a:t>20,000 steps</a:t>
            </a:r>
            <a:r>
              <a:rPr lang="en-US" dirty="0"/>
              <a:t>, from step 40,000 to 60,000.</a:t>
            </a:r>
          </a:p>
          <a:p>
            <a:r>
              <a:rPr lang="en-US" dirty="0"/>
              <a:t>In the plots, the grey region represents all data, the black curve represents training data, the blue curve represents the true test data, and the red dashed curve represents the predicted forecast distribution.</a:t>
            </a:r>
          </a:p>
          <a:p>
            <a:r>
              <a:rPr lang="en-US" dirty="0"/>
              <a:t>For a good generative forecast, the red predicted distribution should approximately follow the true distribution. It does not need to match every point exactly, but the overall shape and range should be similar.</a:t>
            </a:r>
          </a:p>
          <a:p>
            <a:r>
              <a:rPr lang="en-US" dirty="0"/>
              <a:t>From these plots, we can see that the prediction captures some parts of the distribution, but there are also mismatches, especially near the tails. This means the model has learned the general behavior, but it is still not perfectly distribution-adherent.</a:t>
            </a:r>
          </a:p>
          <a:p>
            <a:r>
              <a:rPr lang="en-US" dirty="0"/>
              <a:t>So the main takeaway is: </a:t>
            </a:r>
            <a:r>
              <a:rPr lang="en-US" b="1" dirty="0"/>
              <a:t>this test checks whether the forecast is statistically realistic, not just whether one trajectory is accurate.</a:t>
            </a:r>
            <a:endParaRPr lang="en-US" dirty="0"/>
          </a:p>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19</a:t>
            </a:fld>
            <a:endParaRPr lang="en-IN"/>
          </a:p>
        </p:txBody>
      </p:sp>
    </p:spTree>
    <p:extLst>
      <p:ext uri="{BB962C8B-B14F-4D97-AF65-F5344CB8AC3E}">
        <p14:creationId xmlns:p14="http://schemas.microsoft.com/office/powerpoint/2010/main" val="3781471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explain the </a:t>
            </a:r>
            <a:r>
              <a:rPr lang="en-US" b="1" dirty="0"/>
              <a:t>estimation of uncertainty quantification metrics</a:t>
            </a:r>
            <a:r>
              <a:rPr lang="en-US" dirty="0"/>
              <a:t>.</a:t>
            </a:r>
          </a:p>
          <a:p>
            <a:r>
              <a:rPr lang="en-US" dirty="0"/>
              <a:t>For each forecast trajectory, three UQ metrics were calculated: </a:t>
            </a:r>
            <a:r>
              <a:rPr lang="en-US" b="1" dirty="0"/>
              <a:t>ensemble variance, autocorrelation, and Wasserstein drift</a:t>
            </a:r>
            <a:r>
              <a:rPr lang="en-US" dirty="0"/>
              <a:t>. Along with these, the </a:t>
            </a:r>
            <a:r>
              <a:rPr lang="en-US" b="1" dirty="0"/>
              <a:t>mean absolute error</a:t>
            </a:r>
            <a:r>
              <a:rPr lang="en-US" dirty="0"/>
              <a:t>, or MAE, was calculated using the ground truth.</a:t>
            </a:r>
          </a:p>
          <a:p>
            <a:r>
              <a:rPr lang="en-US" dirty="0"/>
              <a:t>The idea is to check whether these UQ metrics can indicate forecast error. So, linear regression was performed to map the UQ metrics to the MAE.</a:t>
            </a:r>
          </a:p>
          <a:p>
            <a:r>
              <a:rPr lang="en-US" dirty="0"/>
              <a:t>Four regression models were used for each trajectory. Three models used each UQ metric separately, and one multiple regression model used all three metrics together.</a:t>
            </a:r>
          </a:p>
          <a:p>
            <a:r>
              <a:rPr lang="en-US" dirty="0"/>
              <a:t>After that, the Pearson correlation coefficient was calculated. This tells us how strongly the estimated uncertainty is related to the actual forecast error.</a:t>
            </a:r>
          </a:p>
          <a:p>
            <a:r>
              <a:rPr lang="en-US" dirty="0"/>
              <a:t>From the histograms, individual metrics show some correlation with MAE, but the correlation is not very high. The combined model using all three metrics gives a better median correlation, around </a:t>
            </a:r>
            <a:r>
              <a:rPr lang="en-US" b="1" dirty="0"/>
              <a:t>0.50</a:t>
            </a:r>
            <a:r>
              <a:rPr lang="en-US" dirty="0"/>
              <a:t>.</a:t>
            </a:r>
          </a:p>
          <a:p>
            <a:r>
              <a:rPr lang="en-US" dirty="0"/>
              <a:t>So the main takeaway is: </a:t>
            </a:r>
            <a:r>
              <a:rPr lang="en-US" b="1" dirty="0"/>
              <a:t>a single uncertainty metric may not fully explain the forecast error, but combining multiple UQ metrics gives a better estimate of forecast reliability.</a:t>
            </a:r>
            <a:endParaRPr lang="en-US" dirty="0"/>
          </a:p>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21</a:t>
            </a:fld>
            <a:endParaRPr lang="en-IN"/>
          </a:p>
        </p:txBody>
      </p:sp>
    </p:spTree>
    <p:extLst>
      <p:ext uri="{BB962C8B-B14F-4D97-AF65-F5344CB8AC3E}">
        <p14:creationId xmlns:p14="http://schemas.microsoft.com/office/powerpoint/2010/main" val="632029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IN" dirty="0"/>
                  <a:t>Now I will explain the </a:t>
                </a:r>
                <a:r>
                  <a:rPr lang="en-IN" b="1" dirty="0"/>
                  <a:t>implementation of the conditional joint model</a:t>
                </a:r>
                <a:r>
                  <a:rPr lang="en-IN" dirty="0"/>
                  <a:t>.</a:t>
                </a:r>
              </a:p>
              <a:p>
                <a:r>
                  <a:rPr lang="en-IN" dirty="0"/>
                  <a:t>For the experiment, the dataset contains </a:t>
                </a:r>
                <a14:m>
                  <m:oMath xmlns:m="http://schemas.openxmlformats.org/officeDocument/2006/math">
                    <m:sSup>
                      <m:sSupPr>
                        <m:ctrlPr>
                          <a:rPr lang="ar-AE" sz="1200" kern="1200">
                            <a:solidFill>
                              <a:schemeClr val="tx1"/>
                            </a:solidFill>
                            <a:latin typeface="+mn-lt"/>
                            <a:ea typeface="+mn-ea"/>
                            <a:cs typeface="+mn-cs"/>
                          </a:rPr>
                        </m:ctrlPr>
                      </m:sSupPr>
                      <m:e>
                        <m:r>
                          <a:rPr lang="ar-AE" sz="1200" kern="1200">
                            <a:solidFill>
                              <a:schemeClr val="tx1"/>
                            </a:solidFill>
                            <a:latin typeface="+mn-lt"/>
                            <a:ea typeface="+mn-ea"/>
                            <a:cs typeface="+mn-cs"/>
                          </a:rPr>
                          <m:t>10</m:t>
                        </m:r>
                      </m:e>
                      <m:sup>
                        <m:r>
                          <a:rPr lang="ar-AE" sz="1200" i="0" kern="1200">
                            <a:solidFill>
                              <a:schemeClr val="tx1"/>
                            </a:solidFill>
                            <a:latin typeface="+mn-lt"/>
                            <a:ea typeface="+mn-ea"/>
                            <a:cs typeface="+mn-cs"/>
                          </a:rPr>
                          <m:t>6</m:t>
                        </m:r>
                      </m:sup>
                    </m:sSup>
                  </m:oMath>
                </a14:m>
                <a:r>
                  <a:rPr lang="en-IN" dirty="0"/>
                  <a:t>time windows. The NADE architecture uses a hidden layer dimension of 1000.</a:t>
                </a:r>
              </a:p>
              <a:p>
                <a:r>
                  <a:rPr lang="en-IN" dirty="0"/>
                  <a:t>During training, we used a batch size of 500, Gaussian negative log likelihood as the loss function, and the Adam optimizer with a learning rate of 0.001. The model was trained for 50 epochs.</a:t>
                </a:r>
              </a:p>
              <a:p>
                <a:r>
                  <a:rPr lang="en-IN" dirty="0"/>
                  <a:t>For forecasting, at each forecast step, the conditional generative model generates 1000 joint samples conditioned on the observed history.</a:t>
                </a:r>
              </a:p>
              <a:p>
                <a:r>
                  <a:rPr lang="en-IN" dirty="0"/>
                  <a:t>Then, from these samples, we compare the trailing past states with the actual observed past. The sample whose past part matches best is selected.</a:t>
                </a:r>
              </a:p>
              <a:p>
                <a:r>
                  <a:rPr lang="en-IN" dirty="0"/>
                  <a:t>After selecting the best sample, the head state is retained as the predicted next state. Then the time window is shifted forward, and the predicted state is appended for the next forecasting step.</a:t>
                </a:r>
              </a:p>
              <a:p>
                <a:r>
                  <a:rPr lang="en-IN" dirty="0"/>
                  <a:t>So the main idea is: </a:t>
                </a:r>
                <a:r>
                  <a:rPr lang="en-IN" b="1" dirty="0"/>
                  <a:t>the conditional joint model first generates multiple possible future windows using the observed history, then selects the best matching window to produce the final forecast.</a:t>
                </a:r>
                <a:endParaRPr lang="en-IN" dirty="0"/>
              </a:p>
              <a:p>
                <a:endParaRPr lang="en-IN" dirty="0"/>
              </a:p>
            </p:txBody>
          </p:sp>
        </mc:Choice>
        <mc:Fallback>
          <p:sp>
            <p:nvSpPr>
              <p:cNvPr id="3" name="Notes Placeholder 2"/>
              <p:cNvSpPr>
                <a:spLocks noGrp="1"/>
              </p:cNvSpPr>
              <p:nvPr>
                <p:ph type="body" idx="1"/>
              </p:nvPr>
            </p:nvSpPr>
            <p:spPr/>
            <p:txBody>
              <a:bodyPr/>
              <a:lstStyle/>
              <a:p>
                <a:r>
                  <a:rPr lang="en-IN" dirty="0"/>
                  <a:t>Now I will explain the </a:t>
                </a:r>
                <a:r>
                  <a:rPr lang="en-IN" b="1" dirty="0"/>
                  <a:t>implementation of the conditional joint model</a:t>
                </a:r>
                <a:r>
                  <a:rPr lang="en-IN" dirty="0"/>
                  <a:t>.</a:t>
                </a:r>
              </a:p>
              <a:p>
                <a:r>
                  <a:rPr lang="en-IN" dirty="0"/>
                  <a:t>For the experiment, the dataset contains </a:t>
                </a:r>
                <a:r>
                  <a:rPr lang="ar-AE" sz="1200" i="0" kern="1200">
                    <a:solidFill>
                      <a:schemeClr val="tx1"/>
                    </a:solidFill>
                    <a:latin typeface="+mn-lt"/>
                    <a:ea typeface="+mn-ea"/>
                    <a:cs typeface="+mn-cs"/>
                  </a:rPr>
                  <a:t>10^6</a:t>
                </a:r>
                <a:r>
                  <a:rPr lang="en-IN" dirty="0"/>
                  <a:t>time windows. The NADE architecture uses a hidden layer dimension of 1000.</a:t>
                </a:r>
              </a:p>
              <a:p>
                <a:r>
                  <a:rPr lang="en-IN" dirty="0"/>
                  <a:t>During training, we used a batch size of 500, Gaussian negative log likelihood as the loss function, and the Adam optimizer with a learning rate of 0.001. The model was trained for 50 epochs.</a:t>
                </a:r>
              </a:p>
              <a:p>
                <a:r>
                  <a:rPr lang="en-IN" dirty="0"/>
                  <a:t>For forecasting, at each forecast step, the conditional generative model generates 1000 joint samples conditioned on the observed history.</a:t>
                </a:r>
              </a:p>
              <a:p>
                <a:r>
                  <a:rPr lang="en-IN" dirty="0"/>
                  <a:t>Then, from these samples, we compare the trailing past states with the actual observed past. The sample whose past part matches best is selected.</a:t>
                </a:r>
              </a:p>
              <a:p>
                <a:r>
                  <a:rPr lang="en-IN" dirty="0"/>
                  <a:t>After selecting the best sample, the head state is retained as the predicted next state. Then the time window is shifted forward, and the predicted state is appended for the next forecasting step.</a:t>
                </a:r>
              </a:p>
              <a:p>
                <a:r>
                  <a:rPr lang="en-IN" dirty="0"/>
                  <a:t>So the main idea is: </a:t>
                </a:r>
                <a:r>
                  <a:rPr lang="en-IN" b="1" dirty="0"/>
                  <a:t>the conditional joint model first generates multiple possible future windows using the observed history, then selects the best matching window to produce the final forecast.</a:t>
                </a:r>
                <a:endParaRPr lang="en-IN" dirty="0"/>
              </a:p>
              <a:p>
                <a:endParaRPr lang="en-IN" dirty="0"/>
              </a:p>
            </p:txBody>
          </p:sp>
        </mc:Fallback>
      </mc:AlternateContent>
      <p:sp>
        <p:nvSpPr>
          <p:cNvPr id="4" name="Slide Number Placeholder 3"/>
          <p:cNvSpPr>
            <a:spLocks noGrp="1"/>
          </p:cNvSpPr>
          <p:nvPr>
            <p:ph type="sldNum" sz="quarter" idx="5"/>
          </p:nvPr>
        </p:nvSpPr>
        <p:spPr/>
        <p:txBody>
          <a:bodyPr/>
          <a:lstStyle/>
          <a:p>
            <a:fld id="{8222ABD5-52A0-4444-AF4A-2F674B8BAB06}" type="slidenum">
              <a:rPr lang="en-IN" smtClean="0"/>
              <a:t>22</a:t>
            </a:fld>
            <a:endParaRPr lang="en-IN"/>
          </a:p>
        </p:txBody>
      </p:sp>
    </p:spTree>
    <p:extLst>
      <p:ext uri="{BB962C8B-B14F-4D97-AF65-F5344CB8AC3E}">
        <p14:creationId xmlns:p14="http://schemas.microsoft.com/office/powerpoint/2010/main" val="41263962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Now I will show the </a:t>
                </a:r>
                <a:r>
                  <a:rPr lang="en-US" b="1" dirty="0"/>
                  <a:t>distribution adherence test</a:t>
                </a:r>
                <a:r>
                  <a:rPr lang="en-US" dirty="0"/>
                  <a:t> for the conditional joint model.</a:t>
                </a:r>
              </a:p>
              <a:p>
                <a:r>
                  <a:rPr lang="en-US" dirty="0"/>
                  <a:t>The purpose of this test is to check whether the predicted samples follow the same statistical distribution as the true Lorenz-63 data.</a:t>
                </a:r>
              </a:p>
              <a:p>
                <a:r>
                  <a:rPr lang="en-US" dirty="0"/>
                  <a:t>In these plots, the grey region represents the overall data distribution, the black curve represents the training data, the blue curve represents the true test data, and the red dashed curve represents the prediction.</a:t>
                </a:r>
              </a:p>
              <a:p>
                <a:r>
                  <a:rPr lang="en-US" dirty="0"/>
                  <a:t>For a good model, the red dashed prediction should closely follow the blue and black curves. Here, we can see that the predicted distribution matches the true distribution much better than before, especially in the main regions of the </a:t>
                </a:r>
                <a14:m>
                  <m:oMath xmlns:m="http://schemas.openxmlformats.org/officeDocument/2006/math">
                    <m:r>
                      <a:rPr lang="en-US" sz="1200" i="1" kern="1200">
                        <a:solidFill>
                          <a:schemeClr val="tx1"/>
                        </a:solidFill>
                        <a:latin typeface="+mn-lt"/>
                        <a:ea typeface="+mn-ea"/>
                        <a:cs typeface="+mn-cs"/>
                      </a:rPr>
                      <m:t>𝑥</m:t>
                    </m:r>
                  </m:oMath>
                </a14:m>
                <a:r>
                  <a:rPr lang="en-US" dirty="0"/>
                  <a:t>, </a:t>
                </a:r>
                <a14:m>
                  <m:oMath xmlns:m="http://schemas.openxmlformats.org/officeDocument/2006/math">
                    <m:r>
                      <a:rPr lang="en-US" sz="1200" i="1" kern="1200">
                        <a:solidFill>
                          <a:schemeClr val="tx1"/>
                        </a:solidFill>
                        <a:latin typeface="+mn-lt"/>
                        <a:ea typeface="+mn-ea"/>
                        <a:cs typeface="+mn-cs"/>
                      </a:rPr>
                      <m:t>𝑦</m:t>
                    </m:r>
                  </m:oMath>
                </a14:m>
                <a:r>
                  <a:rPr lang="en-US" dirty="0"/>
                  <a:t>, and </a:t>
                </a:r>
                <a14:m>
                  <m:oMath xmlns:m="http://schemas.openxmlformats.org/officeDocument/2006/math">
                    <m:r>
                      <a:rPr lang="en-US" sz="1200" i="1" kern="1200">
                        <a:solidFill>
                          <a:schemeClr val="tx1"/>
                        </a:solidFill>
                        <a:latin typeface="+mn-lt"/>
                        <a:ea typeface="+mn-ea"/>
                        <a:cs typeface="+mn-cs"/>
                      </a:rPr>
                      <m:t>𝑧</m:t>
                    </m:r>
                  </m:oMath>
                </a14:m>
                <a:r>
                  <a:rPr lang="en-US" dirty="0"/>
                  <a:t>components.</a:t>
                </a:r>
              </a:p>
              <a:p>
                <a:r>
                  <a:rPr lang="en-US" dirty="0"/>
                  <a:t>There are still some small deviations and peaks, especially around certain values, but overall the prediction captures the shape and range of the Lorenz attractor distribution reasonably well.</a:t>
                </a:r>
              </a:p>
              <a:p>
                <a:r>
                  <a:rPr lang="en-US" dirty="0"/>
                  <a:t>The tail plots also show that the model is able to cover the extreme regions better, although some mismatch is still present near the boundaries.</a:t>
                </a:r>
              </a:p>
              <a:p>
                <a:endParaRPr lang="en-IN" dirty="0"/>
              </a:p>
            </p:txBody>
          </p:sp>
        </mc:Choice>
        <mc:Fallback>
          <p:sp>
            <p:nvSpPr>
              <p:cNvPr id="3" name="Notes Placeholder 2"/>
              <p:cNvSpPr>
                <a:spLocks noGrp="1"/>
              </p:cNvSpPr>
              <p:nvPr>
                <p:ph type="body" idx="1"/>
              </p:nvPr>
            </p:nvSpPr>
            <p:spPr/>
            <p:txBody>
              <a:bodyPr/>
              <a:lstStyle/>
              <a:p>
                <a:r>
                  <a:rPr lang="en-US" dirty="0"/>
                  <a:t>Now I will show the </a:t>
                </a:r>
                <a:r>
                  <a:rPr lang="en-US" b="1" dirty="0"/>
                  <a:t>distribution adherence test</a:t>
                </a:r>
                <a:r>
                  <a:rPr lang="en-US" dirty="0"/>
                  <a:t> for the conditional joint model.</a:t>
                </a:r>
              </a:p>
              <a:p>
                <a:r>
                  <a:rPr lang="en-US" dirty="0"/>
                  <a:t>The purpose of this test is to check whether the predicted samples follow the same statistical distribution as the true Lorenz-63 data.</a:t>
                </a:r>
              </a:p>
              <a:p>
                <a:r>
                  <a:rPr lang="en-US" dirty="0"/>
                  <a:t>In these plots, the grey region represents the overall data distribution, the black curve represents the training data, the blue curve represents the true test data, and the red dashed curve represents the prediction.</a:t>
                </a:r>
              </a:p>
              <a:p>
                <a:r>
                  <a:rPr lang="en-US" dirty="0"/>
                  <a:t>For a good model, the red dashed prediction should closely follow the blue and black curves. Here, we can see that the predicted distribution matches the true distribution much better than before, especially in the main regions of the </a:t>
                </a:r>
                <a:r>
                  <a:rPr lang="en-US" sz="1200" i="0" kern="1200">
                    <a:solidFill>
                      <a:schemeClr val="tx1"/>
                    </a:solidFill>
                    <a:latin typeface="+mn-lt"/>
                    <a:ea typeface="+mn-ea"/>
                    <a:cs typeface="+mn-cs"/>
                  </a:rPr>
                  <a:t>𝑥</a:t>
                </a:r>
                <a:r>
                  <a:rPr lang="en-US" dirty="0"/>
                  <a:t>, </a:t>
                </a:r>
                <a:r>
                  <a:rPr lang="en-US" sz="1200" i="0" kern="1200">
                    <a:solidFill>
                      <a:schemeClr val="tx1"/>
                    </a:solidFill>
                    <a:latin typeface="+mn-lt"/>
                    <a:ea typeface="+mn-ea"/>
                    <a:cs typeface="+mn-cs"/>
                  </a:rPr>
                  <a:t>𝑦</a:t>
                </a:r>
                <a:r>
                  <a:rPr lang="en-US" dirty="0"/>
                  <a:t>, and </a:t>
                </a:r>
                <a:r>
                  <a:rPr lang="en-US" sz="1200" i="0" kern="1200">
                    <a:solidFill>
                      <a:schemeClr val="tx1"/>
                    </a:solidFill>
                    <a:latin typeface="+mn-lt"/>
                    <a:ea typeface="+mn-ea"/>
                    <a:cs typeface="+mn-cs"/>
                  </a:rPr>
                  <a:t>𝑧</a:t>
                </a:r>
                <a:r>
                  <a:rPr lang="en-US" dirty="0"/>
                  <a:t>components.</a:t>
                </a:r>
              </a:p>
              <a:p>
                <a:r>
                  <a:rPr lang="en-US" dirty="0"/>
                  <a:t>There are still some small deviations and peaks, especially around certain values, but overall the prediction captures the shape and range of the Lorenz attractor distribution reasonably well.</a:t>
                </a:r>
              </a:p>
              <a:p>
                <a:r>
                  <a:rPr lang="en-US" dirty="0"/>
                  <a:t>The tail plots also show that the model is able to cover the extreme regions better, although some mismatch is still present near the boundaries.</a:t>
                </a:r>
              </a:p>
              <a:p>
                <a:endParaRPr lang="en-IN" dirty="0"/>
              </a:p>
            </p:txBody>
          </p:sp>
        </mc:Fallback>
      </mc:AlternateContent>
      <p:sp>
        <p:nvSpPr>
          <p:cNvPr id="4" name="Slide Number Placeholder 3"/>
          <p:cNvSpPr>
            <a:spLocks noGrp="1"/>
          </p:cNvSpPr>
          <p:nvPr>
            <p:ph type="sldNum" sz="quarter" idx="5"/>
          </p:nvPr>
        </p:nvSpPr>
        <p:spPr/>
        <p:txBody>
          <a:bodyPr/>
          <a:lstStyle/>
          <a:p>
            <a:fld id="{8222ABD5-52A0-4444-AF4A-2F674B8BAB06}" type="slidenum">
              <a:rPr lang="en-IN" smtClean="0"/>
              <a:t>25</a:t>
            </a:fld>
            <a:endParaRPr lang="en-IN"/>
          </a:p>
        </p:txBody>
      </p:sp>
    </p:spTree>
    <p:extLst>
      <p:ext uri="{BB962C8B-B14F-4D97-AF65-F5344CB8AC3E}">
        <p14:creationId xmlns:p14="http://schemas.microsoft.com/office/powerpoint/2010/main" val="258590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will discuss the </a:t>
            </a:r>
            <a:r>
              <a:rPr lang="en-US" b="1" dirty="0"/>
              <a:t>future work</a:t>
            </a:r>
            <a:r>
              <a:rPr lang="en-US" dirty="0"/>
              <a:t>.</a:t>
            </a:r>
          </a:p>
          <a:p>
            <a:r>
              <a:rPr lang="en-US" dirty="0"/>
              <a:t>First, the NADE architecture can be made more complex and its performance can be evaluated. This may help the model capture more complicated nonlinear patterns in chaotic systems.</a:t>
            </a:r>
          </a:p>
          <a:p>
            <a:r>
              <a:rPr lang="en-US" dirty="0"/>
              <a:t>Second, the same framework can be implemented for the </a:t>
            </a:r>
            <a:r>
              <a:rPr lang="en-US" b="1" dirty="0"/>
              <a:t>Kuramoto–Sivashinsky equation</a:t>
            </a:r>
            <a:r>
              <a:rPr lang="en-US" dirty="0"/>
              <a:t>, or KS equation. This will help test the method on a more challenging </a:t>
            </a:r>
            <a:r>
              <a:rPr lang="en-US" dirty="0" err="1"/>
              <a:t>spatio</a:t>
            </a:r>
            <a:r>
              <a:rPr lang="en-US" dirty="0"/>
              <a:t>-temporal chaotic system.</a:t>
            </a:r>
          </a:p>
          <a:p>
            <a:r>
              <a:rPr lang="en-US" dirty="0"/>
              <a:t>Third, the framework can be extended to high-dimensional datasets such as </a:t>
            </a:r>
            <a:r>
              <a:rPr lang="en-US" b="1" dirty="0"/>
              <a:t>ERA5</a:t>
            </a:r>
            <a:r>
              <a:rPr lang="en-US" dirty="0"/>
              <a:t>. This is important because real weather and climate data are much more complex than low-dimensional systems like Lorenz-63.</a:t>
            </a:r>
          </a:p>
          <a:p>
            <a:r>
              <a:rPr lang="en-US" dirty="0"/>
              <a:t>So overall, the future direction is to move from simple chaotic systems toward more realistic and high-dimensional forecasting problems.</a:t>
            </a:r>
          </a:p>
          <a:p>
            <a:endParaRPr lang="en-IN" dirty="0"/>
          </a:p>
        </p:txBody>
      </p:sp>
      <p:sp>
        <p:nvSpPr>
          <p:cNvPr id="4" name="Slide Number Placeholder 3"/>
          <p:cNvSpPr>
            <a:spLocks noGrp="1"/>
          </p:cNvSpPr>
          <p:nvPr>
            <p:ph type="sldNum" sz="quarter" idx="5"/>
          </p:nvPr>
        </p:nvSpPr>
        <p:spPr/>
        <p:txBody>
          <a:bodyPr/>
          <a:lstStyle/>
          <a:p>
            <a:fld id="{8222ABD5-52A0-4444-AF4A-2F674B8BAB06}" type="slidenum">
              <a:rPr lang="en-IN" smtClean="0"/>
              <a:t>26</a:t>
            </a:fld>
            <a:endParaRPr lang="en-IN"/>
          </a:p>
        </p:txBody>
      </p:sp>
    </p:spTree>
    <p:extLst>
      <p:ext uri="{BB962C8B-B14F-4D97-AF65-F5344CB8AC3E}">
        <p14:creationId xmlns:p14="http://schemas.microsoft.com/office/powerpoint/2010/main" val="250487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99632-FEF4-5759-0A82-552A66132D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D5A9DE-72B4-13A6-F3BB-FBC6D4EEBA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955EEAF-C726-B677-B3F5-1AD706F8FC6D}"/>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5" name="Footer Placeholder 4">
            <a:extLst>
              <a:ext uri="{FF2B5EF4-FFF2-40B4-BE49-F238E27FC236}">
                <a16:creationId xmlns:a16="http://schemas.microsoft.com/office/drawing/2014/main" id="{25B68230-995B-DD74-FC16-0E92A1F331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428651-6ACC-3F06-E30B-A24AA134EBE3}"/>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3221974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7DA82-F393-89ED-50CD-2AE604028D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C993E0-1796-C402-E92C-1E12BECE88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2B40AF-4216-D127-A16A-CB38202EB4E8}"/>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5" name="Footer Placeholder 4">
            <a:extLst>
              <a:ext uri="{FF2B5EF4-FFF2-40B4-BE49-F238E27FC236}">
                <a16:creationId xmlns:a16="http://schemas.microsoft.com/office/drawing/2014/main" id="{B90DB982-C027-ED55-C2F0-58ADCDFBC5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BC7D63-B786-CD19-5271-8F2ED9E9761E}"/>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1438207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CB81A-B57D-7B3E-F2DA-3FCD23BDAF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06CCCA-2E17-57A7-FD1E-66600B3D25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EE4FA1-F97E-2A13-B07C-9221CDB1DC4A}"/>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5" name="Footer Placeholder 4">
            <a:extLst>
              <a:ext uri="{FF2B5EF4-FFF2-40B4-BE49-F238E27FC236}">
                <a16:creationId xmlns:a16="http://schemas.microsoft.com/office/drawing/2014/main" id="{3BF94B84-CBA2-C309-50F0-30111E5E5A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A80712-AC44-DA58-1D0A-0DA59D22CABE}"/>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3313630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B9E1-BB63-B386-5288-E21EB9DEFA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521C50-69D5-F931-6FF1-865992DB14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B68948-4B7A-B165-32B3-5CDC972592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50914D-AC75-978E-B914-07E3F3015C05}"/>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6" name="Footer Placeholder 5">
            <a:extLst>
              <a:ext uri="{FF2B5EF4-FFF2-40B4-BE49-F238E27FC236}">
                <a16:creationId xmlns:a16="http://schemas.microsoft.com/office/drawing/2014/main" id="{A558CC09-BA87-88B1-02C1-7A436427B5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9E70B4-B9A0-59EF-7879-4A87AEF0965F}"/>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1514535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E031E-F59E-F32F-BD14-11714BAEB35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4F3C44-7349-C3B0-531B-849C40969F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1B4026-E242-E88A-2732-28B0E70CB0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2DED3F1-5455-572A-4DD6-1BC7A1789A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A1BB0D-7117-4560-BB2B-81BEEF2BA5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6B0AD65-7433-AFD6-20C4-8A6E1F7E29C6}"/>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8" name="Footer Placeholder 7">
            <a:extLst>
              <a:ext uri="{FF2B5EF4-FFF2-40B4-BE49-F238E27FC236}">
                <a16:creationId xmlns:a16="http://schemas.microsoft.com/office/drawing/2014/main" id="{29B18BA9-A691-4300-5889-41EB52F00D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7CEE277-9AC1-BC7A-4B17-D09D79B3EC6E}"/>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1332699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45D5-7C1B-CCAF-961B-2D4A9F2178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3859A01-0D4E-6714-2733-EB028AE92D41}"/>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4" name="Footer Placeholder 3">
            <a:extLst>
              <a:ext uri="{FF2B5EF4-FFF2-40B4-BE49-F238E27FC236}">
                <a16:creationId xmlns:a16="http://schemas.microsoft.com/office/drawing/2014/main" id="{8D8D83CA-E921-83BE-DC23-582693526A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277B72E-48C0-5B63-114C-F01E8344801D}"/>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1428311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D7D56-0149-5A14-07CF-EF9481444D30}"/>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3" name="Footer Placeholder 2">
            <a:extLst>
              <a:ext uri="{FF2B5EF4-FFF2-40B4-BE49-F238E27FC236}">
                <a16:creationId xmlns:a16="http://schemas.microsoft.com/office/drawing/2014/main" id="{F309EF4A-6206-373F-241E-AFDB156E6B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DD1EB0-CF99-90DB-D92E-8441F47AD4D9}"/>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1814769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D084-6132-4776-4A07-F0B01F4FB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8E0C151-9DC9-DA6D-88B3-D03C1B6DA9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21B7A2-45D1-07CB-A9DB-79B3F0422A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CE8347-4D54-6934-65FB-6340C99719AB}"/>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6" name="Footer Placeholder 5">
            <a:extLst>
              <a:ext uri="{FF2B5EF4-FFF2-40B4-BE49-F238E27FC236}">
                <a16:creationId xmlns:a16="http://schemas.microsoft.com/office/drawing/2014/main" id="{6E89C0A2-CD63-EFF7-37CC-A3E6D43376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AB4B3B-8480-BDF4-112D-C7006FD6DC33}"/>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953468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D914B-3FFA-F133-44EB-1A937D4AE3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BB7C02A-19E9-B56A-F0F7-3F30CDAB49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63DA176-BA3F-F874-C7EE-56289EDA0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39F6F3-590B-3FC5-D65D-15FB43EAFC29}"/>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6" name="Footer Placeholder 5">
            <a:extLst>
              <a:ext uri="{FF2B5EF4-FFF2-40B4-BE49-F238E27FC236}">
                <a16:creationId xmlns:a16="http://schemas.microsoft.com/office/drawing/2014/main" id="{FB42BD2A-F958-DDD3-2A39-9C8918A23C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BF3E5E-A148-42C0-0C28-7BA9C09A8881}"/>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4154321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E538F-2D91-43AF-E040-E371C1EF6E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1A5506-56B5-D2E9-9E9B-DB237F3D06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A3632-A6B0-4AC2-DC73-5DF83E61E7AA}"/>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5" name="Footer Placeholder 4">
            <a:extLst>
              <a:ext uri="{FF2B5EF4-FFF2-40B4-BE49-F238E27FC236}">
                <a16:creationId xmlns:a16="http://schemas.microsoft.com/office/drawing/2014/main" id="{10672017-7F2A-6605-068F-C642BF10F5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B3B643-EDEF-E1D8-E7B6-DB8685A108C0}"/>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186757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156A8E-5469-73A0-13A0-7E3E40726C8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656682-D4BD-5791-7D2A-5A4BD6D040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CC32D7-CC0C-A611-A4DF-0622831FC7D3}"/>
              </a:ext>
            </a:extLst>
          </p:cNvPr>
          <p:cNvSpPr>
            <a:spLocks noGrp="1"/>
          </p:cNvSpPr>
          <p:nvPr>
            <p:ph type="dt" sz="half" idx="10"/>
          </p:nvPr>
        </p:nvSpPr>
        <p:spPr/>
        <p:txBody>
          <a:bodyPr/>
          <a:lstStyle/>
          <a:p>
            <a:fld id="{8FC8EC8F-041E-47C8-BAAD-75B0FFCFEEA6}" type="datetimeFigureOut">
              <a:rPr lang="en-IN" smtClean="0"/>
              <a:t>07-05-2026</a:t>
            </a:fld>
            <a:endParaRPr lang="en-IN"/>
          </a:p>
        </p:txBody>
      </p:sp>
      <p:sp>
        <p:nvSpPr>
          <p:cNvPr id="5" name="Footer Placeholder 4">
            <a:extLst>
              <a:ext uri="{FF2B5EF4-FFF2-40B4-BE49-F238E27FC236}">
                <a16:creationId xmlns:a16="http://schemas.microsoft.com/office/drawing/2014/main" id="{DCD2F4AE-9053-0BBE-28D3-50D87DA7C2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E57AA9-3A7D-DA3A-497B-1227E0A193E6}"/>
              </a:ext>
            </a:extLst>
          </p:cNvPr>
          <p:cNvSpPr>
            <a:spLocks noGrp="1"/>
          </p:cNvSpPr>
          <p:nvPr>
            <p:ph type="sldNum" sz="quarter" idx="12"/>
          </p:nvPr>
        </p:nvSpPr>
        <p:spPr/>
        <p:txBody>
          <a:bodyPr/>
          <a:lstStyle/>
          <a:p>
            <a:fld id="{837372AF-EA72-49F3-8886-BA31EEC323EE}" type="slidenum">
              <a:rPr lang="en-IN" smtClean="0"/>
              <a:t>‹#›</a:t>
            </a:fld>
            <a:endParaRPr lang="en-IN"/>
          </a:p>
        </p:txBody>
      </p:sp>
    </p:spTree>
    <p:extLst>
      <p:ext uri="{BB962C8B-B14F-4D97-AF65-F5344CB8AC3E}">
        <p14:creationId xmlns:p14="http://schemas.microsoft.com/office/powerpoint/2010/main" val="1929594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F93B81-6CA5-DB52-3A3D-F1B180309C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366238-5AC0-4037-32BE-858C7A794E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8A4BD2-91C4-C6E2-046E-595400055E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C8EC8F-041E-47C8-BAAD-75B0FFCFEEA6}" type="datetimeFigureOut">
              <a:rPr lang="en-IN" smtClean="0"/>
              <a:t>07-05-2026</a:t>
            </a:fld>
            <a:endParaRPr lang="en-IN"/>
          </a:p>
        </p:txBody>
      </p:sp>
      <p:sp>
        <p:nvSpPr>
          <p:cNvPr id="5" name="Footer Placeholder 4">
            <a:extLst>
              <a:ext uri="{FF2B5EF4-FFF2-40B4-BE49-F238E27FC236}">
                <a16:creationId xmlns:a16="http://schemas.microsoft.com/office/drawing/2014/main" id="{2C845261-21EF-60BA-69DF-E200F36389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FE73C31-5ABA-E67B-1462-09AA0735E1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7372AF-EA72-49F3-8886-BA31EEC323EE}" type="slidenum">
              <a:rPr lang="en-IN" smtClean="0"/>
              <a:t>‹#›</a:t>
            </a:fld>
            <a:endParaRPr lang="en-IN"/>
          </a:p>
        </p:txBody>
      </p:sp>
    </p:spTree>
    <p:extLst>
      <p:ext uri="{BB962C8B-B14F-4D97-AF65-F5344CB8AC3E}">
        <p14:creationId xmlns:p14="http://schemas.microsoft.com/office/powerpoint/2010/main" val="1927250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image" Target="../media/image2.gi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2.xml"/><Relationship Id="rId7" Type="http://schemas.openxmlformats.org/officeDocument/2006/relationships/image" Target="../media/image7.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png"/><Relationship Id="rId4" Type="http://schemas.openxmlformats.org/officeDocument/2006/relationships/notesSlide" Target="../notesSlides/notesSlide4.xml"/><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2.xml"/><Relationship Id="rId7" Type="http://schemas.openxmlformats.org/officeDocument/2006/relationships/image" Target="../media/image20.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19.png"/><Relationship Id="rId11" Type="http://schemas.openxmlformats.org/officeDocument/2006/relationships/image" Target="../media/image1.png"/><Relationship Id="rId5" Type="http://schemas.openxmlformats.org/officeDocument/2006/relationships/image" Target="../media/image9.png"/><Relationship Id="rId10" Type="http://schemas.openxmlformats.org/officeDocument/2006/relationships/image" Target="../media/image17.png"/><Relationship Id="rId4" Type="http://schemas.openxmlformats.org/officeDocument/2006/relationships/notesSlide" Target="../notesSlides/notesSlide7.xml"/><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1.png"/><Relationship Id="rId5" Type="http://schemas.openxmlformats.org/officeDocument/2006/relationships/image" Target="../media/image18.png"/><Relationship Id="rId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1F8D7-6F01-BB8F-AA2E-D9807C019C18}"/>
              </a:ext>
            </a:extLst>
          </p:cNvPr>
          <p:cNvSpPr>
            <a:spLocks noGrp="1"/>
          </p:cNvSpPr>
          <p:nvPr>
            <p:ph type="ctrTitle"/>
          </p:nvPr>
        </p:nvSpPr>
        <p:spPr>
          <a:xfrm>
            <a:off x="0" y="393290"/>
            <a:ext cx="12192000" cy="1877961"/>
          </a:xfrm>
          <a:solidFill>
            <a:schemeClr val="accent1">
              <a:lumMod val="20000"/>
              <a:lumOff val="80000"/>
            </a:schemeClr>
          </a:solidFill>
        </p:spPr>
        <p:txBody>
          <a:bodyPr>
            <a:normAutofit/>
          </a:bodyPr>
          <a:lstStyle/>
          <a:p>
            <a:r>
              <a:rPr lang="en-US" dirty="0"/>
              <a:t>Generative Forecasting with Joint Probability Models</a:t>
            </a:r>
            <a:endParaRPr lang="en-IN" dirty="0"/>
          </a:p>
        </p:txBody>
      </p:sp>
      <p:sp>
        <p:nvSpPr>
          <p:cNvPr id="6" name="TextBox 5">
            <a:extLst>
              <a:ext uri="{FF2B5EF4-FFF2-40B4-BE49-F238E27FC236}">
                <a16:creationId xmlns:a16="http://schemas.microsoft.com/office/drawing/2014/main" id="{3CF310D0-1583-867C-0563-842325304207}"/>
              </a:ext>
            </a:extLst>
          </p:cNvPr>
          <p:cNvSpPr txBox="1"/>
          <p:nvPr/>
        </p:nvSpPr>
        <p:spPr>
          <a:xfrm>
            <a:off x="0" y="2890391"/>
            <a:ext cx="11818374" cy="3539430"/>
          </a:xfrm>
          <a:prstGeom prst="rect">
            <a:avLst/>
          </a:prstGeom>
          <a:noFill/>
        </p:spPr>
        <p:txBody>
          <a:bodyPr wrap="square" rtlCol="0">
            <a:spAutoFit/>
          </a:bodyPr>
          <a:lstStyle/>
          <a:p>
            <a:pPr algn="ctr"/>
            <a:r>
              <a:rPr lang="en-US" sz="2800" dirty="0"/>
              <a:t>A </a:t>
            </a:r>
            <a:r>
              <a:rPr lang="en-US" sz="2800" b="1" dirty="0"/>
              <a:t>Framework</a:t>
            </a:r>
            <a:r>
              <a:rPr lang="en-US" sz="2800" dirty="0"/>
              <a:t> that redefines how we predict the behavior of complex, chaotic dynamical systems.</a:t>
            </a:r>
          </a:p>
          <a:p>
            <a:pPr algn="ctr"/>
            <a:endParaRPr lang="en-US" sz="2800" dirty="0"/>
          </a:p>
          <a:p>
            <a:pPr algn="ctr"/>
            <a:r>
              <a:rPr lang="en-US" sz="2800" b="1" dirty="0"/>
              <a:t>Probabilistic Machine Learning For Mechanics(Deep Generative Models) Course Project</a:t>
            </a:r>
          </a:p>
          <a:p>
            <a:pPr algn="ctr"/>
            <a:endParaRPr lang="en-US" sz="2800" b="1" dirty="0"/>
          </a:p>
          <a:p>
            <a:pPr algn="ctr"/>
            <a:r>
              <a:rPr lang="en-US" sz="2800" dirty="0"/>
              <a:t>Abhishek R Reddy</a:t>
            </a:r>
          </a:p>
          <a:p>
            <a:pPr algn="ctr"/>
            <a:r>
              <a:rPr lang="en-US" sz="2800" dirty="0"/>
              <a:t>2025AMA2244</a:t>
            </a:r>
            <a:endParaRPr lang="en-IN" sz="2800" dirty="0"/>
          </a:p>
        </p:txBody>
      </p:sp>
      <p:pic>
        <p:nvPicPr>
          <p:cNvPr id="44" name="Audio 43">
            <a:hlinkClick r:id="" action="ppaction://media"/>
            <a:extLst>
              <a:ext uri="{FF2B5EF4-FFF2-40B4-BE49-F238E27FC236}">
                <a16:creationId xmlns:a16="http://schemas.microsoft.com/office/drawing/2014/main" id="{DB010DD1-7544-FC75-2C52-CAD6B554B35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67791161"/>
      </p:ext>
    </p:extLst>
  </p:cSld>
  <p:clrMapOvr>
    <a:masterClrMapping/>
  </p:clrMapOvr>
  <mc:AlternateContent xmlns:mc="http://schemas.openxmlformats.org/markup-compatibility/2006">
    <mc:Choice xmlns:p14="http://schemas.microsoft.com/office/powerpoint/2010/main" Requires="p14">
      <p:transition spd="slow" p14:dur="2000" advTm="18497"/>
    </mc:Choice>
    <mc:Fallback>
      <p:transition spd="slow" advTm="184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440A0-D63C-27D9-5199-DD7566DC98A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481BED7-9334-DAD2-D854-2888D4C13231}"/>
              </a:ext>
            </a:extLst>
          </p:cNvPr>
          <p:cNvSpPr txBox="1">
            <a:spLocks/>
          </p:cNvSpPr>
          <p:nvPr/>
        </p:nvSpPr>
        <p:spPr>
          <a:xfrm>
            <a:off x="0" y="73490"/>
            <a:ext cx="12192000" cy="719748"/>
          </a:xfrm>
          <a:prstGeom prst="rect">
            <a:avLst/>
          </a:prstGeom>
          <a:solidFill>
            <a:schemeClr val="accent1">
              <a:lumMod val="20000"/>
              <a:lumOff val="8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Generative Forecasting using </a:t>
            </a:r>
            <a:r>
              <a:rPr lang="en-US" b="1" dirty="0">
                <a:solidFill>
                  <a:schemeClr val="accent6">
                    <a:lumMod val="50000"/>
                  </a:schemeClr>
                </a:solidFill>
              </a:rPr>
              <a:t>Joint</a:t>
            </a:r>
            <a:r>
              <a:rPr lang="en-US" dirty="0"/>
              <a:t> Probability Models</a:t>
            </a:r>
            <a:endParaRPr lang="en-IN" dirty="0"/>
          </a:p>
        </p:txBody>
      </p:sp>
      <p:sp>
        <p:nvSpPr>
          <p:cNvPr id="7" name="TextBox 6">
            <a:extLst>
              <a:ext uri="{FF2B5EF4-FFF2-40B4-BE49-F238E27FC236}">
                <a16:creationId xmlns:a16="http://schemas.microsoft.com/office/drawing/2014/main" id="{C09858CE-AED3-1997-86BA-306FD820BB8A}"/>
              </a:ext>
            </a:extLst>
          </p:cNvPr>
          <p:cNvSpPr txBox="1"/>
          <p:nvPr/>
        </p:nvSpPr>
        <p:spPr>
          <a:xfrm>
            <a:off x="206477" y="730897"/>
            <a:ext cx="5447071" cy="523220"/>
          </a:xfrm>
          <a:prstGeom prst="rect">
            <a:avLst/>
          </a:prstGeom>
          <a:noFill/>
        </p:spPr>
        <p:txBody>
          <a:bodyPr wrap="square" rtlCol="0">
            <a:spAutoFit/>
          </a:bodyPr>
          <a:lstStyle/>
          <a:p>
            <a:r>
              <a:rPr lang="en-US" sz="2800" dirty="0"/>
              <a:t>Contents</a:t>
            </a:r>
            <a:endParaRPr lang="en-IN" sz="2800" dirty="0"/>
          </a:p>
        </p:txBody>
      </p:sp>
      <p:sp>
        <p:nvSpPr>
          <p:cNvPr id="25" name="Content Placeholder 2">
            <a:extLst>
              <a:ext uri="{FF2B5EF4-FFF2-40B4-BE49-F238E27FC236}">
                <a16:creationId xmlns:a16="http://schemas.microsoft.com/office/drawing/2014/main" id="{B9158211-90DE-A217-542F-7CCBE0E79E06}"/>
              </a:ext>
            </a:extLst>
          </p:cNvPr>
          <p:cNvSpPr>
            <a:spLocks noGrp="1"/>
          </p:cNvSpPr>
          <p:nvPr>
            <p:ph idx="1"/>
          </p:nvPr>
        </p:nvSpPr>
        <p:spPr>
          <a:xfrm>
            <a:off x="206477" y="1140765"/>
            <a:ext cx="10515600" cy="5531179"/>
          </a:xfrm>
        </p:spPr>
        <p:txBody>
          <a:bodyPr>
            <a:normAutofit/>
          </a:bodyPr>
          <a:lstStyle/>
          <a:p>
            <a:pPr marL="457200" indent="-360000">
              <a:lnSpc>
                <a:spcPct val="100000"/>
              </a:lnSpc>
              <a:buAutoNum type="arabicPeriod"/>
            </a:pPr>
            <a:r>
              <a:rPr lang="en-US" sz="1200" b="1" dirty="0"/>
              <a:t>What is Chaotic Dynamical Systems?</a:t>
            </a:r>
          </a:p>
          <a:p>
            <a:pPr marL="457200" indent="-360000">
              <a:lnSpc>
                <a:spcPct val="100000"/>
              </a:lnSpc>
              <a:buAutoNum type="arabicPeriod"/>
            </a:pPr>
            <a:r>
              <a:rPr lang="en-US" sz="1200" b="1" dirty="0"/>
              <a:t>Concepts related to Chaotic Dynamical System</a:t>
            </a:r>
          </a:p>
          <a:p>
            <a:pPr marL="457200" indent="-360000">
              <a:lnSpc>
                <a:spcPct val="100000"/>
              </a:lnSpc>
              <a:buFont typeface="Arial" panose="020B0604020202020204" pitchFamily="34" charset="0"/>
              <a:buAutoNum type="arabicPeriod"/>
            </a:pPr>
            <a:r>
              <a:rPr lang="en-US" sz="1200" b="1" dirty="0"/>
              <a:t>Generative Forecasting with Conditional Probability</a:t>
            </a:r>
          </a:p>
          <a:p>
            <a:pPr marL="457200" indent="-360000">
              <a:lnSpc>
                <a:spcPct val="100000"/>
              </a:lnSpc>
              <a:buFont typeface="Arial" panose="020B0604020202020204" pitchFamily="34" charset="0"/>
              <a:buAutoNum type="arabicPeriod"/>
            </a:pPr>
            <a:r>
              <a:rPr lang="en-US" sz="1200" b="1" dirty="0"/>
              <a:t>Generative Forecasting using Joint Probability Models</a:t>
            </a:r>
          </a:p>
          <a:p>
            <a:pPr marL="457200" indent="-360000">
              <a:lnSpc>
                <a:spcPct val="100000"/>
              </a:lnSpc>
              <a:buFont typeface="Arial" panose="020B0604020202020204" pitchFamily="34" charset="0"/>
              <a:buAutoNum type="arabicPeriod"/>
            </a:pPr>
            <a:r>
              <a:rPr lang="en-IN" sz="1200" b="1" dirty="0"/>
              <a:t>Uncertainty quantification from joint samples</a:t>
            </a:r>
          </a:p>
          <a:p>
            <a:pPr marL="457200" indent="-360000">
              <a:lnSpc>
                <a:spcPct val="100000"/>
              </a:lnSpc>
              <a:buFont typeface="Arial" panose="020B0604020202020204" pitchFamily="34" charset="0"/>
              <a:buAutoNum type="arabicPeriod"/>
            </a:pPr>
            <a:r>
              <a:rPr lang="en-IN" sz="1200" b="1" dirty="0"/>
              <a:t>Wasserstein drift (a UQ Metric)</a:t>
            </a:r>
          </a:p>
          <a:p>
            <a:pPr marL="457200" indent="-360000">
              <a:lnSpc>
                <a:spcPct val="100000"/>
              </a:lnSpc>
              <a:buFont typeface="Arial" panose="020B0604020202020204" pitchFamily="34" charset="0"/>
              <a:buAutoNum type="arabicPeriod"/>
            </a:pPr>
            <a:r>
              <a:rPr lang="en-US" sz="1200" b="1" dirty="0"/>
              <a:t>Extension to Joint Generative Framework</a:t>
            </a:r>
          </a:p>
          <a:p>
            <a:pPr marL="914400" lvl="1" indent="-360000">
              <a:lnSpc>
                <a:spcPct val="100000"/>
              </a:lnSpc>
              <a:buFont typeface="Arial" panose="020B0604020202020204" pitchFamily="34" charset="0"/>
              <a:buAutoNum type="arabicPeriod"/>
            </a:pPr>
            <a:r>
              <a:rPr lang="en-US" sz="1200" b="1" dirty="0"/>
              <a:t>Conditional Joint Models.</a:t>
            </a:r>
          </a:p>
          <a:p>
            <a:pPr marL="914400" lvl="1" indent="-360000">
              <a:lnSpc>
                <a:spcPct val="100000"/>
              </a:lnSpc>
              <a:buFont typeface="Arial" panose="020B0604020202020204" pitchFamily="34" charset="0"/>
              <a:buAutoNum type="arabicPeriod"/>
            </a:pPr>
            <a:r>
              <a:rPr lang="en-US" sz="1200" b="1" dirty="0"/>
              <a:t>Latent optimal control</a:t>
            </a:r>
          </a:p>
          <a:p>
            <a:pPr marL="457200" indent="-360000">
              <a:lnSpc>
                <a:spcPct val="110000"/>
              </a:lnSpc>
              <a:buFont typeface="Arial" panose="020B0604020202020204" pitchFamily="34" charset="0"/>
              <a:buAutoNum type="arabicPeriod"/>
            </a:pPr>
            <a:r>
              <a:rPr lang="en-IN" sz="1200" b="1" dirty="0"/>
              <a:t>Evaluation of framework on Lorenz-63 model</a:t>
            </a:r>
          </a:p>
          <a:p>
            <a:pPr marL="914400" lvl="1" indent="-360000">
              <a:lnSpc>
                <a:spcPct val="110000"/>
              </a:lnSpc>
              <a:buFont typeface="Arial" panose="020B0604020202020204" pitchFamily="34" charset="0"/>
              <a:buAutoNum type="arabicPeriod"/>
            </a:pPr>
            <a:r>
              <a:rPr lang="en-US" sz="1200" b="1" dirty="0"/>
              <a:t>Generating the Data for Training</a:t>
            </a:r>
          </a:p>
          <a:p>
            <a:pPr marL="914400" lvl="1" indent="-360000">
              <a:lnSpc>
                <a:spcPct val="110000"/>
              </a:lnSpc>
              <a:buFont typeface="Arial" panose="020B0604020202020204" pitchFamily="34" charset="0"/>
              <a:buAutoNum type="arabicPeriod"/>
            </a:pPr>
            <a:r>
              <a:rPr lang="en-US" sz="1200" b="1" dirty="0"/>
              <a:t>NADE Implementation to Forecast Lorenz System</a:t>
            </a:r>
          </a:p>
          <a:p>
            <a:pPr marL="914400" lvl="1" indent="-360000">
              <a:lnSpc>
                <a:spcPct val="110000"/>
              </a:lnSpc>
              <a:buFont typeface="Arial" panose="020B0604020202020204" pitchFamily="34" charset="0"/>
              <a:buAutoNum type="arabicPeriod"/>
            </a:pPr>
            <a:r>
              <a:rPr lang="en-US" sz="1200" b="1" dirty="0"/>
              <a:t>Testing Methodology</a:t>
            </a:r>
          </a:p>
          <a:p>
            <a:pPr marL="914400" lvl="1" indent="-360000">
              <a:lnSpc>
                <a:spcPct val="110000"/>
              </a:lnSpc>
              <a:buFont typeface="Arial" panose="020B0604020202020204" pitchFamily="34" charset="0"/>
              <a:buAutoNum type="arabicPeriod"/>
            </a:pPr>
            <a:r>
              <a:rPr lang="en-IN" sz="1200" b="1" dirty="0"/>
              <a:t>Distribution adherence test</a:t>
            </a:r>
          </a:p>
          <a:p>
            <a:pPr marL="914400" lvl="1" indent="-360000">
              <a:lnSpc>
                <a:spcPct val="110000"/>
              </a:lnSpc>
              <a:buFont typeface="Arial" panose="020B0604020202020204" pitchFamily="34" charset="0"/>
              <a:buAutoNum type="arabicPeriod"/>
            </a:pPr>
            <a:r>
              <a:rPr lang="en-IN" sz="1200" b="1" dirty="0"/>
              <a:t>Estimation UQ metrics</a:t>
            </a:r>
          </a:p>
          <a:p>
            <a:pPr marL="914400" lvl="1" indent="-360000">
              <a:lnSpc>
                <a:spcPct val="110000"/>
              </a:lnSpc>
              <a:buFont typeface="Arial" panose="020B0604020202020204" pitchFamily="34" charset="0"/>
              <a:buAutoNum type="arabicPeriod"/>
            </a:pPr>
            <a:r>
              <a:rPr lang="en-IN" sz="1200" b="1" dirty="0"/>
              <a:t>Implementation of Conditional Joint Model </a:t>
            </a:r>
          </a:p>
          <a:p>
            <a:pPr marL="914400" lvl="1" indent="-457200">
              <a:lnSpc>
                <a:spcPct val="110000"/>
              </a:lnSpc>
              <a:buFont typeface="Arial" panose="020B0604020202020204" pitchFamily="34" charset="0"/>
              <a:buAutoNum type="arabicPeriod"/>
            </a:pPr>
            <a:endParaRPr lang="en-IN" sz="1600" b="1" dirty="0"/>
          </a:p>
          <a:p>
            <a:pPr marL="914400" lvl="1" indent="-457200">
              <a:lnSpc>
                <a:spcPct val="110000"/>
              </a:lnSpc>
              <a:buFont typeface="Arial" panose="020B0604020202020204" pitchFamily="34" charset="0"/>
              <a:buAutoNum type="arabicPeriod"/>
            </a:pPr>
            <a:endParaRPr lang="en-IN" sz="1600" b="1" dirty="0"/>
          </a:p>
          <a:p>
            <a:pPr marL="914400" lvl="1" indent="-457200">
              <a:lnSpc>
                <a:spcPct val="110000"/>
              </a:lnSpc>
              <a:buFont typeface="Arial" panose="020B0604020202020204" pitchFamily="34" charset="0"/>
              <a:buAutoNum type="arabicPeriod"/>
            </a:pPr>
            <a:endParaRPr lang="en-US" sz="1100" dirty="0">
              <a:solidFill>
                <a:schemeClr val="bg1">
                  <a:lumMod val="50000"/>
                </a:schemeClr>
              </a:solidFill>
            </a:endParaRPr>
          </a:p>
          <a:p>
            <a:pPr marL="914400" lvl="1" indent="-457200">
              <a:lnSpc>
                <a:spcPct val="110000"/>
              </a:lnSpc>
              <a:buFont typeface="Arial" panose="020B0604020202020204" pitchFamily="34" charset="0"/>
              <a:buAutoNum type="arabicPeriod"/>
            </a:pPr>
            <a:endParaRPr lang="en-US" sz="1100" dirty="0">
              <a:solidFill>
                <a:schemeClr val="bg1">
                  <a:lumMod val="50000"/>
                </a:schemeClr>
              </a:solidFill>
            </a:endParaRPr>
          </a:p>
          <a:p>
            <a:pPr marL="914400" lvl="1" indent="-457200">
              <a:lnSpc>
                <a:spcPct val="110000"/>
              </a:lnSpc>
              <a:buFont typeface="Arial" panose="020B0604020202020204" pitchFamily="34" charset="0"/>
              <a:buAutoNum type="arabicPeriod"/>
            </a:pPr>
            <a:endParaRPr lang="en-IN" sz="1400" dirty="0">
              <a:solidFill>
                <a:srgbClr val="7030A0"/>
              </a:solidFill>
            </a:endParaRPr>
          </a:p>
          <a:p>
            <a:pPr marL="914400" lvl="1" indent="-457200">
              <a:lnSpc>
                <a:spcPct val="110000"/>
              </a:lnSpc>
              <a:buFont typeface="Arial" panose="020B0604020202020204" pitchFamily="34" charset="0"/>
              <a:buAutoNum type="arabicPeriod"/>
            </a:pPr>
            <a:endParaRPr lang="en-US" sz="1400" dirty="0">
              <a:solidFill>
                <a:srgbClr val="7030A0"/>
              </a:solidFill>
            </a:endParaRPr>
          </a:p>
          <a:p>
            <a:pPr marL="457200" indent="-457200">
              <a:lnSpc>
                <a:spcPct val="100000"/>
              </a:lnSpc>
              <a:buFont typeface="Arial" panose="020B0604020202020204" pitchFamily="34" charset="0"/>
              <a:buAutoNum type="arabicPeriod"/>
            </a:pPr>
            <a:endParaRPr lang="en-US" sz="1800" dirty="0">
              <a:solidFill>
                <a:schemeClr val="bg1">
                  <a:lumMod val="50000"/>
                </a:schemeClr>
              </a:solidFill>
            </a:endParaRPr>
          </a:p>
          <a:p>
            <a:pPr marL="457200" indent="-457200">
              <a:lnSpc>
                <a:spcPct val="100000"/>
              </a:lnSpc>
              <a:buAutoNum type="arabicPeriod"/>
            </a:pPr>
            <a:endParaRPr lang="en-IN" sz="1800" dirty="0">
              <a:solidFill>
                <a:schemeClr val="bg1">
                  <a:lumMod val="50000"/>
                </a:schemeClr>
              </a:solidFill>
            </a:endParaRPr>
          </a:p>
        </p:txBody>
      </p:sp>
    </p:spTree>
    <p:extLst>
      <p:ext uri="{BB962C8B-B14F-4D97-AF65-F5344CB8AC3E}">
        <p14:creationId xmlns:p14="http://schemas.microsoft.com/office/powerpoint/2010/main" val="577846018"/>
      </p:ext>
    </p:extLst>
  </p:cSld>
  <p:clrMapOvr>
    <a:masterClrMapping/>
  </p:clrMapOvr>
  <mc:AlternateContent xmlns:mc="http://schemas.openxmlformats.org/markup-compatibility/2006">
    <mc:Choice xmlns:p14="http://schemas.microsoft.com/office/powerpoint/2010/main" Requires="p14">
      <p:transition spd="slow" p14:dur="2000" advTm="48732"/>
    </mc:Choice>
    <mc:Fallback>
      <p:transition spd="slow" advTm="4873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1968E-1C73-92FE-1FDB-0A248D81E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555C9-7C50-BF52-4E27-1B4386352654}"/>
              </a:ext>
            </a:extLst>
          </p:cNvPr>
          <p:cNvSpPr>
            <a:spLocks noGrp="1"/>
          </p:cNvSpPr>
          <p:nvPr>
            <p:ph type="title"/>
          </p:nvPr>
        </p:nvSpPr>
        <p:spPr>
          <a:xfrm>
            <a:off x="0" y="247139"/>
            <a:ext cx="12192000" cy="667262"/>
          </a:xfrm>
          <a:solidFill>
            <a:schemeClr val="accent1">
              <a:lumMod val="20000"/>
              <a:lumOff val="80000"/>
            </a:schemeClr>
          </a:solidFill>
        </p:spPr>
        <p:txBody>
          <a:bodyPr>
            <a:normAutofit fontScale="90000"/>
          </a:bodyPr>
          <a:lstStyle/>
          <a:p>
            <a:r>
              <a:rPr lang="en-US" dirty="0"/>
              <a:t> Chaotic Dynamical System</a:t>
            </a:r>
            <a:endParaRPr lang="en-IN" dirty="0"/>
          </a:p>
        </p:txBody>
      </p:sp>
      <p:sp>
        <p:nvSpPr>
          <p:cNvPr id="3" name="Content Placeholder 2">
            <a:extLst>
              <a:ext uri="{FF2B5EF4-FFF2-40B4-BE49-F238E27FC236}">
                <a16:creationId xmlns:a16="http://schemas.microsoft.com/office/drawing/2014/main" id="{1DFD3BD2-A996-5C0E-6114-0C9A557BF0D1}"/>
              </a:ext>
            </a:extLst>
          </p:cNvPr>
          <p:cNvSpPr>
            <a:spLocks noGrp="1"/>
          </p:cNvSpPr>
          <p:nvPr>
            <p:ph idx="1"/>
          </p:nvPr>
        </p:nvSpPr>
        <p:spPr>
          <a:xfrm>
            <a:off x="110612" y="1046854"/>
            <a:ext cx="11914240" cy="4351338"/>
          </a:xfrm>
        </p:spPr>
        <p:txBody>
          <a:bodyPr>
            <a:normAutofit lnSpcReduction="10000"/>
          </a:bodyPr>
          <a:lstStyle/>
          <a:p>
            <a:r>
              <a:rPr lang="en-US" dirty="0"/>
              <a:t>A chaotic dynamical system is a system that is </a:t>
            </a:r>
            <a:r>
              <a:rPr lang="en-US" b="1" dirty="0"/>
              <a:t>extremely sensitive to its initial conditions. </a:t>
            </a:r>
          </a:p>
          <a:p>
            <a:r>
              <a:rPr lang="en-US" dirty="0"/>
              <a:t>Because of this extreme sensitivity, even tiny changes at the start will accumulate over time and lead to completely different outcomes. </a:t>
            </a:r>
          </a:p>
          <a:p>
            <a:endParaRPr lang="en-US" dirty="0"/>
          </a:p>
          <a:p>
            <a:r>
              <a:rPr lang="en-US" dirty="0"/>
              <a:t>Examples: </a:t>
            </a:r>
          </a:p>
          <a:p>
            <a:pPr lvl="1"/>
            <a:r>
              <a:rPr lang="en-IN" b="1" dirty="0"/>
              <a:t>Atmosphere</a:t>
            </a:r>
          </a:p>
          <a:p>
            <a:pPr lvl="1"/>
            <a:r>
              <a:rPr lang="en-IN" dirty="0"/>
              <a:t>Convection (Lorenz System)</a:t>
            </a:r>
          </a:p>
          <a:p>
            <a:pPr lvl="1"/>
            <a:r>
              <a:rPr lang="en-IN" dirty="0"/>
              <a:t>Fluid Turbulence</a:t>
            </a:r>
          </a:p>
          <a:p>
            <a:pPr lvl="1"/>
            <a:r>
              <a:rPr lang="en-IN" dirty="0"/>
              <a:t>Nonlinear Vibrations in Structures</a:t>
            </a:r>
          </a:p>
          <a:p>
            <a:pPr lvl="1"/>
            <a:r>
              <a:rPr lang="en-IN" dirty="0"/>
              <a:t>Celestial Mechanics etc.,</a:t>
            </a:r>
          </a:p>
        </p:txBody>
      </p:sp>
      <p:pic>
        <p:nvPicPr>
          <p:cNvPr id="10" name="Audio 9">
            <a:hlinkClick r:id="" action="ppaction://media"/>
            <a:extLst>
              <a:ext uri="{FF2B5EF4-FFF2-40B4-BE49-F238E27FC236}">
                <a16:creationId xmlns:a16="http://schemas.microsoft.com/office/drawing/2014/main" id="{B3D3A5D3-EEA3-4413-C9F3-6000824DA2F3}"/>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966870342"/>
      </p:ext>
    </p:extLst>
  </p:cSld>
  <p:clrMapOvr>
    <a:masterClrMapping/>
  </p:clrMapOvr>
  <mc:AlternateContent xmlns:mc="http://schemas.openxmlformats.org/markup-compatibility/2006">
    <mc:Choice xmlns:p14="http://schemas.microsoft.com/office/powerpoint/2010/main" Requires="p14">
      <p:transition spd="slow" p14:dur="2000" advTm="22476"/>
    </mc:Choice>
    <mc:Fallback>
      <p:transition spd="slow" advTm="224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2AC7-479B-6A14-C055-955A3467C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31BE6-2995-00A4-C85D-6815FBA40419}"/>
              </a:ext>
            </a:extLst>
          </p:cNvPr>
          <p:cNvSpPr>
            <a:spLocks noGrp="1"/>
          </p:cNvSpPr>
          <p:nvPr>
            <p:ph type="title"/>
          </p:nvPr>
        </p:nvSpPr>
        <p:spPr>
          <a:xfrm>
            <a:off x="0" y="247139"/>
            <a:ext cx="12192000" cy="667262"/>
          </a:xfrm>
          <a:solidFill>
            <a:schemeClr val="accent1">
              <a:lumMod val="20000"/>
              <a:lumOff val="80000"/>
            </a:schemeClr>
          </a:solidFill>
        </p:spPr>
        <p:txBody>
          <a:bodyPr>
            <a:normAutofit fontScale="90000"/>
          </a:bodyPr>
          <a:lstStyle/>
          <a:p>
            <a:r>
              <a:rPr lang="en-US" dirty="0"/>
              <a:t> Concepts related to Chaotic Dynamical System</a:t>
            </a:r>
            <a:endParaRPr lang="en-IN" dirty="0"/>
          </a:p>
        </p:txBody>
      </p:sp>
      <p:graphicFrame>
        <p:nvGraphicFramePr>
          <p:cNvPr id="8" name="Table 7">
            <a:extLst>
              <a:ext uri="{FF2B5EF4-FFF2-40B4-BE49-F238E27FC236}">
                <a16:creationId xmlns:a16="http://schemas.microsoft.com/office/drawing/2014/main" id="{F01A27F9-ABE6-1231-1DE4-5525D57A3DDF}"/>
              </a:ext>
            </a:extLst>
          </p:cNvPr>
          <p:cNvGraphicFramePr>
            <a:graphicFrameLocks noGrp="1"/>
          </p:cNvGraphicFramePr>
          <p:nvPr>
            <p:extLst>
              <p:ext uri="{D42A27DB-BD31-4B8C-83A1-F6EECF244321}">
                <p14:modId xmlns:p14="http://schemas.microsoft.com/office/powerpoint/2010/main" val="3376801785"/>
              </p:ext>
            </p:extLst>
          </p:nvPr>
        </p:nvGraphicFramePr>
        <p:xfrm>
          <a:off x="360680" y="1178560"/>
          <a:ext cx="11470640" cy="4500880"/>
        </p:xfrm>
        <a:graphic>
          <a:graphicData uri="http://schemas.openxmlformats.org/drawingml/2006/table">
            <a:tbl>
              <a:tblPr bandRow="1">
                <a:tableStyleId>{93296810-A885-4BE3-A3E7-6D5BEEA58F35}</a:tableStyleId>
              </a:tblPr>
              <a:tblGrid>
                <a:gridCol w="2448560">
                  <a:extLst>
                    <a:ext uri="{9D8B030D-6E8A-4147-A177-3AD203B41FA5}">
                      <a16:colId xmlns:a16="http://schemas.microsoft.com/office/drawing/2014/main" val="3036394298"/>
                    </a:ext>
                  </a:extLst>
                </a:gridCol>
                <a:gridCol w="9022080">
                  <a:extLst>
                    <a:ext uri="{9D8B030D-6E8A-4147-A177-3AD203B41FA5}">
                      <a16:colId xmlns:a16="http://schemas.microsoft.com/office/drawing/2014/main" val="2493660543"/>
                    </a:ext>
                  </a:extLst>
                </a:gridCol>
              </a:tblGrid>
              <a:tr h="370840">
                <a:tc>
                  <a:txBody>
                    <a:bodyPr/>
                    <a:lstStyle/>
                    <a:p>
                      <a:pPr marL="0" algn="ctr" defTabSz="914400" rtl="0" eaLnBrk="1" latinLnBrk="0" hangingPunct="1"/>
                      <a:r>
                        <a:rPr lang="en-IN" sz="1800" b="1" kern="1200" dirty="0">
                          <a:solidFill>
                            <a:schemeClr val="dk1"/>
                          </a:solidFill>
                          <a:latin typeface="+mn-lt"/>
                          <a:ea typeface="+mn-ea"/>
                          <a:cs typeface="+mn-cs"/>
                        </a:rPr>
                        <a:t>Determinism </a:t>
                      </a:r>
                      <a:br>
                        <a:rPr lang="en-IN" sz="1800" b="1" kern="1200" dirty="0">
                          <a:solidFill>
                            <a:schemeClr val="dk1"/>
                          </a:solidFill>
                          <a:latin typeface="+mn-lt"/>
                          <a:ea typeface="+mn-ea"/>
                          <a:cs typeface="+mn-cs"/>
                        </a:rPr>
                      </a:br>
                      <a:r>
                        <a:rPr lang="en-IN" sz="1800" b="1" kern="1200" dirty="0">
                          <a:solidFill>
                            <a:schemeClr val="dk1"/>
                          </a:solidFill>
                          <a:latin typeface="+mn-lt"/>
                          <a:ea typeface="+mn-ea"/>
                          <a:cs typeface="+mn-cs"/>
                        </a:rPr>
                        <a:t>(Non-Randomness): </a:t>
                      </a:r>
                    </a:p>
                  </a:txBody>
                  <a:tcPr anchor="ctr"/>
                </a:tc>
                <a:tc>
                  <a:txBody>
                    <a:bodyPr/>
                    <a:lstStyle/>
                    <a:p>
                      <a:pPr marL="285750" indent="-285750">
                        <a:buFont typeface="Arial" panose="020B0604020202020204" pitchFamily="34" charset="0"/>
                        <a:buChar char="•"/>
                      </a:pPr>
                      <a:r>
                        <a:rPr lang="en-US" sz="1800" dirty="0"/>
                        <a:t>A chaotic system is </a:t>
                      </a:r>
                      <a:r>
                        <a:rPr lang="en-US" sz="1800" b="1" dirty="0"/>
                        <a:t>not</a:t>
                      </a:r>
                      <a:r>
                        <a:rPr lang="en-US" sz="1800" dirty="0"/>
                        <a:t> random. </a:t>
                      </a:r>
                    </a:p>
                    <a:p>
                      <a:pPr marL="285750" indent="-285750">
                        <a:buFont typeface="Arial" panose="020B0604020202020204" pitchFamily="34" charset="0"/>
                        <a:buChar char="•"/>
                      </a:pPr>
                      <a:r>
                        <a:rPr lang="en-US" sz="1800" dirty="0"/>
                        <a:t>It is governed by strict physical laws. If we start with exactly the same initial conditions, you would get the same result.</a:t>
                      </a:r>
                    </a:p>
                    <a:p>
                      <a:pPr marL="285750" indent="-285750">
                        <a:buFont typeface="Arial" panose="020B0604020202020204" pitchFamily="34" charset="0"/>
                        <a:buChar char="•"/>
                      </a:pPr>
                      <a:r>
                        <a:rPr lang="en-US" sz="1800" dirty="0"/>
                        <a:t>However, it is impossible to obtain the </a:t>
                      </a:r>
                      <a:r>
                        <a:rPr lang="en-US" dirty="0"/>
                        <a:t>real-world values with infinite precision. </a:t>
                      </a:r>
                      <a:endParaRPr lang="en-IN" dirty="0"/>
                    </a:p>
                  </a:txBody>
                  <a:tcPr/>
                </a:tc>
                <a:extLst>
                  <a:ext uri="{0D108BD9-81ED-4DB2-BD59-A6C34878D82A}">
                    <a16:rowId xmlns:a16="http://schemas.microsoft.com/office/drawing/2014/main" val="823163616"/>
                  </a:ext>
                </a:extLst>
              </a:tr>
              <a:tr h="370840">
                <a:tc>
                  <a:txBody>
                    <a:bodyPr/>
                    <a:lstStyle/>
                    <a:p>
                      <a:pPr marL="0" algn="ctr" defTabSz="914400" rtl="0" eaLnBrk="1" latinLnBrk="0" hangingPunct="1"/>
                      <a:endParaRPr lang="en-IN" sz="1800" b="1" kern="1200" dirty="0">
                        <a:solidFill>
                          <a:schemeClr val="dk1"/>
                        </a:solidFill>
                        <a:latin typeface="+mn-lt"/>
                        <a:ea typeface="+mn-ea"/>
                        <a:cs typeface="+mn-cs"/>
                      </a:endParaRPr>
                    </a:p>
                  </a:txBody>
                  <a:tcPr anchor="ctr">
                    <a:solidFill>
                      <a:schemeClr val="bg1"/>
                    </a:solidFill>
                  </a:tcPr>
                </a:tc>
                <a:tc>
                  <a:txBody>
                    <a:bodyPr/>
                    <a:lstStyle/>
                    <a:p>
                      <a:endParaRPr lang="en-IN" dirty="0"/>
                    </a:p>
                  </a:txBody>
                  <a:tcPr>
                    <a:solidFill>
                      <a:schemeClr val="bg1"/>
                    </a:solidFill>
                  </a:tcPr>
                </a:tc>
                <a:extLst>
                  <a:ext uri="{0D108BD9-81ED-4DB2-BD59-A6C34878D82A}">
                    <a16:rowId xmlns:a16="http://schemas.microsoft.com/office/drawing/2014/main" val="2091294858"/>
                  </a:ext>
                </a:extLst>
              </a:tr>
              <a:tr h="370840">
                <a:tc>
                  <a:txBody>
                    <a:bodyPr/>
                    <a:lstStyle/>
                    <a:p>
                      <a:pPr marL="0" algn="ctr" defTabSz="914400" rtl="0" eaLnBrk="1" latinLnBrk="0" hangingPunct="1"/>
                      <a:r>
                        <a:rPr lang="en-IN" sz="1800" b="1" kern="1200" dirty="0">
                          <a:solidFill>
                            <a:schemeClr val="dk1"/>
                          </a:solidFill>
                          <a:latin typeface="+mn-lt"/>
                          <a:ea typeface="+mn-ea"/>
                          <a:cs typeface="+mn-cs"/>
                        </a:rPr>
                        <a:t>Non-Linearity</a:t>
                      </a:r>
                    </a:p>
                  </a:txBody>
                  <a:tcPr anchor="ctr"/>
                </a:tc>
                <a:tc>
                  <a:txBody>
                    <a:bodyPr/>
                    <a:lstStyle/>
                    <a:p>
                      <a:r>
                        <a:rPr lang="en-US" dirty="0"/>
                        <a:t>Chaos cannot exist in linear systems. Non-linear terms must exist in governing equations.  </a:t>
                      </a:r>
                      <a:endParaRPr lang="en-IN" dirty="0"/>
                    </a:p>
                  </a:txBody>
                  <a:tcPr/>
                </a:tc>
                <a:extLst>
                  <a:ext uri="{0D108BD9-81ED-4DB2-BD59-A6C34878D82A}">
                    <a16:rowId xmlns:a16="http://schemas.microsoft.com/office/drawing/2014/main" val="4031130276"/>
                  </a:ext>
                </a:extLst>
              </a:tr>
              <a:tr h="370840">
                <a:tc>
                  <a:txBody>
                    <a:bodyPr/>
                    <a:lstStyle/>
                    <a:p>
                      <a:pPr marL="0" algn="ctr" defTabSz="914400" rtl="0" eaLnBrk="1" latinLnBrk="0" hangingPunct="1"/>
                      <a:endParaRPr lang="en-IN" sz="1800" kern="1200" dirty="0">
                        <a:solidFill>
                          <a:schemeClr val="dk1"/>
                        </a:solidFill>
                        <a:latin typeface="+mn-lt"/>
                        <a:ea typeface="+mn-ea"/>
                        <a:cs typeface="+mn-cs"/>
                      </a:endParaRPr>
                    </a:p>
                  </a:txBody>
                  <a:tcPr anchor="ctr">
                    <a:noFill/>
                  </a:tcPr>
                </a:tc>
                <a:tc>
                  <a:txBody>
                    <a:bodyPr/>
                    <a:lstStyle/>
                    <a:p>
                      <a:endParaRPr lang="en-IN" sz="1800" kern="1200" dirty="0">
                        <a:solidFill>
                          <a:schemeClr val="dk1"/>
                        </a:solidFill>
                        <a:latin typeface="+mn-lt"/>
                        <a:ea typeface="+mn-ea"/>
                        <a:cs typeface="+mn-cs"/>
                      </a:endParaRPr>
                    </a:p>
                  </a:txBody>
                  <a:tcPr>
                    <a:noFill/>
                  </a:tcPr>
                </a:tc>
                <a:extLst>
                  <a:ext uri="{0D108BD9-81ED-4DB2-BD59-A6C34878D82A}">
                    <a16:rowId xmlns:a16="http://schemas.microsoft.com/office/drawing/2014/main" val="2137299957"/>
                  </a:ext>
                </a:extLst>
              </a:tr>
              <a:tr h="417271">
                <a:tc>
                  <a:txBody>
                    <a:bodyPr/>
                    <a:lstStyle/>
                    <a:p>
                      <a:pPr marL="0" algn="ctr" defTabSz="914400" rtl="0" eaLnBrk="1" latinLnBrk="0" hangingPunct="1"/>
                      <a:r>
                        <a:rPr lang="en-US" sz="1800" b="1" kern="1200" dirty="0">
                          <a:solidFill>
                            <a:schemeClr val="dk1"/>
                          </a:solidFill>
                          <a:latin typeface="+mn-lt"/>
                          <a:ea typeface="+mn-ea"/>
                          <a:cs typeface="+mn-cs"/>
                        </a:rPr>
                        <a:t>Phase Space</a:t>
                      </a:r>
                      <a:endParaRPr lang="en-IN" sz="1800" b="1" kern="1200" dirty="0">
                        <a:solidFill>
                          <a:schemeClr val="dk1"/>
                        </a:solidFill>
                        <a:latin typeface="+mn-lt"/>
                        <a:ea typeface="+mn-ea"/>
                        <a:cs typeface="+mn-cs"/>
                      </a:endParaRPr>
                    </a:p>
                  </a:txBody>
                  <a:tcPr anchor="ctr"/>
                </a:tc>
                <a:tc>
                  <a:txBody>
                    <a:bodyPr/>
                    <a:lstStyle/>
                    <a:p>
                      <a:r>
                        <a:rPr lang="en-US" b="0" dirty="0"/>
                        <a:t>Phase space is a mathematical space where all possible states of a dynamical system are represented. </a:t>
                      </a:r>
                      <a:endParaRPr lang="en-IN" b="0" dirty="0"/>
                    </a:p>
                  </a:txBody>
                  <a:tcPr/>
                </a:tc>
                <a:extLst>
                  <a:ext uri="{0D108BD9-81ED-4DB2-BD59-A6C34878D82A}">
                    <a16:rowId xmlns:a16="http://schemas.microsoft.com/office/drawing/2014/main" val="1827491785"/>
                  </a:ext>
                </a:extLst>
              </a:tr>
              <a:tr h="370840">
                <a:tc>
                  <a:txBody>
                    <a:bodyPr/>
                    <a:lstStyle/>
                    <a:p>
                      <a:pPr marL="0" algn="ctr" defTabSz="914400" rtl="0" eaLnBrk="1" latinLnBrk="0" hangingPunct="1"/>
                      <a:endParaRPr lang="en-IN" sz="1800" b="1" kern="1200" dirty="0">
                        <a:solidFill>
                          <a:schemeClr val="dk1"/>
                        </a:solidFill>
                        <a:latin typeface="+mn-lt"/>
                        <a:ea typeface="+mn-ea"/>
                        <a:cs typeface="+mn-cs"/>
                      </a:endParaRPr>
                    </a:p>
                  </a:txBody>
                  <a:tcPr anchor="ctr">
                    <a:noFill/>
                  </a:tcPr>
                </a:tc>
                <a:tc>
                  <a:txBody>
                    <a:bodyPr/>
                    <a:lstStyle/>
                    <a:p>
                      <a:endParaRPr lang="en-IN" dirty="0"/>
                    </a:p>
                  </a:txBody>
                  <a:tcPr>
                    <a:noFill/>
                  </a:tcPr>
                </a:tc>
                <a:extLst>
                  <a:ext uri="{0D108BD9-81ED-4DB2-BD59-A6C34878D82A}">
                    <a16:rowId xmlns:a16="http://schemas.microsoft.com/office/drawing/2014/main" val="4219433604"/>
                  </a:ext>
                </a:extLst>
              </a:tr>
              <a:tr h="370840">
                <a:tc>
                  <a:txBody>
                    <a:bodyPr/>
                    <a:lstStyle/>
                    <a:p>
                      <a:pPr marL="0" algn="ctr" defTabSz="914400" rtl="0" eaLnBrk="1" latinLnBrk="0" hangingPunct="1"/>
                      <a:r>
                        <a:rPr lang="en-US" sz="1800" b="1" kern="1200" dirty="0">
                          <a:solidFill>
                            <a:schemeClr val="dk1"/>
                          </a:solidFill>
                          <a:latin typeface="+mn-lt"/>
                          <a:ea typeface="+mn-ea"/>
                          <a:cs typeface="+mn-cs"/>
                        </a:rPr>
                        <a:t>Attractor</a:t>
                      </a:r>
                      <a:endParaRPr lang="en-IN" sz="1800" b="1" kern="1200" dirty="0">
                        <a:solidFill>
                          <a:schemeClr val="dk1"/>
                        </a:solidFill>
                        <a:latin typeface="+mn-lt"/>
                        <a:ea typeface="+mn-ea"/>
                        <a:cs typeface="+mn-cs"/>
                      </a:endParaRPr>
                    </a:p>
                  </a:txBody>
                  <a:tcPr anchor="ctr"/>
                </a:tc>
                <a:tc>
                  <a:txBody>
                    <a:bodyPr/>
                    <a:lstStyle/>
                    <a:p>
                      <a:pPr marL="285750" indent="-285750">
                        <a:buFont typeface="Arial" panose="020B0604020202020204" pitchFamily="34" charset="0"/>
                        <a:buChar char="•"/>
                      </a:pPr>
                      <a:r>
                        <a:rPr lang="en-US" b="0" dirty="0"/>
                        <a:t>An attractor is a set of states in phase space toward which a dynamical system evolves over time. </a:t>
                      </a:r>
                    </a:p>
                    <a:p>
                      <a:pPr marL="285750" indent="-285750">
                        <a:buFont typeface="Arial" panose="020B0604020202020204" pitchFamily="34" charset="0"/>
                        <a:buChar char="•"/>
                      </a:pPr>
                      <a:r>
                        <a:rPr lang="en-US" dirty="0"/>
                        <a:t>It often settles into a specific "shape" in phase space.</a:t>
                      </a:r>
                    </a:p>
                    <a:p>
                      <a:pPr marL="285750" indent="-285750">
                        <a:buFont typeface="Arial" panose="020B0604020202020204" pitchFamily="34" charset="0"/>
                        <a:buChar char="•"/>
                      </a:pPr>
                      <a:r>
                        <a:rPr lang="en-US" b="0" dirty="0"/>
                        <a:t>In chaotic systems, </a:t>
                      </a:r>
                      <a:r>
                        <a:rPr lang="en-IN" b="0" dirty="0"/>
                        <a:t>attractors are strange attractors.</a:t>
                      </a:r>
                    </a:p>
                  </a:txBody>
                  <a:tcPr/>
                </a:tc>
                <a:extLst>
                  <a:ext uri="{0D108BD9-81ED-4DB2-BD59-A6C34878D82A}">
                    <a16:rowId xmlns:a16="http://schemas.microsoft.com/office/drawing/2014/main" val="3987846435"/>
                  </a:ext>
                </a:extLst>
              </a:tr>
            </a:tbl>
          </a:graphicData>
        </a:graphic>
      </p:graphicFrame>
      <p:pic>
        <p:nvPicPr>
          <p:cNvPr id="11" name="Audio 10">
            <a:hlinkClick r:id="" action="ppaction://media"/>
            <a:extLst>
              <a:ext uri="{FF2B5EF4-FFF2-40B4-BE49-F238E27FC236}">
                <a16:creationId xmlns:a16="http://schemas.microsoft.com/office/drawing/2014/main" id="{6BC3DB1E-5D16-B2B6-E166-83519587144D}"/>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946645702"/>
      </p:ext>
    </p:extLst>
  </p:cSld>
  <p:clrMapOvr>
    <a:masterClrMapping/>
  </p:clrMapOvr>
  <mc:AlternateContent xmlns:mc="http://schemas.openxmlformats.org/markup-compatibility/2006">
    <mc:Choice xmlns:p14="http://schemas.microsoft.com/office/powerpoint/2010/main" Requires="p14">
      <p:transition spd="slow" p14:dur="2000" advTm="36008"/>
    </mc:Choice>
    <mc:Fallback>
      <p:transition spd="slow" advTm="360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CF7B499-0801-E18D-396D-EF6CA871686D}"/>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15592" y="1382751"/>
            <a:ext cx="3359995" cy="3359995"/>
          </a:xfrm>
          <a:prstGeom prst="rect">
            <a:avLst/>
          </a:prstGeom>
        </p:spPr>
      </p:pic>
      <p:sp>
        <p:nvSpPr>
          <p:cNvPr id="4" name="Title 1">
            <a:extLst>
              <a:ext uri="{FF2B5EF4-FFF2-40B4-BE49-F238E27FC236}">
                <a16:creationId xmlns:a16="http://schemas.microsoft.com/office/drawing/2014/main" id="{D8C3D54F-E8E3-7205-16E0-FA964580DDBD}"/>
              </a:ext>
            </a:extLst>
          </p:cNvPr>
          <p:cNvSpPr txBox="1">
            <a:spLocks/>
          </p:cNvSpPr>
          <p:nvPr/>
        </p:nvSpPr>
        <p:spPr>
          <a:xfrm>
            <a:off x="0" y="247139"/>
            <a:ext cx="12192000" cy="667262"/>
          </a:xfrm>
          <a:prstGeom prst="rect">
            <a:avLst/>
          </a:prstGeom>
          <a:solidFill>
            <a:schemeClr val="accent1">
              <a:lumMod val="20000"/>
              <a:lumOff val="80000"/>
            </a:schemeClr>
          </a:solidFill>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Example of a Strange Attractor</a:t>
            </a:r>
            <a:endParaRPr lang="en-IN" dirty="0"/>
          </a:p>
        </p:txBody>
      </p:sp>
      <p:sp>
        <p:nvSpPr>
          <p:cNvPr id="11" name="TextBox 10">
            <a:extLst>
              <a:ext uri="{FF2B5EF4-FFF2-40B4-BE49-F238E27FC236}">
                <a16:creationId xmlns:a16="http://schemas.microsoft.com/office/drawing/2014/main" id="{C6AC7F7C-9F94-8B6A-4C84-B9D96307F81D}"/>
              </a:ext>
            </a:extLst>
          </p:cNvPr>
          <p:cNvSpPr txBox="1"/>
          <p:nvPr/>
        </p:nvSpPr>
        <p:spPr>
          <a:xfrm>
            <a:off x="943897" y="5026430"/>
            <a:ext cx="4375355" cy="369332"/>
          </a:xfrm>
          <a:prstGeom prst="rect">
            <a:avLst/>
          </a:prstGeom>
          <a:noFill/>
        </p:spPr>
        <p:txBody>
          <a:bodyPr wrap="square" rtlCol="0">
            <a:spAutoFit/>
          </a:bodyPr>
          <a:lstStyle/>
          <a:p>
            <a:r>
              <a:rPr lang="en-IN" dirty="0"/>
              <a:t> </a:t>
            </a:r>
            <a:r>
              <a:rPr lang="en-IN" b="1" dirty="0"/>
              <a:t>Lorenz attractor</a:t>
            </a:r>
            <a:endParaRPr lang="en-IN" dirty="0"/>
          </a:p>
        </p:txBody>
      </p:sp>
      <p:sp>
        <p:nvSpPr>
          <p:cNvPr id="12" name="TextBox 11">
            <a:extLst>
              <a:ext uri="{FF2B5EF4-FFF2-40B4-BE49-F238E27FC236}">
                <a16:creationId xmlns:a16="http://schemas.microsoft.com/office/drawing/2014/main" id="{9FB66B5A-4551-0782-5A77-EF3171FA2D59}"/>
              </a:ext>
            </a:extLst>
          </p:cNvPr>
          <p:cNvSpPr txBox="1"/>
          <p:nvPr/>
        </p:nvSpPr>
        <p:spPr>
          <a:xfrm>
            <a:off x="4689988" y="1462238"/>
            <a:ext cx="7285703" cy="3754874"/>
          </a:xfrm>
          <a:prstGeom prst="rect">
            <a:avLst/>
          </a:prstGeom>
          <a:noFill/>
        </p:spPr>
        <p:txBody>
          <a:bodyPr wrap="square" rtlCol="0">
            <a:spAutoFit/>
          </a:bodyPr>
          <a:lstStyle/>
          <a:p>
            <a:r>
              <a:rPr lang="en-US" sz="2000" dirty="0"/>
              <a:t>Edward Lorenz developed the system as a simplified mathematical model for atmospheric convection.</a:t>
            </a:r>
          </a:p>
          <a:p>
            <a:endParaRPr lang="en-US" sz="2000" dirty="0"/>
          </a:p>
          <a:p>
            <a:r>
              <a:rPr lang="en-US" sz="2000" dirty="0"/>
              <a:t>The model describes how three key properties of this system change over time:</a:t>
            </a:r>
          </a:p>
          <a:p>
            <a:pPr marL="285750" indent="-285750">
              <a:buFont typeface="Arial" panose="020B0604020202020204" pitchFamily="34" charset="0"/>
              <a:buChar char="•"/>
            </a:pPr>
            <a:r>
              <a:rPr lang="en-US" sz="2000" i="1" dirty="0"/>
              <a:t>x</a:t>
            </a:r>
            <a:r>
              <a:rPr lang="en-US" sz="2000" dirty="0"/>
              <a:t> is proportional to the intensity of the convection (the rate of fluid flow).</a:t>
            </a:r>
          </a:p>
          <a:p>
            <a:pPr marL="285750" indent="-285750">
              <a:buFont typeface="Arial" panose="020B0604020202020204" pitchFamily="34" charset="0"/>
              <a:buChar char="•"/>
            </a:pPr>
            <a:r>
              <a:rPr lang="en-US" sz="2000" i="1" dirty="0"/>
              <a:t>y</a:t>
            </a:r>
            <a:r>
              <a:rPr lang="en-US" sz="2000" dirty="0"/>
              <a:t> is proportional to the temperature difference between the rising and falling air currents.</a:t>
            </a:r>
          </a:p>
          <a:p>
            <a:pPr marL="285750" indent="-285750">
              <a:buFont typeface="Arial" panose="020B0604020202020204" pitchFamily="34" charset="0"/>
              <a:buChar char="•"/>
            </a:pPr>
            <a:r>
              <a:rPr lang="en-US" sz="2000" i="1" dirty="0"/>
              <a:t>z</a:t>
            </a:r>
            <a:r>
              <a:rPr lang="en-US" sz="2000" dirty="0"/>
              <a:t> is proportional to the distortion of the vertical temperature profile from a linear one.</a:t>
            </a:r>
          </a:p>
          <a:p>
            <a:endParaRPr lang="en-IN" dirty="0"/>
          </a:p>
        </p:txBody>
      </p:sp>
      <p:pic>
        <p:nvPicPr>
          <p:cNvPr id="3" name="Audio 2">
            <a:hlinkClick r:id="" action="ppaction://media"/>
            <a:extLst>
              <a:ext uri="{FF2B5EF4-FFF2-40B4-BE49-F238E27FC236}">
                <a16:creationId xmlns:a16="http://schemas.microsoft.com/office/drawing/2014/main" id="{5DF826F8-7B5D-9D7F-7CB8-013C573A5D9C}"/>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584354742"/>
      </p:ext>
    </p:extLst>
  </p:cSld>
  <p:clrMapOvr>
    <a:masterClrMapping/>
  </p:clrMapOvr>
  <mc:AlternateContent xmlns:mc="http://schemas.openxmlformats.org/markup-compatibility/2006">
    <mc:Choice xmlns:p14="http://schemas.microsoft.com/office/powerpoint/2010/main" Requires="p14">
      <p:transition spd="slow" p14:dur="2000" advTm="13562"/>
    </mc:Choice>
    <mc:Fallback>
      <p:transition spd="slow" advTm="135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28F7F-022A-8753-1295-62E912587C9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6BB9CD6-DA9C-76CA-A862-DD5EA1187045}"/>
              </a:ext>
            </a:extLst>
          </p:cNvPr>
          <p:cNvSpPr txBox="1">
            <a:spLocks/>
          </p:cNvSpPr>
          <p:nvPr/>
        </p:nvSpPr>
        <p:spPr>
          <a:xfrm>
            <a:off x="0" y="223599"/>
            <a:ext cx="12192000" cy="855408"/>
          </a:xfrm>
          <a:prstGeom prst="rect">
            <a:avLst/>
          </a:prstGeom>
          <a:solidFill>
            <a:schemeClr val="accent1">
              <a:lumMod val="20000"/>
              <a:lumOff val="8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Generative Forecasting with </a:t>
            </a:r>
            <a:r>
              <a:rPr lang="en-US" b="1" dirty="0">
                <a:solidFill>
                  <a:schemeClr val="tx2">
                    <a:lumMod val="90000"/>
                    <a:lumOff val="10000"/>
                  </a:schemeClr>
                </a:solidFill>
              </a:rPr>
              <a:t>Conditional</a:t>
            </a:r>
            <a:r>
              <a:rPr lang="en-US" dirty="0"/>
              <a:t> Probability</a:t>
            </a:r>
          </a:p>
        </p:txBody>
      </p:sp>
      <p:sp>
        <p:nvSpPr>
          <p:cNvPr id="6" name="Content Placeholder 2">
            <a:extLst>
              <a:ext uri="{FF2B5EF4-FFF2-40B4-BE49-F238E27FC236}">
                <a16:creationId xmlns:a16="http://schemas.microsoft.com/office/drawing/2014/main" id="{6A8D91A8-BC34-B9A8-45FE-3681EA74003B}"/>
              </a:ext>
            </a:extLst>
          </p:cNvPr>
          <p:cNvSpPr>
            <a:spLocks noGrp="1"/>
          </p:cNvSpPr>
          <p:nvPr>
            <p:ph idx="1"/>
          </p:nvPr>
        </p:nvSpPr>
        <p:spPr>
          <a:xfrm>
            <a:off x="206477" y="1258529"/>
            <a:ext cx="11828208" cy="5363498"/>
          </a:xfrm>
        </p:spPr>
        <p:txBody>
          <a:bodyPr>
            <a:normAutofit/>
          </a:bodyPr>
          <a:lstStyle/>
          <a:p>
            <a:r>
              <a:rPr lang="en-US" sz="2000" dirty="0"/>
              <a:t>Forecasting using patterns in a </a:t>
            </a:r>
            <a:r>
              <a:rPr lang="en-US" sz="2000" b="1" dirty="0"/>
              <a:t>timed sequence of data </a:t>
            </a:r>
            <a:r>
              <a:rPr lang="en-US" sz="2000" dirty="0"/>
              <a:t>(past) to estimate the probability of </a:t>
            </a:r>
            <a:r>
              <a:rPr lang="en-US" sz="2000" b="1" dirty="0"/>
              <a:t>future events</a:t>
            </a:r>
            <a:r>
              <a:rPr lang="en-US" sz="2000" dirty="0"/>
              <a:t>. is</a:t>
            </a:r>
          </a:p>
          <a:p>
            <a:r>
              <a:rPr lang="en-US" sz="2000" dirty="0"/>
              <a:t>Predicts the next state by looking only at the sequence of past observations.</a:t>
            </a:r>
            <a:endParaRPr lang="en-IN" sz="2000" dirty="0"/>
          </a:p>
        </p:txBody>
      </p:sp>
      <p:pic>
        <p:nvPicPr>
          <p:cNvPr id="3" name="Picture 2">
            <a:extLst>
              <a:ext uri="{FF2B5EF4-FFF2-40B4-BE49-F238E27FC236}">
                <a16:creationId xmlns:a16="http://schemas.microsoft.com/office/drawing/2014/main" id="{05A48E28-E89E-FD96-0DC8-520AEC0D7BC5}"/>
              </a:ext>
            </a:extLst>
          </p:cNvPr>
          <p:cNvPicPr>
            <a:picLocks noChangeAspect="1"/>
          </p:cNvPicPr>
          <p:nvPr/>
        </p:nvPicPr>
        <p:blipFill>
          <a:blip r:embed="rId5"/>
          <a:stretch>
            <a:fillRect/>
          </a:stretch>
        </p:blipFill>
        <p:spPr>
          <a:xfrm>
            <a:off x="2000465" y="2578383"/>
            <a:ext cx="7935432" cy="609685"/>
          </a:xfrm>
          <a:prstGeom prst="rect">
            <a:avLst/>
          </a:prstGeom>
          <a:ln>
            <a:noFill/>
          </a:ln>
        </p:spPr>
      </p:pic>
      <p:sp>
        <p:nvSpPr>
          <p:cNvPr id="5" name="Right Brace 4">
            <a:extLst>
              <a:ext uri="{FF2B5EF4-FFF2-40B4-BE49-F238E27FC236}">
                <a16:creationId xmlns:a16="http://schemas.microsoft.com/office/drawing/2014/main" id="{852AB99F-C49A-A301-FAF2-D7920FEEF1C1}"/>
              </a:ext>
            </a:extLst>
          </p:cNvPr>
          <p:cNvSpPr/>
          <p:nvPr/>
        </p:nvSpPr>
        <p:spPr>
          <a:xfrm rot="5400000">
            <a:off x="7633541" y="1006597"/>
            <a:ext cx="159734" cy="402139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7" name="TextBox 6">
            <a:extLst>
              <a:ext uri="{FF2B5EF4-FFF2-40B4-BE49-F238E27FC236}">
                <a16:creationId xmlns:a16="http://schemas.microsoft.com/office/drawing/2014/main" id="{5CD9591C-AAA7-462E-88B4-1EFE75A2FDAE}"/>
              </a:ext>
            </a:extLst>
          </p:cNvPr>
          <p:cNvSpPr txBox="1"/>
          <p:nvPr/>
        </p:nvSpPr>
        <p:spPr>
          <a:xfrm>
            <a:off x="6096000" y="3048856"/>
            <a:ext cx="3205316" cy="369332"/>
          </a:xfrm>
          <a:prstGeom prst="rect">
            <a:avLst/>
          </a:prstGeom>
          <a:noFill/>
        </p:spPr>
        <p:txBody>
          <a:bodyPr wrap="square" rtlCol="0">
            <a:spAutoFit/>
          </a:bodyPr>
          <a:lstStyle/>
          <a:p>
            <a:r>
              <a:rPr lang="en-US" dirty="0"/>
              <a:t>Timed Sequence of Data</a:t>
            </a:r>
            <a:endParaRPr lang="en-IN" dirty="0"/>
          </a:p>
        </p:txBody>
      </p:sp>
      <p:sp>
        <p:nvSpPr>
          <p:cNvPr id="8" name="Right Brace 7">
            <a:extLst>
              <a:ext uri="{FF2B5EF4-FFF2-40B4-BE49-F238E27FC236}">
                <a16:creationId xmlns:a16="http://schemas.microsoft.com/office/drawing/2014/main" id="{6B833C27-65C7-160B-E368-D00BAF662D82}"/>
              </a:ext>
            </a:extLst>
          </p:cNvPr>
          <p:cNvSpPr/>
          <p:nvPr/>
        </p:nvSpPr>
        <p:spPr>
          <a:xfrm rot="5400000">
            <a:off x="2441615" y="2499950"/>
            <a:ext cx="209877" cy="120936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9" name="TextBox 8">
            <a:extLst>
              <a:ext uri="{FF2B5EF4-FFF2-40B4-BE49-F238E27FC236}">
                <a16:creationId xmlns:a16="http://schemas.microsoft.com/office/drawing/2014/main" id="{73FC8878-E89C-DB6E-BFD0-534A72A20725}"/>
              </a:ext>
            </a:extLst>
          </p:cNvPr>
          <p:cNvSpPr txBox="1"/>
          <p:nvPr/>
        </p:nvSpPr>
        <p:spPr>
          <a:xfrm>
            <a:off x="206477" y="3119013"/>
            <a:ext cx="4944250" cy="923330"/>
          </a:xfrm>
          <a:prstGeom prst="rect">
            <a:avLst/>
          </a:prstGeom>
          <a:noFill/>
        </p:spPr>
        <p:txBody>
          <a:bodyPr wrap="square" rtlCol="0">
            <a:spAutoFit/>
          </a:bodyPr>
          <a:lstStyle/>
          <a:p>
            <a:pPr algn="ctr"/>
            <a:r>
              <a:rPr lang="en-US" dirty="0"/>
              <a:t>The model approximates the Conditional PDF, using historical observations as constraints to sample the next state.</a:t>
            </a:r>
            <a:endParaRPr lang="en-IN" dirty="0"/>
          </a:p>
        </p:txBody>
      </p:sp>
      <p:cxnSp>
        <p:nvCxnSpPr>
          <p:cNvPr id="11" name="Straight Connector 10">
            <a:extLst>
              <a:ext uri="{FF2B5EF4-FFF2-40B4-BE49-F238E27FC236}">
                <a16:creationId xmlns:a16="http://schemas.microsoft.com/office/drawing/2014/main" id="{163E4721-3582-C62E-95E8-1E3BC7383675}"/>
              </a:ext>
            </a:extLst>
          </p:cNvPr>
          <p:cNvCxnSpPr>
            <a:cxnSpLocks/>
          </p:cNvCxnSpPr>
          <p:nvPr/>
        </p:nvCxnSpPr>
        <p:spPr>
          <a:xfrm>
            <a:off x="0" y="4070553"/>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2834C3F-D257-CA41-1AE9-6530CF6805DA}"/>
              </a:ext>
            </a:extLst>
          </p:cNvPr>
          <p:cNvSpPr txBox="1"/>
          <p:nvPr/>
        </p:nvSpPr>
        <p:spPr>
          <a:xfrm>
            <a:off x="206478" y="4398166"/>
            <a:ext cx="1415846" cy="2031325"/>
          </a:xfrm>
          <a:prstGeom prst="rect">
            <a:avLst/>
          </a:prstGeom>
          <a:noFill/>
          <a:ln>
            <a:solidFill>
              <a:srgbClr val="FF0000"/>
            </a:solidFill>
          </a:ln>
        </p:spPr>
        <p:txBody>
          <a:bodyPr wrap="square" rtlCol="0">
            <a:spAutoFit/>
          </a:bodyPr>
          <a:lstStyle/>
          <a:p>
            <a:r>
              <a:rPr lang="en-US" dirty="0"/>
              <a:t>Monday</a:t>
            </a:r>
          </a:p>
          <a:p>
            <a:r>
              <a:rPr lang="en-US" dirty="0"/>
              <a:t>Tuesday</a:t>
            </a:r>
          </a:p>
          <a:p>
            <a:r>
              <a:rPr lang="en-US" dirty="0"/>
              <a:t>Wednesday</a:t>
            </a:r>
          </a:p>
          <a:p>
            <a:r>
              <a:rPr lang="en-US" dirty="0"/>
              <a:t>Thursday</a:t>
            </a:r>
          </a:p>
          <a:p>
            <a:r>
              <a:rPr lang="en-US" dirty="0"/>
              <a:t>Friday</a:t>
            </a:r>
          </a:p>
          <a:p>
            <a:r>
              <a:rPr lang="en-US" dirty="0"/>
              <a:t>Saturday</a:t>
            </a:r>
          </a:p>
          <a:p>
            <a:endParaRPr lang="en-IN" dirty="0"/>
          </a:p>
        </p:txBody>
      </p:sp>
      <p:sp>
        <p:nvSpPr>
          <p:cNvPr id="16" name="Rectangle 15">
            <a:extLst>
              <a:ext uri="{FF2B5EF4-FFF2-40B4-BE49-F238E27FC236}">
                <a16:creationId xmlns:a16="http://schemas.microsoft.com/office/drawing/2014/main" id="{0FFACD4E-6574-D823-FA7A-5A8AFFD4B016}"/>
              </a:ext>
            </a:extLst>
          </p:cNvPr>
          <p:cNvSpPr/>
          <p:nvPr/>
        </p:nvSpPr>
        <p:spPr>
          <a:xfrm>
            <a:off x="275303" y="4469532"/>
            <a:ext cx="1052052" cy="5333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A51367C2-B2B5-293C-FD6C-679CDD43CABB}"/>
              </a:ext>
            </a:extLst>
          </p:cNvPr>
          <p:cNvCxnSpPr>
            <a:cxnSpLocks/>
            <a:stCxn id="16" idx="3"/>
          </p:cNvCxnSpPr>
          <p:nvPr/>
        </p:nvCxnSpPr>
        <p:spPr>
          <a:xfrm>
            <a:off x="1327355" y="4736222"/>
            <a:ext cx="10927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4AB05E0A-9907-7F51-B1A6-5EA09BB37822}"/>
              </a:ext>
            </a:extLst>
          </p:cNvPr>
          <p:cNvPicPr>
            <a:picLocks noChangeAspect="1"/>
          </p:cNvPicPr>
          <p:nvPr/>
        </p:nvPicPr>
        <p:blipFill>
          <a:blip r:embed="rId6"/>
          <a:stretch>
            <a:fillRect/>
          </a:stretch>
        </p:blipFill>
        <p:spPr>
          <a:xfrm>
            <a:off x="1691149" y="4358556"/>
            <a:ext cx="652272" cy="339010"/>
          </a:xfrm>
          <a:prstGeom prst="rect">
            <a:avLst/>
          </a:prstGeom>
        </p:spPr>
      </p:pic>
      <p:sp>
        <p:nvSpPr>
          <p:cNvPr id="22" name="Rectangle 21">
            <a:extLst>
              <a:ext uri="{FF2B5EF4-FFF2-40B4-BE49-F238E27FC236}">
                <a16:creationId xmlns:a16="http://schemas.microsoft.com/office/drawing/2014/main" id="{8831DD01-C896-D210-4D9F-BE03584BD65A}"/>
              </a:ext>
            </a:extLst>
          </p:cNvPr>
          <p:cNvSpPr/>
          <p:nvPr/>
        </p:nvSpPr>
        <p:spPr>
          <a:xfrm>
            <a:off x="2420112" y="4528061"/>
            <a:ext cx="1164336" cy="3390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lumMod val="90000"/>
                    <a:lumOff val="10000"/>
                  </a:schemeClr>
                </a:solidFill>
              </a:rPr>
              <a:t>P(Wed)</a:t>
            </a:r>
            <a:endParaRPr lang="en-IN" dirty="0">
              <a:solidFill>
                <a:schemeClr val="tx2">
                  <a:lumMod val="90000"/>
                  <a:lumOff val="10000"/>
                </a:schemeClr>
              </a:solidFill>
            </a:endParaRPr>
          </a:p>
        </p:txBody>
      </p:sp>
      <p:cxnSp>
        <p:nvCxnSpPr>
          <p:cNvPr id="26" name="Straight Connector 25">
            <a:extLst>
              <a:ext uri="{FF2B5EF4-FFF2-40B4-BE49-F238E27FC236}">
                <a16:creationId xmlns:a16="http://schemas.microsoft.com/office/drawing/2014/main" id="{2E41B07C-2068-BC65-CE92-C91020A1E1B8}"/>
              </a:ext>
            </a:extLst>
          </p:cNvPr>
          <p:cNvCxnSpPr/>
          <p:nvPr/>
        </p:nvCxnSpPr>
        <p:spPr>
          <a:xfrm>
            <a:off x="1475232" y="5151120"/>
            <a:ext cx="154228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89C46894-AE1C-D687-FFD8-C6B5EEAB825B}"/>
              </a:ext>
            </a:extLst>
          </p:cNvPr>
          <p:cNvCxnSpPr>
            <a:cxnSpLocks/>
            <a:endCxn id="22" idx="2"/>
          </p:cNvCxnSpPr>
          <p:nvPr/>
        </p:nvCxnSpPr>
        <p:spPr>
          <a:xfrm flipV="1">
            <a:off x="3002280" y="4867072"/>
            <a:ext cx="0" cy="290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A18DB40C-DF3D-4D24-7B82-28DD0468B9DD}"/>
              </a:ext>
            </a:extLst>
          </p:cNvPr>
          <p:cNvCxnSpPr>
            <a:cxnSpLocks/>
          </p:cNvCxnSpPr>
          <p:nvPr/>
        </p:nvCxnSpPr>
        <p:spPr>
          <a:xfrm>
            <a:off x="3584448" y="4708220"/>
            <a:ext cx="5059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2D271E3F-C1AC-9ACA-3FCB-71F964B0DFE6}"/>
              </a:ext>
            </a:extLst>
          </p:cNvPr>
          <p:cNvSpPr txBox="1"/>
          <p:nvPr/>
        </p:nvSpPr>
        <p:spPr>
          <a:xfrm>
            <a:off x="4059543" y="4542712"/>
            <a:ext cx="1091184" cy="369332"/>
          </a:xfrm>
          <a:prstGeom prst="rect">
            <a:avLst/>
          </a:prstGeom>
          <a:noFill/>
          <a:ln>
            <a:solidFill>
              <a:srgbClr val="FF0000"/>
            </a:solidFill>
          </a:ln>
        </p:spPr>
        <p:txBody>
          <a:bodyPr wrap="square" rtlCol="0">
            <a:spAutoFit/>
          </a:bodyPr>
          <a:lstStyle/>
          <a:p>
            <a:r>
              <a:rPr lang="en-US" dirty="0">
                <a:solidFill>
                  <a:sysClr val="windowText" lastClr="000000"/>
                </a:solidFill>
              </a:rPr>
              <a:t>Min NLL</a:t>
            </a:r>
            <a:endParaRPr lang="en-IN" dirty="0">
              <a:solidFill>
                <a:sysClr val="windowText" lastClr="000000"/>
              </a:solidFill>
            </a:endParaRPr>
          </a:p>
        </p:txBody>
      </p:sp>
      <p:cxnSp>
        <p:nvCxnSpPr>
          <p:cNvPr id="35" name="Straight Connector 34">
            <a:extLst>
              <a:ext uri="{FF2B5EF4-FFF2-40B4-BE49-F238E27FC236}">
                <a16:creationId xmlns:a16="http://schemas.microsoft.com/office/drawing/2014/main" id="{250AAE9F-218D-63B6-B521-CD447DB5631D}"/>
              </a:ext>
            </a:extLst>
          </p:cNvPr>
          <p:cNvCxnSpPr>
            <a:stCxn id="33" idx="0"/>
          </p:cNvCxnSpPr>
          <p:nvPr/>
        </p:nvCxnSpPr>
        <p:spPr>
          <a:xfrm flipH="1" flipV="1">
            <a:off x="4602480" y="4358556"/>
            <a:ext cx="2655" cy="18415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D3203E8A-E506-76B7-A3CE-B4C0875F8452}"/>
              </a:ext>
            </a:extLst>
          </p:cNvPr>
          <p:cNvCxnSpPr/>
          <p:nvPr/>
        </p:nvCxnSpPr>
        <p:spPr>
          <a:xfrm flipH="1">
            <a:off x="2246376" y="4358556"/>
            <a:ext cx="235875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AE7C2FA1-4E3C-020C-5A08-AB85F7095880}"/>
              </a:ext>
            </a:extLst>
          </p:cNvPr>
          <p:cNvSpPr txBox="1"/>
          <p:nvPr/>
        </p:nvSpPr>
        <p:spPr>
          <a:xfrm>
            <a:off x="2575363" y="4042343"/>
            <a:ext cx="2330934" cy="338554"/>
          </a:xfrm>
          <a:prstGeom prst="rect">
            <a:avLst/>
          </a:prstGeom>
          <a:noFill/>
        </p:spPr>
        <p:txBody>
          <a:bodyPr wrap="square" rtlCol="0">
            <a:spAutoFit/>
          </a:bodyPr>
          <a:lstStyle/>
          <a:p>
            <a:r>
              <a:rPr lang="en-US" sz="1600" dirty="0"/>
              <a:t>Update Parameters </a:t>
            </a:r>
            <a:endParaRPr lang="en-IN" sz="1600" dirty="0"/>
          </a:p>
        </p:txBody>
      </p:sp>
      <p:sp>
        <p:nvSpPr>
          <p:cNvPr id="39" name="TextBox 38">
            <a:extLst>
              <a:ext uri="{FF2B5EF4-FFF2-40B4-BE49-F238E27FC236}">
                <a16:creationId xmlns:a16="http://schemas.microsoft.com/office/drawing/2014/main" id="{9A6C30AB-4265-A3B6-DE0C-19AAE0CAD669}"/>
              </a:ext>
            </a:extLst>
          </p:cNvPr>
          <p:cNvSpPr txBox="1"/>
          <p:nvPr/>
        </p:nvSpPr>
        <p:spPr>
          <a:xfrm>
            <a:off x="2761188" y="6379751"/>
            <a:ext cx="1322837" cy="369331"/>
          </a:xfrm>
          <a:prstGeom prst="rect">
            <a:avLst/>
          </a:prstGeom>
          <a:noFill/>
        </p:spPr>
        <p:txBody>
          <a:bodyPr wrap="square" rtlCol="0">
            <a:spAutoFit/>
          </a:bodyPr>
          <a:lstStyle/>
          <a:p>
            <a:r>
              <a:rPr lang="en-US" b="1" dirty="0">
                <a:solidFill>
                  <a:schemeClr val="tx2">
                    <a:lumMod val="75000"/>
                    <a:lumOff val="25000"/>
                  </a:schemeClr>
                </a:solidFill>
              </a:rPr>
              <a:t>Training</a:t>
            </a:r>
            <a:endParaRPr lang="en-IN" b="1" dirty="0">
              <a:solidFill>
                <a:schemeClr val="tx2">
                  <a:lumMod val="75000"/>
                  <a:lumOff val="25000"/>
                </a:schemeClr>
              </a:solidFill>
            </a:endParaRPr>
          </a:p>
        </p:txBody>
      </p:sp>
      <p:cxnSp>
        <p:nvCxnSpPr>
          <p:cNvPr id="41" name="Straight Connector 40">
            <a:extLst>
              <a:ext uri="{FF2B5EF4-FFF2-40B4-BE49-F238E27FC236}">
                <a16:creationId xmlns:a16="http://schemas.microsoft.com/office/drawing/2014/main" id="{D1F440FC-157B-B9F3-BE25-BC962F0F15F0}"/>
              </a:ext>
            </a:extLst>
          </p:cNvPr>
          <p:cNvCxnSpPr/>
          <p:nvPr/>
        </p:nvCxnSpPr>
        <p:spPr>
          <a:xfrm>
            <a:off x="6243484" y="4055643"/>
            <a:ext cx="0" cy="2802357"/>
          </a:xfrm>
          <a:prstGeom prst="line">
            <a:avLst/>
          </a:prstGeom>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7D9F3FAB-B6B8-28F5-C339-6588B96AF697}"/>
              </a:ext>
            </a:extLst>
          </p:cNvPr>
          <p:cNvSpPr txBox="1"/>
          <p:nvPr/>
        </p:nvSpPr>
        <p:spPr>
          <a:xfrm>
            <a:off x="6410828" y="4148289"/>
            <a:ext cx="1388809" cy="2031325"/>
          </a:xfrm>
          <a:prstGeom prst="rect">
            <a:avLst/>
          </a:prstGeom>
          <a:noFill/>
          <a:ln>
            <a:solidFill>
              <a:srgbClr val="FF0000"/>
            </a:solidFill>
          </a:ln>
        </p:spPr>
        <p:txBody>
          <a:bodyPr wrap="square" rtlCol="0">
            <a:spAutoFit/>
          </a:bodyPr>
          <a:lstStyle/>
          <a:p>
            <a:r>
              <a:rPr lang="en-US" dirty="0"/>
              <a:t>Monday</a:t>
            </a:r>
          </a:p>
          <a:p>
            <a:r>
              <a:rPr lang="en-US" dirty="0"/>
              <a:t>Tuesday</a:t>
            </a:r>
          </a:p>
          <a:p>
            <a:r>
              <a:rPr lang="en-US" dirty="0"/>
              <a:t>Wednesday</a:t>
            </a:r>
          </a:p>
          <a:p>
            <a:r>
              <a:rPr lang="en-US" dirty="0"/>
              <a:t>Thursday</a:t>
            </a:r>
          </a:p>
          <a:p>
            <a:r>
              <a:rPr lang="en-US" dirty="0"/>
              <a:t>Friday</a:t>
            </a:r>
          </a:p>
          <a:p>
            <a:r>
              <a:rPr lang="en-US" dirty="0"/>
              <a:t>Saturday</a:t>
            </a:r>
          </a:p>
          <a:p>
            <a:r>
              <a:rPr lang="en-IN" dirty="0">
                <a:solidFill>
                  <a:schemeClr val="accent6">
                    <a:lumMod val="50000"/>
                  </a:schemeClr>
                </a:solidFill>
              </a:rPr>
              <a:t>Sunday</a:t>
            </a:r>
          </a:p>
        </p:txBody>
      </p:sp>
      <p:sp>
        <p:nvSpPr>
          <p:cNvPr id="44" name="Rectangle 43">
            <a:extLst>
              <a:ext uri="{FF2B5EF4-FFF2-40B4-BE49-F238E27FC236}">
                <a16:creationId xmlns:a16="http://schemas.microsoft.com/office/drawing/2014/main" id="{EDA033A0-CD97-3C4C-FE43-FBCA2D6C19FF}"/>
              </a:ext>
            </a:extLst>
          </p:cNvPr>
          <p:cNvSpPr/>
          <p:nvPr/>
        </p:nvSpPr>
        <p:spPr>
          <a:xfrm>
            <a:off x="6427248" y="5327908"/>
            <a:ext cx="1052052" cy="51917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5" name="Straight Arrow Connector 44">
            <a:extLst>
              <a:ext uri="{FF2B5EF4-FFF2-40B4-BE49-F238E27FC236}">
                <a16:creationId xmlns:a16="http://schemas.microsoft.com/office/drawing/2014/main" id="{527E1407-988C-722F-E38C-FBC942DF6162}"/>
              </a:ext>
            </a:extLst>
          </p:cNvPr>
          <p:cNvCxnSpPr>
            <a:cxnSpLocks/>
          </p:cNvCxnSpPr>
          <p:nvPr/>
        </p:nvCxnSpPr>
        <p:spPr>
          <a:xfrm>
            <a:off x="7502014" y="5527719"/>
            <a:ext cx="10927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6" name="Picture 45">
            <a:extLst>
              <a:ext uri="{FF2B5EF4-FFF2-40B4-BE49-F238E27FC236}">
                <a16:creationId xmlns:a16="http://schemas.microsoft.com/office/drawing/2014/main" id="{D7B9BC07-C746-ACA3-5160-E1B1EF9F9E4A}"/>
              </a:ext>
            </a:extLst>
          </p:cNvPr>
          <p:cNvPicPr>
            <a:picLocks noChangeAspect="1"/>
          </p:cNvPicPr>
          <p:nvPr/>
        </p:nvPicPr>
        <p:blipFill>
          <a:blip r:embed="rId6"/>
          <a:stretch>
            <a:fillRect/>
          </a:stretch>
        </p:blipFill>
        <p:spPr>
          <a:xfrm>
            <a:off x="7956952" y="5149997"/>
            <a:ext cx="652272" cy="339010"/>
          </a:xfrm>
          <a:prstGeom prst="rect">
            <a:avLst/>
          </a:prstGeom>
        </p:spPr>
      </p:pic>
      <p:sp>
        <p:nvSpPr>
          <p:cNvPr id="47" name="Rectangle 46">
            <a:extLst>
              <a:ext uri="{FF2B5EF4-FFF2-40B4-BE49-F238E27FC236}">
                <a16:creationId xmlns:a16="http://schemas.microsoft.com/office/drawing/2014/main" id="{1F1372E7-43C1-681F-4177-FC798A5CE542}"/>
              </a:ext>
            </a:extLst>
          </p:cNvPr>
          <p:cNvSpPr/>
          <p:nvPr/>
        </p:nvSpPr>
        <p:spPr>
          <a:xfrm>
            <a:off x="8603227" y="5358213"/>
            <a:ext cx="1164336" cy="3390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lumMod val="90000"/>
                    <a:lumOff val="10000"/>
                  </a:schemeClr>
                </a:solidFill>
              </a:rPr>
              <a:t>P(Sun)</a:t>
            </a:r>
            <a:endParaRPr lang="en-IN" dirty="0">
              <a:solidFill>
                <a:schemeClr val="tx2">
                  <a:lumMod val="90000"/>
                  <a:lumOff val="10000"/>
                </a:schemeClr>
              </a:solidFill>
            </a:endParaRPr>
          </a:p>
        </p:txBody>
      </p:sp>
      <p:cxnSp>
        <p:nvCxnSpPr>
          <p:cNvPr id="49" name="Straight Arrow Connector 48">
            <a:extLst>
              <a:ext uri="{FF2B5EF4-FFF2-40B4-BE49-F238E27FC236}">
                <a16:creationId xmlns:a16="http://schemas.microsoft.com/office/drawing/2014/main" id="{2CD5BFAA-3B53-758C-803D-19808B47A454}"/>
              </a:ext>
            </a:extLst>
          </p:cNvPr>
          <p:cNvCxnSpPr>
            <a:cxnSpLocks/>
            <a:stCxn id="47" idx="3"/>
          </p:cNvCxnSpPr>
          <p:nvPr/>
        </p:nvCxnSpPr>
        <p:spPr>
          <a:xfrm>
            <a:off x="9767563" y="5527719"/>
            <a:ext cx="13625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1E91411A-DCFD-C277-7F29-D5CA174F70B8}"/>
              </a:ext>
            </a:extLst>
          </p:cNvPr>
          <p:cNvSpPr txBox="1"/>
          <p:nvPr/>
        </p:nvSpPr>
        <p:spPr>
          <a:xfrm>
            <a:off x="9866671" y="4912044"/>
            <a:ext cx="1164336" cy="369332"/>
          </a:xfrm>
          <a:prstGeom prst="rect">
            <a:avLst/>
          </a:prstGeom>
          <a:noFill/>
        </p:spPr>
        <p:txBody>
          <a:bodyPr wrap="square" rtlCol="0">
            <a:spAutoFit/>
          </a:bodyPr>
          <a:lstStyle/>
          <a:p>
            <a:r>
              <a:rPr lang="en-US" dirty="0"/>
              <a:t>Sampling</a:t>
            </a:r>
            <a:endParaRPr lang="en-IN" dirty="0"/>
          </a:p>
        </p:txBody>
      </p:sp>
      <p:sp>
        <p:nvSpPr>
          <p:cNvPr id="52" name="TextBox 51">
            <a:extLst>
              <a:ext uri="{FF2B5EF4-FFF2-40B4-BE49-F238E27FC236}">
                <a16:creationId xmlns:a16="http://schemas.microsoft.com/office/drawing/2014/main" id="{C95808D5-2CC0-38E5-3217-6827D874ADDD}"/>
              </a:ext>
            </a:extLst>
          </p:cNvPr>
          <p:cNvSpPr txBox="1"/>
          <p:nvPr/>
        </p:nvSpPr>
        <p:spPr>
          <a:xfrm>
            <a:off x="501445" y="6379751"/>
            <a:ext cx="1268363" cy="369332"/>
          </a:xfrm>
          <a:prstGeom prst="rect">
            <a:avLst/>
          </a:prstGeom>
          <a:noFill/>
        </p:spPr>
        <p:txBody>
          <a:bodyPr wrap="square" rtlCol="0">
            <a:spAutoFit/>
          </a:bodyPr>
          <a:lstStyle/>
          <a:p>
            <a:r>
              <a:rPr lang="en-US" b="1" dirty="0"/>
              <a:t>Data</a:t>
            </a:r>
            <a:endParaRPr lang="en-IN" b="1" dirty="0"/>
          </a:p>
        </p:txBody>
      </p:sp>
      <p:cxnSp>
        <p:nvCxnSpPr>
          <p:cNvPr id="54" name="Straight Connector 53">
            <a:extLst>
              <a:ext uri="{FF2B5EF4-FFF2-40B4-BE49-F238E27FC236}">
                <a16:creationId xmlns:a16="http://schemas.microsoft.com/office/drawing/2014/main" id="{D43736C3-B768-494C-BA57-67BC6FD7D7AD}"/>
              </a:ext>
            </a:extLst>
          </p:cNvPr>
          <p:cNvCxnSpPr/>
          <p:nvPr/>
        </p:nvCxnSpPr>
        <p:spPr>
          <a:xfrm>
            <a:off x="11130116" y="5527718"/>
            <a:ext cx="0" cy="519121"/>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BFA835FD-24EA-F9AF-F5F4-2F49D8EB6856}"/>
              </a:ext>
            </a:extLst>
          </p:cNvPr>
          <p:cNvCxnSpPr>
            <a:cxnSpLocks/>
          </p:cNvCxnSpPr>
          <p:nvPr/>
        </p:nvCxnSpPr>
        <p:spPr>
          <a:xfrm flipH="1">
            <a:off x="7223760" y="6046839"/>
            <a:ext cx="39063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268774B9-3F37-8449-B423-E71778EC3092}"/>
              </a:ext>
            </a:extLst>
          </p:cNvPr>
          <p:cNvSpPr/>
          <p:nvPr/>
        </p:nvSpPr>
        <p:spPr>
          <a:xfrm>
            <a:off x="6427248" y="5558375"/>
            <a:ext cx="1060508" cy="671837"/>
          </a:xfrm>
          <a:custGeom>
            <a:avLst/>
            <a:gdLst>
              <a:gd name="csX0" fmla="*/ 0 w 1060508"/>
              <a:gd name="csY0" fmla="*/ 0 h 671837"/>
              <a:gd name="csX1" fmla="*/ 519649 w 1060508"/>
              <a:gd name="csY1" fmla="*/ 0 h 671837"/>
              <a:gd name="csX2" fmla="*/ 1060508 w 1060508"/>
              <a:gd name="csY2" fmla="*/ 0 h 671837"/>
              <a:gd name="csX3" fmla="*/ 1060508 w 1060508"/>
              <a:gd name="csY3" fmla="*/ 349355 h 671837"/>
              <a:gd name="csX4" fmla="*/ 1060508 w 1060508"/>
              <a:gd name="csY4" fmla="*/ 671837 h 671837"/>
              <a:gd name="csX5" fmla="*/ 551464 w 1060508"/>
              <a:gd name="csY5" fmla="*/ 671837 h 671837"/>
              <a:gd name="csX6" fmla="*/ 0 w 1060508"/>
              <a:gd name="csY6" fmla="*/ 671837 h 671837"/>
              <a:gd name="csX7" fmla="*/ 0 w 1060508"/>
              <a:gd name="csY7" fmla="*/ 349355 h 671837"/>
              <a:gd name="csX8" fmla="*/ 0 w 1060508"/>
              <a:gd name="csY8" fmla="*/ 0 h 671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60508" h="671837" extrusionOk="0">
                <a:moveTo>
                  <a:pt x="0" y="0"/>
                </a:moveTo>
                <a:cubicBezTo>
                  <a:pt x="219288" y="-10295"/>
                  <a:pt x="408470" y="14053"/>
                  <a:pt x="519649" y="0"/>
                </a:cubicBezTo>
                <a:cubicBezTo>
                  <a:pt x="630828" y="-14053"/>
                  <a:pt x="938505" y="29642"/>
                  <a:pt x="1060508" y="0"/>
                </a:cubicBezTo>
                <a:cubicBezTo>
                  <a:pt x="1076080" y="71734"/>
                  <a:pt x="1058867" y="202154"/>
                  <a:pt x="1060508" y="349355"/>
                </a:cubicBezTo>
                <a:cubicBezTo>
                  <a:pt x="1062149" y="496557"/>
                  <a:pt x="1035079" y="550842"/>
                  <a:pt x="1060508" y="671837"/>
                </a:cubicBezTo>
                <a:cubicBezTo>
                  <a:pt x="826188" y="715010"/>
                  <a:pt x="782009" y="622720"/>
                  <a:pt x="551464" y="671837"/>
                </a:cubicBezTo>
                <a:cubicBezTo>
                  <a:pt x="320919" y="720954"/>
                  <a:pt x="267943" y="666810"/>
                  <a:pt x="0" y="671837"/>
                </a:cubicBezTo>
                <a:cubicBezTo>
                  <a:pt x="-13949" y="576166"/>
                  <a:pt x="21667" y="414974"/>
                  <a:pt x="0" y="349355"/>
                </a:cubicBezTo>
                <a:cubicBezTo>
                  <a:pt x="-21667" y="283736"/>
                  <a:pt x="40818" y="82548"/>
                  <a:pt x="0" y="0"/>
                </a:cubicBezTo>
                <a:close/>
              </a:path>
            </a:pathLst>
          </a:custGeom>
          <a:noFill/>
          <a:ln>
            <a:solidFill>
              <a:srgbClr val="C00000"/>
            </a:solidFill>
            <a:prstDash val="sysDot"/>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a:extLst>
              <a:ext uri="{FF2B5EF4-FFF2-40B4-BE49-F238E27FC236}">
                <a16:creationId xmlns:a16="http://schemas.microsoft.com/office/drawing/2014/main" id="{C2147325-1A5A-80EE-29F6-30DAE1ADA731}"/>
              </a:ext>
            </a:extLst>
          </p:cNvPr>
          <p:cNvSpPr txBox="1"/>
          <p:nvPr/>
        </p:nvSpPr>
        <p:spPr>
          <a:xfrm>
            <a:off x="8639897" y="6312262"/>
            <a:ext cx="1322837" cy="369331"/>
          </a:xfrm>
          <a:prstGeom prst="rect">
            <a:avLst/>
          </a:prstGeom>
          <a:noFill/>
        </p:spPr>
        <p:txBody>
          <a:bodyPr wrap="square" rtlCol="0">
            <a:spAutoFit/>
          </a:bodyPr>
          <a:lstStyle/>
          <a:p>
            <a:r>
              <a:rPr lang="en-US" b="1" dirty="0">
                <a:solidFill>
                  <a:schemeClr val="tx2">
                    <a:lumMod val="75000"/>
                    <a:lumOff val="25000"/>
                  </a:schemeClr>
                </a:solidFill>
              </a:rPr>
              <a:t>Sampling</a:t>
            </a:r>
            <a:endParaRPr lang="en-IN" b="1" dirty="0">
              <a:solidFill>
                <a:schemeClr val="tx2">
                  <a:lumMod val="75000"/>
                  <a:lumOff val="25000"/>
                </a:schemeClr>
              </a:solidFill>
            </a:endParaRPr>
          </a:p>
        </p:txBody>
      </p:sp>
      <p:pic>
        <p:nvPicPr>
          <p:cNvPr id="10" name="Audio 9">
            <a:hlinkClick r:id="" action="ppaction://media"/>
            <a:extLst>
              <a:ext uri="{FF2B5EF4-FFF2-40B4-BE49-F238E27FC236}">
                <a16:creationId xmlns:a16="http://schemas.microsoft.com/office/drawing/2014/main" id="{07E6A9F7-7425-2F82-98B5-FEF5B4717C7C}"/>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74182741"/>
      </p:ext>
    </p:extLst>
  </p:cSld>
  <p:clrMapOvr>
    <a:masterClrMapping/>
  </p:clrMapOvr>
  <mc:AlternateContent xmlns:mc="http://schemas.openxmlformats.org/markup-compatibility/2006">
    <mc:Choice xmlns:p14="http://schemas.microsoft.com/office/powerpoint/2010/main" Requires="p14">
      <p:transition spd="slow" p14:dur="2000" advTm="84229"/>
    </mc:Choice>
    <mc:Fallback>
      <p:transition spd="slow" advTm="842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84201CA-5CE1-3623-C37A-9FD59BB73D8A}"/>
              </a:ext>
            </a:extLst>
          </p:cNvPr>
          <p:cNvSpPr txBox="1">
            <a:spLocks/>
          </p:cNvSpPr>
          <p:nvPr/>
        </p:nvSpPr>
        <p:spPr>
          <a:xfrm>
            <a:off x="0" y="206477"/>
            <a:ext cx="12192000" cy="855408"/>
          </a:xfrm>
          <a:prstGeom prst="rect">
            <a:avLst/>
          </a:prstGeom>
          <a:solidFill>
            <a:schemeClr val="accent1">
              <a:lumMod val="20000"/>
              <a:lumOff val="8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Generative Forecasting using </a:t>
            </a:r>
            <a:r>
              <a:rPr lang="en-US" b="1" dirty="0">
                <a:solidFill>
                  <a:schemeClr val="accent6">
                    <a:lumMod val="50000"/>
                  </a:schemeClr>
                </a:solidFill>
              </a:rPr>
              <a:t>Joint</a:t>
            </a:r>
            <a:r>
              <a:rPr lang="en-US" dirty="0"/>
              <a:t> Probability Models</a:t>
            </a:r>
            <a:endParaRPr lang="en-IN" dirty="0"/>
          </a:p>
        </p:txBody>
      </p:sp>
      <p:pic>
        <p:nvPicPr>
          <p:cNvPr id="8" name="Content Placeholder 7">
            <a:extLst>
              <a:ext uri="{FF2B5EF4-FFF2-40B4-BE49-F238E27FC236}">
                <a16:creationId xmlns:a16="http://schemas.microsoft.com/office/drawing/2014/main" id="{1E0246FC-52AC-F260-9EC4-0F145E372369}"/>
              </a:ext>
            </a:extLst>
          </p:cNvPr>
          <p:cNvPicPr>
            <a:picLocks noGrp="1" noChangeAspect="1"/>
          </p:cNvPicPr>
          <p:nvPr>
            <p:ph idx="1"/>
          </p:nvPr>
        </p:nvPicPr>
        <p:blipFill>
          <a:blip r:embed="rId5"/>
          <a:srcRect t="9337"/>
          <a:stretch>
            <a:fillRect/>
          </a:stretch>
        </p:blipFill>
        <p:spPr>
          <a:xfrm>
            <a:off x="182544" y="1071716"/>
            <a:ext cx="4772915" cy="441423"/>
          </a:xfrm>
          <a:prstGeom prst="rect">
            <a:avLst/>
          </a:prstGeom>
        </p:spPr>
      </p:pic>
      <p:sp>
        <p:nvSpPr>
          <p:cNvPr id="9" name="TextBox 8">
            <a:extLst>
              <a:ext uri="{FF2B5EF4-FFF2-40B4-BE49-F238E27FC236}">
                <a16:creationId xmlns:a16="http://schemas.microsoft.com/office/drawing/2014/main" id="{65645EBA-74CB-E8EC-9830-57700C40270B}"/>
              </a:ext>
            </a:extLst>
          </p:cNvPr>
          <p:cNvSpPr txBox="1"/>
          <p:nvPr/>
        </p:nvSpPr>
        <p:spPr>
          <a:xfrm>
            <a:off x="192376" y="1059426"/>
            <a:ext cx="11807248" cy="646331"/>
          </a:xfrm>
          <a:prstGeom prst="rect">
            <a:avLst/>
          </a:prstGeom>
          <a:noFill/>
        </p:spPr>
        <p:txBody>
          <a:bodyPr wrap="square" rtlCol="0">
            <a:spAutoFit/>
          </a:bodyPr>
          <a:lstStyle/>
          <a:p>
            <a:r>
              <a:rPr lang="en-US" dirty="0"/>
              <a:t>                                                                                                       can be written using Product Rule of Probability as:</a:t>
            </a:r>
          </a:p>
          <a:p>
            <a:endParaRPr lang="en-IN" dirty="0"/>
          </a:p>
        </p:txBody>
      </p:sp>
      <p:pic>
        <p:nvPicPr>
          <p:cNvPr id="11" name="Picture 10">
            <a:extLst>
              <a:ext uri="{FF2B5EF4-FFF2-40B4-BE49-F238E27FC236}">
                <a16:creationId xmlns:a16="http://schemas.microsoft.com/office/drawing/2014/main" id="{842B0E22-2F2A-9B47-2AE6-4A70160D8ED7}"/>
              </a:ext>
            </a:extLst>
          </p:cNvPr>
          <p:cNvPicPr>
            <a:picLocks noChangeAspect="1"/>
          </p:cNvPicPr>
          <p:nvPr/>
        </p:nvPicPr>
        <p:blipFill>
          <a:blip r:embed="rId6"/>
          <a:stretch>
            <a:fillRect/>
          </a:stretch>
        </p:blipFill>
        <p:spPr>
          <a:xfrm>
            <a:off x="516841" y="1513139"/>
            <a:ext cx="10638503" cy="913210"/>
          </a:xfrm>
          <a:prstGeom prst="rect">
            <a:avLst/>
          </a:prstGeom>
        </p:spPr>
      </p:pic>
      <p:sp>
        <p:nvSpPr>
          <p:cNvPr id="12" name="TextBox 11">
            <a:extLst>
              <a:ext uri="{FF2B5EF4-FFF2-40B4-BE49-F238E27FC236}">
                <a16:creationId xmlns:a16="http://schemas.microsoft.com/office/drawing/2014/main" id="{0557C50F-21CA-1804-F031-58BAF1614DC8}"/>
              </a:ext>
            </a:extLst>
          </p:cNvPr>
          <p:cNvSpPr txBox="1"/>
          <p:nvPr/>
        </p:nvSpPr>
        <p:spPr>
          <a:xfrm>
            <a:off x="0" y="2368465"/>
            <a:ext cx="1209367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Instead of learning a one-way 'rule' to predict the future, we train the model to understand the overall patterns of short time windows (sequences). </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IN" dirty="0"/>
          </a:p>
        </p:txBody>
      </p:sp>
      <p:pic>
        <p:nvPicPr>
          <p:cNvPr id="14" name="Picture 13">
            <a:extLst>
              <a:ext uri="{FF2B5EF4-FFF2-40B4-BE49-F238E27FC236}">
                <a16:creationId xmlns:a16="http://schemas.microsoft.com/office/drawing/2014/main" id="{3E7E830E-6F85-ACE8-DD9B-C9979DAE57D5}"/>
              </a:ext>
            </a:extLst>
          </p:cNvPr>
          <p:cNvPicPr>
            <a:picLocks noChangeAspect="1"/>
          </p:cNvPicPr>
          <p:nvPr/>
        </p:nvPicPr>
        <p:blipFill>
          <a:blip r:embed="rId7"/>
          <a:stretch>
            <a:fillRect/>
          </a:stretch>
        </p:blipFill>
        <p:spPr>
          <a:xfrm>
            <a:off x="1714105" y="3089057"/>
            <a:ext cx="7859222" cy="628738"/>
          </a:xfrm>
          <a:prstGeom prst="rect">
            <a:avLst/>
          </a:prstGeom>
        </p:spPr>
      </p:pic>
      <p:sp>
        <p:nvSpPr>
          <p:cNvPr id="15" name="Right Brace 14">
            <a:extLst>
              <a:ext uri="{FF2B5EF4-FFF2-40B4-BE49-F238E27FC236}">
                <a16:creationId xmlns:a16="http://schemas.microsoft.com/office/drawing/2014/main" id="{BA33EF2B-8129-1B81-7BE6-2CCD736FDD86}"/>
              </a:ext>
            </a:extLst>
          </p:cNvPr>
          <p:cNvSpPr/>
          <p:nvPr/>
        </p:nvSpPr>
        <p:spPr>
          <a:xfrm rot="5400000">
            <a:off x="3457817" y="1836699"/>
            <a:ext cx="137387" cy="3624810"/>
          </a:xfrm>
          <a:prstGeom prst="righ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16" name="TextBox 15">
            <a:extLst>
              <a:ext uri="{FF2B5EF4-FFF2-40B4-BE49-F238E27FC236}">
                <a16:creationId xmlns:a16="http://schemas.microsoft.com/office/drawing/2014/main" id="{0FF2901C-3F30-F441-8C35-5747EFBD6753}"/>
              </a:ext>
            </a:extLst>
          </p:cNvPr>
          <p:cNvSpPr txBox="1"/>
          <p:nvPr/>
        </p:nvSpPr>
        <p:spPr>
          <a:xfrm>
            <a:off x="2365563" y="3659881"/>
            <a:ext cx="2848572" cy="369332"/>
          </a:xfrm>
          <a:prstGeom prst="rect">
            <a:avLst/>
          </a:prstGeom>
          <a:noFill/>
        </p:spPr>
        <p:txBody>
          <a:bodyPr wrap="square" rtlCol="0">
            <a:spAutoFit/>
          </a:bodyPr>
          <a:lstStyle/>
          <a:p>
            <a:r>
              <a:rPr lang="en-US" dirty="0"/>
              <a:t>Deep Generative Model</a:t>
            </a:r>
            <a:endParaRPr lang="en-IN" dirty="0"/>
          </a:p>
        </p:txBody>
      </p:sp>
      <p:cxnSp>
        <p:nvCxnSpPr>
          <p:cNvPr id="18" name="Straight Connector 17">
            <a:extLst>
              <a:ext uri="{FF2B5EF4-FFF2-40B4-BE49-F238E27FC236}">
                <a16:creationId xmlns:a16="http://schemas.microsoft.com/office/drawing/2014/main" id="{501DC438-367D-C224-23F7-600B1999A840}"/>
              </a:ext>
            </a:extLst>
          </p:cNvPr>
          <p:cNvCxnSpPr/>
          <p:nvPr/>
        </p:nvCxnSpPr>
        <p:spPr>
          <a:xfrm>
            <a:off x="0" y="4018436"/>
            <a:ext cx="12192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AF69F0A-2517-928C-58CE-BBAC78CBDD6B}"/>
              </a:ext>
            </a:extLst>
          </p:cNvPr>
          <p:cNvCxnSpPr/>
          <p:nvPr/>
        </p:nvCxnSpPr>
        <p:spPr>
          <a:xfrm>
            <a:off x="6115665" y="4018436"/>
            <a:ext cx="0" cy="2839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9768175-7148-5EC4-5348-7C6FD7D8049B}"/>
              </a:ext>
            </a:extLst>
          </p:cNvPr>
          <p:cNvCxnSpPr>
            <a:cxnSpLocks/>
          </p:cNvCxnSpPr>
          <p:nvPr/>
        </p:nvCxnSpPr>
        <p:spPr>
          <a:xfrm>
            <a:off x="2508872" y="5233089"/>
            <a:ext cx="3385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BEEB8DCB-0530-E17C-6651-596BBC6CBD61}"/>
              </a:ext>
            </a:extLst>
          </p:cNvPr>
          <p:cNvSpPr txBox="1"/>
          <p:nvPr/>
        </p:nvSpPr>
        <p:spPr>
          <a:xfrm>
            <a:off x="1574564" y="5050956"/>
            <a:ext cx="953723" cy="369332"/>
          </a:xfrm>
          <a:prstGeom prst="rect">
            <a:avLst/>
          </a:prstGeom>
          <a:solidFill>
            <a:srgbClr val="FFC000"/>
          </a:solidFill>
        </p:spPr>
        <p:txBody>
          <a:bodyPr wrap="square" rtlCol="0">
            <a:spAutoFit/>
          </a:bodyPr>
          <a:lstStyle/>
          <a:p>
            <a:r>
              <a:rPr lang="en-US" dirty="0"/>
              <a:t>Training</a:t>
            </a:r>
            <a:endParaRPr lang="en-IN" dirty="0"/>
          </a:p>
        </p:txBody>
      </p:sp>
      <p:pic>
        <p:nvPicPr>
          <p:cNvPr id="27" name="Picture 26">
            <a:extLst>
              <a:ext uri="{FF2B5EF4-FFF2-40B4-BE49-F238E27FC236}">
                <a16:creationId xmlns:a16="http://schemas.microsoft.com/office/drawing/2014/main" id="{B7CF4E22-3B2A-CAD7-178D-EC5E3FA928FB}"/>
              </a:ext>
            </a:extLst>
          </p:cNvPr>
          <p:cNvPicPr>
            <a:picLocks noChangeAspect="1"/>
          </p:cNvPicPr>
          <p:nvPr/>
        </p:nvPicPr>
        <p:blipFill>
          <a:blip r:embed="rId8"/>
          <a:stretch>
            <a:fillRect/>
          </a:stretch>
        </p:blipFill>
        <p:spPr>
          <a:xfrm>
            <a:off x="2846437" y="4992996"/>
            <a:ext cx="3018502" cy="336301"/>
          </a:xfrm>
          <a:prstGeom prst="rect">
            <a:avLst/>
          </a:prstGeom>
        </p:spPr>
      </p:pic>
      <p:sp>
        <p:nvSpPr>
          <p:cNvPr id="30" name="TextBox 29">
            <a:extLst>
              <a:ext uri="{FF2B5EF4-FFF2-40B4-BE49-F238E27FC236}">
                <a16:creationId xmlns:a16="http://schemas.microsoft.com/office/drawing/2014/main" id="{9E78F782-B2C7-C73F-C7F0-BF2EA60110B7}"/>
              </a:ext>
            </a:extLst>
          </p:cNvPr>
          <p:cNvSpPr txBox="1"/>
          <p:nvPr/>
        </p:nvSpPr>
        <p:spPr>
          <a:xfrm>
            <a:off x="137654" y="6578007"/>
            <a:ext cx="1268363" cy="369332"/>
          </a:xfrm>
          <a:prstGeom prst="rect">
            <a:avLst/>
          </a:prstGeom>
          <a:noFill/>
        </p:spPr>
        <p:txBody>
          <a:bodyPr wrap="square" rtlCol="0">
            <a:spAutoFit/>
          </a:bodyPr>
          <a:lstStyle/>
          <a:p>
            <a:r>
              <a:rPr lang="en-US" b="1" dirty="0"/>
              <a:t>Data</a:t>
            </a:r>
            <a:endParaRPr lang="en-IN" b="1" dirty="0"/>
          </a:p>
        </p:txBody>
      </p:sp>
      <p:sp>
        <p:nvSpPr>
          <p:cNvPr id="31" name="TextBox 30">
            <a:extLst>
              <a:ext uri="{FF2B5EF4-FFF2-40B4-BE49-F238E27FC236}">
                <a16:creationId xmlns:a16="http://schemas.microsoft.com/office/drawing/2014/main" id="{3F433AB9-6DDA-EEEB-E243-51639C8BC63A}"/>
              </a:ext>
            </a:extLst>
          </p:cNvPr>
          <p:cNvSpPr txBox="1"/>
          <p:nvPr/>
        </p:nvSpPr>
        <p:spPr>
          <a:xfrm>
            <a:off x="3016367" y="4469690"/>
            <a:ext cx="2848572" cy="646331"/>
          </a:xfrm>
          <a:prstGeom prst="rect">
            <a:avLst/>
          </a:prstGeom>
          <a:noFill/>
        </p:spPr>
        <p:txBody>
          <a:bodyPr wrap="square" rtlCol="0">
            <a:spAutoFit/>
          </a:bodyPr>
          <a:lstStyle/>
          <a:p>
            <a:r>
              <a:rPr lang="en-US" dirty="0"/>
              <a:t>Generative Model provide us with samples</a:t>
            </a:r>
            <a:endParaRPr lang="en-IN" dirty="0"/>
          </a:p>
        </p:txBody>
      </p:sp>
      <p:sp>
        <p:nvSpPr>
          <p:cNvPr id="36" name="TextBox 35">
            <a:extLst>
              <a:ext uri="{FF2B5EF4-FFF2-40B4-BE49-F238E27FC236}">
                <a16:creationId xmlns:a16="http://schemas.microsoft.com/office/drawing/2014/main" id="{79B604E7-A8B7-2B43-08D2-95366F2EDF53}"/>
              </a:ext>
            </a:extLst>
          </p:cNvPr>
          <p:cNvSpPr txBox="1"/>
          <p:nvPr/>
        </p:nvSpPr>
        <p:spPr>
          <a:xfrm>
            <a:off x="121920" y="4126992"/>
            <a:ext cx="877820" cy="577081"/>
          </a:xfrm>
          <a:prstGeom prst="rect">
            <a:avLst/>
          </a:prstGeom>
          <a:solidFill>
            <a:schemeClr val="bg1">
              <a:lumMod val="95000"/>
            </a:schemeClr>
          </a:solidFill>
        </p:spPr>
        <p:txBody>
          <a:bodyPr wrap="square" rtlCol="0">
            <a:spAutoFit/>
          </a:bodyPr>
          <a:lstStyle/>
          <a:p>
            <a:r>
              <a:rPr lang="en-IN" sz="1050" dirty="0"/>
              <a:t>Monday Tuesday Wednesday</a:t>
            </a:r>
          </a:p>
        </p:txBody>
      </p:sp>
      <p:sp>
        <p:nvSpPr>
          <p:cNvPr id="37" name="TextBox 36">
            <a:extLst>
              <a:ext uri="{FF2B5EF4-FFF2-40B4-BE49-F238E27FC236}">
                <a16:creationId xmlns:a16="http://schemas.microsoft.com/office/drawing/2014/main" id="{C91059BD-1523-5BB0-21CC-D239493D81A3}"/>
              </a:ext>
            </a:extLst>
          </p:cNvPr>
          <p:cNvSpPr txBox="1"/>
          <p:nvPr/>
        </p:nvSpPr>
        <p:spPr>
          <a:xfrm>
            <a:off x="121920" y="4762416"/>
            <a:ext cx="877817" cy="577081"/>
          </a:xfrm>
          <a:prstGeom prst="rect">
            <a:avLst/>
          </a:prstGeom>
          <a:solidFill>
            <a:schemeClr val="tx2">
              <a:lumMod val="10000"/>
              <a:lumOff val="90000"/>
            </a:schemeClr>
          </a:solidFill>
        </p:spPr>
        <p:txBody>
          <a:bodyPr wrap="square" rtlCol="0">
            <a:spAutoFit/>
          </a:bodyPr>
          <a:lstStyle/>
          <a:p>
            <a:r>
              <a:rPr lang="en-IN" sz="1050" dirty="0"/>
              <a:t>Tuesday Wednesday</a:t>
            </a:r>
          </a:p>
          <a:p>
            <a:r>
              <a:rPr lang="en-IN" sz="1050" dirty="0"/>
              <a:t>Thursday</a:t>
            </a:r>
          </a:p>
        </p:txBody>
      </p:sp>
      <p:sp>
        <p:nvSpPr>
          <p:cNvPr id="38" name="TextBox 37">
            <a:extLst>
              <a:ext uri="{FF2B5EF4-FFF2-40B4-BE49-F238E27FC236}">
                <a16:creationId xmlns:a16="http://schemas.microsoft.com/office/drawing/2014/main" id="{201562E4-F41E-E7A0-C1E6-BADBCEE09FE8}"/>
              </a:ext>
            </a:extLst>
          </p:cNvPr>
          <p:cNvSpPr txBox="1"/>
          <p:nvPr/>
        </p:nvSpPr>
        <p:spPr>
          <a:xfrm>
            <a:off x="121918" y="5386917"/>
            <a:ext cx="877817" cy="577081"/>
          </a:xfrm>
          <a:prstGeom prst="rect">
            <a:avLst/>
          </a:prstGeom>
          <a:solidFill>
            <a:schemeClr val="accent3">
              <a:lumMod val="40000"/>
              <a:lumOff val="60000"/>
            </a:schemeClr>
          </a:solidFill>
        </p:spPr>
        <p:txBody>
          <a:bodyPr wrap="square" rtlCol="0">
            <a:spAutoFit/>
          </a:bodyPr>
          <a:lstStyle/>
          <a:p>
            <a:r>
              <a:rPr lang="en-IN" sz="1050" dirty="0"/>
              <a:t>Wednesday</a:t>
            </a:r>
          </a:p>
          <a:p>
            <a:r>
              <a:rPr lang="en-IN" sz="1050" dirty="0"/>
              <a:t>Thursday</a:t>
            </a:r>
          </a:p>
          <a:p>
            <a:r>
              <a:rPr lang="en-IN" sz="1050" dirty="0"/>
              <a:t>Friday</a:t>
            </a:r>
          </a:p>
        </p:txBody>
      </p:sp>
      <p:sp>
        <p:nvSpPr>
          <p:cNvPr id="39" name="TextBox 38">
            <a:extLst>
              <a:ext uri="{FF2B5EF4-FFF2-40B4-BE49-F238E27FC236}">
                <a16:creationId xmlns:a16="http://schemas.microsoft.com/office/drawing/2014/main" id="{D6B49406-2986-27E2-5B4E-27633B964BAD}"/>
              </a:ext>
            </a:extLst>
          </p:cNvPr>
          <p:cNvSpPr txBox="1"/>
          <p:nvPr/>
        </p:nvSpPr>
        <p:spPr>
          <a:xfrm>
            <a:off x="121919" y="6038219"/>
            <a:ext cx="877817" cy="577081"/>
          </a:xfrm>
          <a:prstGeom prst="rect">
            <a:avLst/>
          </a:prstGeom>
          <a:solidFill>
            <a:schemeClr val="accent4">
              <a:lumMod val="60000"/>
              <a:lumOff val="40000"/>
            </a:schemeClr>
          </a:solidFill>
        </p:spPr>
        <p:txBody>
          <a:bodyPr wrap="square" rtlCol="0">
            <a:spAutoFit/>
          </a:bodyPr>
          <a:lstStyle/>
          <a:p>
            <a:r>
              <a:rPr lang="en-IN" sz="1050" dirty="0"/>
              <a:t>Thursday</a:t>
            </a:r>
          </a:p>
          <a:p>
            <a:r>
              <a:rPr lang="en-IN" sz="1050" dirty="0"/>
              <a:t>Friday</a:t>
            </a:r>
          </a:p>
          <a:p>
            <a:r>
              <a:rPr lang="en-IN" sz="1050" dirty="0"/>
              <a:t>Saturday</a:t>
            </a:r>
          </a:p>
        </p:txBody>
      </p:sp>
      <p:sp>
        <p:nvSpPr>
          <p:cNvPr id="40" name="Rectangle 39">
            <a:extLst>
              <a:ext uri="{FF2B5EF4-FFF2-40B4-BE49-F238E27FC236}">
                <a16:creationId xmlns:a16="http://schemas.microsoft.com/office/drawing/2014/main" id="{9ECFA79B-45E8-CBEC-E50A-FBBCB56A2AFE}"/>
              </a:ext>
            </a:extLst>
          </p:cNvPr>
          <p:cNvSpPr/>
          <p:nvPr/>
        </p:nvSpPr>
        <p:spPr>
          <a:xfrm>
            <a:off x="67057" y="4084320"/>
            <a:ext cx="953724" cy="25671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2" name="Straight Arrow Connector 41">
            <a:extLst>
              <a:ext uri="{FF2B5EF4-FFF2-40B4-BE49-F238E27FC236}">
                <a16:creationId xmlns:a16="http://schemas.microsoft.com/office/drawing/2014/main" id="{55011069-8076-43DF-0285-5D44F71B0E35}"/>
              </a:ext>
            </a:extLst>
          </p:cNvPr>
          <p:cNvCxnSpPr/>
          <p:nvPr/>
        </p:nvCxnSpPr>
        <p:spPr>
          <a:xfrm>
            <a:off x="999735" y="5280727"/>
            <a:ext cx="5917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2008C277-6F02-A091-CD7A-07A4B532BA4A}"/>
              </a:ext>
            </a:extLst>
          </p:cNvPr>
          <p:cNvCxnSpPr>
            <a:cxnSpLocks/>
          </p:cNvCxnSpPr>
          <p:nvPr/>
        </p:nvCxnSpPr>
        <p:spPr>
          <a:xfrm>
            <a:off x="4280749" y="5339497"/>
            <a:ext cx="0" cy="7492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6C394C71-63CE-9BA2-A725-BAB74ADFDEE2}"/>
              </a:ext>
            </a:extLst>
          </p:cNvPr>
          <p:cNvSpPr txBox="1"/>
          <p:nvPr/>
        </p:nvSpPr>
        <p:spPr>
          <a:xfrm>
            <a:off x="4271726" y="5479486"/>
            <a:ext cx="1329115" cy="369332"/>
          </a:xfrm>
          <a:prstGeom prst="rect">
            <a:avLst/>
          </a:prstGeom>
          <a:noFill/>
        </p:spPr>
        <p:txBody>
          <a:bodyPr wrap="square" rtlCol="0">
            <a:spAutoFit/>
          </a:bodyPr>
          <a:lstStyle/>
          <a:p>
            <a:r>
              <a:rPr lang="en-US" dirty="0"/>
              <a:t>Sampling</a:t>
            </a:r>
            <a:endParaRPr lang="en-IN" dirty="0"/>
          </a:p>
        </p:txBody>
      </p:sp>
      <p:sp>
        <p:nvSpPr>
          <p:cNvPr id="47" name="Rectangle 46">
            <a:extLst>
              <a:ext uri="{FF2B5EF4-FFF2-40B4-BE49-F238E27FC236}">
                <a16:creationId xmlns:a16="http://schemas.microsoft.com/office/drawing/2014/main" id="{402D89F8-B108-4421-67AF-8CB142ACEAD0}"/>
              </a:ext>
            </a:extLst>
          </p:cNvPr>
          <p:cNvSpPr/>
          <p:nvPr/>
        </p:nvSpPr>
        <p:spPr>
          <a:xfrm>
            <a:off x="3962775" y="6180343"/>
            <a:ext cx="635949" cy="5608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2">
                    <a:lumMod val="90000"/>
                    <a:lumOff val="10000"/>
                  </a:schemeClr>
                </a:solidFill>
              </a:rPr>
              <a:t>Day 1</a:t>
            </a:r>
            <a:br>
              <a:rPr lang="en-US" sz="1100" dirty="0">
                <a:solidFill>
                  <a:schemeClr val="tx2">
                    <a:lumMod val="90000"/>
                    <a:lumOff val="10000"/>
                  </a:schemeClr>
                </a:solidFill>
              </a:rPr>
            </a:br>
            <a:r>
              <a:rPr lang="en-US" sz="1100" dirty="0">
                <a:solidFill>
                  <a:schemeClr val="tx2">
                    <a:lumMod val="90000"/>
                    <a:lumOff val="10000"/>
                  </a:schemeClr>
                </a:solidFill>
              </a:rPr>
              <a:t>Day 2</a:t>
            </a:r>
            <a:br>
              <a:rPr lang="en-US" sz="1100" dirty="0">
                <a:solidFill>
                  <a:schemeClr val="tx2">
                    <a:lumMod val="90000"/>
                    <a:lumOff val="10000"/>
                  </a:schemeClr>
                </a:solidFill>
              </a:rPr>
            </a:br>
            <a:r>
              <a:rPr lang="en-US" sz="1100" dirty="0">
                <a:solidFill>
                  <a:schemeClr val="tx2">
                    <a:lumMod val="90000"/>
                    <a:lumOff val="10000"/>
                  </a:schemeClr>
                </a:solidFill>
              </a:rPr>
              <a:t>Day 3</a:t>
            </a:r>
            <a:endParaRPr lang="en-IN" sz="1100" dirty="0">
              <a:solidFill>
                <a:schemeClr val="tx2">
                  <a:lumMod val="90000"/>
                  <a:lumOff val="10000"/>
                </a:schemeClr>
              </a:solidFill>
            </a:endParaRPr>
          </a:p>
        </p:txBody>
      </p:sp>
      <p:sp>
        <p:nvSpPr>
          <p:cNvPr id="50" name="Right Brace 49">
            <a:extLst>
              <a:ext uri="{FF2B5EF4-FFF2-40B4-BE49-F238E27FC236}">
                <a16:creationId xmlns:a16="http://schemas.microsoft.com/office/drawing/2014/main" id="{03B60DDB-1739-5460-56FA-E19BB28E2EAB}"/>
              </a:ext>
            </a:extLst>
          </p:cNvPr>
          <p:cNvSpPr/>
          <p:nvPr/>
        </p:nvSpPr>
        <p:spPr>
          <a:xfrm rot="5400000">
            <a:off x="7493754" y="2133631"/>
            <a:ext cx="92394" cy="2848572"/>
          </a:xfrm>
          <a:prstGeom prst="righ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52" name="TextBox 51">
            <a:extLst>
              <a:ext uri="{FF2B5EF4-FFF2-40B4-BE49-F238E27FC236}">
                <a16:creationId xmlns:a16="http://schemas.microsoft.com/office/drawing/2014/main" id="{5461453F-BC95-0435-88BE-E336F5021487}"/>
              </a:ext>
            </a:extLst>
          </p:cNvPr>
          <p:cNvSpPr txBox="1"/>
          <p:nvPr/>
        </p:nvSpPr>
        <p:spPr>
          <a:xfrm>
            <a:off x="6646096" y="3604114"/>
            <a:ext cx="2848572" cy="369332"/>
          </a:xfrm>
          <a:prstGeom prst="rect">
            <a:avLst/>
          </a:prstGeom>
          <a:noFill/>
        </p:spPr>
        <p:txBody>
          <a:bodyPr wrap="square" rtlCol="0">
            <a:spAutoFit/>
          </a:bodyPr>
          <a:lstStyle/>
          <a:p>
            <a:r>
              <a:rPr lang="en-US" dirty="0"/>
              <a:t>Adjacent time steps</a:t>
            </a:r>
            <a:endParaRPr lang="en-IN" dirty="0"/>
          </a:p>
        </p:txBody>
      </p:sp>
      <p:sp>
        <p:nvSpPr>
          <p:cNvPr id="53" name="Right Brace 52">
            <a:extLst>
              <a:ext uri="{FF2B5EF4-FFF2-40B4-BE49-F238E27FC236}">
                <a16:creationId xmlns:a16="http://schemas.microsoft.com/office/drawing/2014/main" id="{CFDA164C-F85F-1221-E286-335C67AA09D4}"/>
              </a:ext>
            </a:extLst>
          </p:cNvPr>
          <p:cNvSpPr/>
          <p:nvPr/>
        </p:nvSpPr>
        <p:spPr>
          <a:xfrm>
            <a:off x="1094823" y="4126993"/>
            <a:ext cx="45719" cy="59478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54" name="TextBox 53">
            <a:extLst>
              <a:ext uri="{FF2B5EF4-FFF2-40B4-BE49-F238E27FC236}">
                <a16:creationId xmlns:a16="http://schemas.microsoft.com/office/drawing/2014/main" id="{F5DC5E2E-0F9E-E48B-CEB8-FB5466B6811C}"/>
              </a:ext>
            </a:extLst>
          </p:cNvPr>
          <p:cNvSpPr txBox="1"/>
          <p:nvPr/>
        </p:nvSpPr>
        <p:spPr>
          <a:xfrm>
            <a:off x="1117680" y="4155288"/>
            <a:ext cx="2228729" cy="430887"/>
          </a:xfrm>
          <a:prstGeom prst="rect">
            <a:avLst/>
          </a:prstGeom>
          <a:noFill/>
        </p:spPr>
        <p:txBody>
          <a:bodyPr wrap="square" rtlCol="0">
            <a:spAutoFit/>
          </a:bodyPr>
          <a:lstStyle/>
          <a:p>
            <a:r>
              <a:rPr lang="en-US" sz="1100" dirty="0"/>
              <a:t>Temporal Time Window :</a:t>
            </a:r>
            <a:br>
              <a:rPr lang="en-US" sz="1100" dirty="0"/>
            </a:br>
            <a:r>
              <a:rPr lang="en-US" sz="1100" dirty="0"/>
              <a:t>3 ( </a:t>
            </a:r>
            <a:r>
              <a:rPr lang="en-US" sz="1100" b="1" dirty="0"/>
              <a:t>Hyperparameter)</a:t>
            </a:r>
            <a:endParaRPr lang="en-IN" sz="1100" b="1" dirty="0"/>
          </a:p>
        </p:txBody>
      </p:sp>
      <p:graphicFrame>
        <p:nvGraphicFramePr>
          <p:cNvPr id="55" name="Table 54">
            <a:extLst>
              <a:ext uri="{FF2B5EF4-FFF2-40B4-BE49-F238E27FC236}">
                <a16:creationId xmlns:a16="http://schemas.microsoft.com/office/drawing/2014/main" id="{79007A29-8A3D-3B39-A8FA-A7BDB9B35FD2}"/>
              </a:ext>
            </a:extLst>
          </p:cNvPr>
          <p:cNvGraphicFramePr>
            <a:graphicFrameLocks noGrp="1"/>
          </p:cNvGraphicFramePr>
          <p:nvPr>
            <p:extLst>
              <p:ext uri="{D42A27DB-BD31-4B8C-83A1-F6EECF244321}">
                <p14:modId xmlns:p14="http://schemas.microsoft.com/office/powerpoint/2010/main" val="875614666"/>
              </p:ext>
            </p:extLst>
          </p:nvPr>
        </p:nvGraphicFramePr>
        <p:xfrm>
          <a:off x="6264904" y="4133655"/>
          <a:ext cx="3308421" cy="370840"/>
        </p:xfrm>
        <a:graphic>
          <a:graphicData uri="http://schemas.openxmlformats.org/drawingml/2006/table">
            <a:tbl>
              <a:tblPr firstRow="1" bandRow="1">
                <a:tableStyleId>{5C22544A-7EE6-4342-B048-85BDC9FD1C3A}</a:tableStyleId>
              </a:tblPr>
              <a:tblGrid>
                <a:gridCol w="1102808">
                  <a:extLst>
                    <a:ext uri="{9D8B030D-6E8A-4147-A177-3AD203B41FA5}">
                      <a16:colId xmlns:a16="http://schemas.microsoft.com/office/drawing/2014/main" val="2102312840"/>
                    </a:ext>
                  </a:extLst>
                </a:gridCol>
                <a:gridCol w="889278">
                  <a:extLst>
                    <a:ext uri="{9D8B030D-6E8A-4147-A177-3AD203B41FA5}">
                      <a16:colId xmlns:a16="http://schemas.microsoft.com/office/drawing/2014/main" val="1181155727"/>
                    </a:ext>
                  </a:extLst>
                </a:gridCol>
                <a:gridCol w="1316335">
                  <a:extLst>
                    <a:ext uri="{9D8B030D-6E8A-4147-A177-3AD203B41FA5}">
                      <a16:colId xmlns:a16="http://schemas.microsoft.com/office/drawing/2014/main" val="3320317631"/>
                    </a:ext>
                  </a:extLst>
                </a:gridCol>
              </a:tblGrid>
              <a:tr h="370840">
                <a:tc>
                  <a:txBody>
                    <a:bodyPr/>
                    <a:lstStyle/>
                    <a:p>
                      <a:pPr algn="ctr"/>
                      <a:r>
                        <a:rPr lang="en-US" b="0" dirty="0">
                          <a:solidFill>
                            <a:schemeClr val="tx2">
                              <a:lumMod val="90000"/>
                              <a:lumOff val="10000"/>
                            </a:schemeClr>
                          </a:solidFill>
                        </a:rPr>
                        <a:t>Thursday</a:t>
                      </a:r>
                      <a:endParaRPr lang="en-IN" b="0" dirty="0">
                        <a:solidFill>
                          <a:schemeClr val="tx2">
                            <a:lumMod val="90000"/>
                            <a:lumOff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2">
                              <a:lumMod val="90000"/>
                              <a:lumOff val="10000"/>
                            </a:schemeClr>
                          </a:solidFill>
                        </a:rPr>
                        <a:t>Friday</a:t>
                      </a:r>
                      <a:endParaRPr lang="en-IN" b="0" dirty="0">
                        <a:solidFill>
                          <a:schemeClr val="tx2">
                            <a:lumMod val="90000"/>
                            <a:lumOff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dirty="0">
                          <a:solidFill>
                            <a:schemeClr val="tx2">
                              <a:lumMod val="90000"/>
                              <a:lumOff val="10000"/>
                            </a:schemeClr>
                          </a:solidFill>
                        </a:rPr>
                        <a:t>Saturday</a:t>
                      </a:r>
                      <a:endParaRPr lang="en-IN" b="0" dirty="0">
                        <a:solidFill>
                          <a:schemeClr val="tx2">
                            <a:lumMod val="90000"/>
                            <a:lumOff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25372040"/>
                  </a:ext>
                </a:extLst>
              </a:tr>
            </a:tbl>
          </a:graphicData>
        </a:graphic>
      </p:graphicFrame>
      <p:cxnSp>
        <p:nvCxnSpPr>
          <p:cNvPr id="59" name="Straight Arrow Connector 58">
            <a:extLst>
              <a:ext uri="{FF2B5EF4-FFF2-40B4-BE49-F238E27FC236}">
                <a16:creationId xmlns:a16="http://schemas.microsoft.com/office/drawing/2014/main" id="{1C808B62-D75A-23EE-9E04-1BBBCBCF7B95}"/>
              </a:ext>
            </a:extLst>
          </p:cNvPr>
          <p:cNvCxnSpPr>
            <a:cxnSpLocks/>
            <a:endCxn id="55" idx="3"/>
          </p:cNvCxnSpPr>
          <p:nvPr/>
        </p:nvCxnSpPr>
        <p:spPr>
          <a:xfrm flipH="1">
            <a:off x="9573325" y="4319075"/>
            <a:ext cx="7505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BDEC2A53-1286-D267-38E2-D67758ABD0C5}"/>
              </a:ext>
            </a:extLst>
          </p:cNvPr>
          <p:cNvSpPr txBox="1"/>
          <p:nvPr/>
        </p:nvSpPr>
        <p:spPr>
          <a:xfrm>
            <a:off x="10283110" y="4137270"/>
            <a:ext cx="1716514" cy="369332"/>
          </a:xfrm>
          <a:prstGeom prst="rect">
            <a:avLst/>
          </a:prstGeom>
          <a:noFill/>
        </p:spPr>
        <p:txBody>
          <a:bodyPr wrap="square" rtlCol="0">
            <a:spAutoFit/>
          </a:bodyPr>
          <a:lstStyle/>
          <a:p>
            <a:r>
              <a:rPr lang="en-US" dirty="0"/>
              <a:t>Ground Turth</a:t>
            </a:r>
            <a:endParaRPr lang="en-IN" dirty="0"/>
          </a:p>
        </p:txBody>
      </p:sp>
      <p:graphicFrame>
        <p:nvGraphicFramePr>
          <p:cNvPr id="64" name="Table 63">
            <a:extLst>
              <a:ext uri="{FF2B5EF4-FFF2-40B4-BE49-F238E27FC236}">
                <a16:creationId xmlns:a16="http://schemas.microsoft.com/office/drawing/2014/main" id="{C3687A5E-92ED-B093-2495-F02B941EC5D0}"/>
              </a:ext>
            </a:extLst>
          </p:cNvPr>
          <p:cNvGraphicFramePr>
            <a:graphicFrameLocks noGrp="1"/>
          </p:cNvGraphicFramePr>
          <p:nvPr>
            <p:extLst>
              <p:ext uri="{D42A27DB-BD31-4B8C-83A1-F6EECF244321}">
                <p14:modId xmlns:p14="http://schemas.microsoft.com/office/powerpoint/2010/main" val="3413926071"/>
              </p:ext>
            </p:extLst>
          </p:nvPr>
        </p:nvGraphicFramePr>
        <p:xfrm>
          <a:off x="7352414" y="4584904"/>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25372040"/>
                  </a:ext>
                </a:extLst>
              </a:tr>
            </a:tbl>
          </a:graphicData>
        </a:graphic>
      </p:graphicFrame>
      <p:graphicFrame>
        <p:nvGraphicFramePr>
          <p:cNvPr id="70" name="Table 69">
            <a:extLst>
              <a:ext uri="{FF2B5EF4-FFF2-40B4-BE49-F238E27FC236}">
                <a16:creationId xmlns:a16="http://schemas.microsoft.com/office/drawing/2014/main" id="{5412F4E2-6A8A-7029-5029-4FCB25ECE5E7}"/>
              </a:ext>
            </a:extLst>
          </p:cNvPr>
          <p:cNvGraphicFramePr>
            <a:graphicFrameLocks noGrp="1"/>
          </p:cNvGraphicFramePr>
          <p:nvPr>
            <p:extLst>
              <p:ext uri="{D42A27DB-BD31-4B8C-83A1-F6EECF244321}">
                <p14:modId xmlns:p14="http://schemas.microsoft.com/office/powerpoint/2010/main" val="2994505461"/>
              </p:ext>
            </p:extLst>
          </p:nvPr>
        </p:nvGraphicFramePr>
        <p:xfrm>
          <a:off x="7352414" y="4930140"/>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625372040"/>
                  </a:ext>
                </a:extLst>
              </a:tr>
            </a:tbl>
          </a:graphicData>
        </a:graphic>
      </p:graphicFrame>
      <p:graphicFrame>
        <p:nvGraphicFramePr>
          <p:cNvPr id="71" name="Table 70">
            <a:extLst>
              <a:ext uri="{FF2B5EF4-FFF2-40B4-BE49-F238E27FC236}">
                <a16:creationId xmlns:a16="http://schemas.microsoft.com/office/drawing/2014/main" id="{D1A71027-73C5-7B7E-552A-0ED0C56D118D}"/>
              </a:ext>
            </a:extLst>
          </p:cNvPr>
          <p:cNvGraphicFramePr>
            <a:graphicFrameLocks noGrp="1"/>
          </p:cNvGraphicFramePr>
          <p:nvPr>
            <p:extLst>
              <p:ext uri="{D42A27DB-BD31-4B8C-83A1-F6EECF244321}">
                <p14:modId xmlns:p14="http://schemas.microsoft.com/office/powerpoint/2010/main" val="3023013682"/>
              </p:ext>
            </p:extLst>
          </p:nvPr>
        </p:nvGraphicFramePr>
        <p:xfrm>
          <a:off x="7352414" y="5270713"/>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25372040"/>
                  </a:ext>
                </a:extLst>
              </a:tr>
            </a:tbl>
          </a:graphicData>
        </a:graphic>
      </p:graphicFrame>
      <p:graphicFrame>
        <p:nvGraphicFramePr>
          <p:cNvPr id="72" name="Table 71">
            <a:extLst>
              <a:ext uri="{FF2B5EF4-FFF2-40B4-BE49-F238E27FC236}">
                <a16:creationId xmlns:a16="http://schemas.microsoft.com/office/drawing/2014/main" id="{017ADDD4-881F-E93E-6241-89A7FEEFD036}"/>
              </a:ext>
            </a:extLst>
          </p:cNvPr>
          <p:cNvGraphicFramePr>
            <a:graphicFrameLocks noGrp="1"/>
          </p:cNvGraphicFramePr>
          <p:nvPr>
            <p:extLst>
              <p:ext uri="{D42A27DB-BD31-4B8C-83A1-F6EECF244321}">
                <p14:modId xmlns:p14="http://schemas.microsoft.com/office/powerpoint/2010/main" val="3350389234"/>
              </p:ext>
            </p:extLst>
          </p:nvPr>
        </p:nvGraphicFramePr>
        <p:xfrm>
          <a:off x="7352414" y="5598017"/>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25372040"/>
                  </a:ext>
                </a:extLst>
              </a:tr>
            </a:tbl>
          </a:graphicData>
        </a:graphic>
      </p:graphicFrame>
      <p:graphicFrame>
        <p:nvGraphicFramePr>
          <p:cNvPr id="73" name="Table 72">
            <a:extLst>
              <a:ext uri="{FF2B5EF4-FFF2-40B4-BE49-F238E27FC236}">
                <a16:creationId xmlns:a16="http://schemas.microsoft.com/office/drawing/2014/main" id="{E754C9AF-0E21-5FBD-DE31-4DBAA865D2D0}"/>
              </a:ext>
            </a:extLst>
          </p:cNvPr>
          <p:cNvGraphicFramePr>
            <a:graphicFrameLocks noGrp="1"/>
          </p:cNvGraphicFramePr>
          <p:nvPr>
            <p:extLst>
              <p:ext uri="{D42A27DB-BD31-4B8C-83A1-F6EECF244321}">
                <p14:modId xmlns:p14="http://schemas.microsoft.com/office/powerpoint/2010/main" val="1863454958"/>
              </p:ext>
            </p:extLst>
          </p:nvPr>
        </p:nvGraphicFramePr>
        <p:xfrm>
          <a:off x="7345771" y="5913276"/>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625372040"/>
                  </a:ext>
                </a:extLst>
              </a:tr>
            </a:tbl>
          </a:graphicData>
        </a:graphic>
      </p:graphicFrame>
      <p:graphicFrame>
        <p:nvGraphicFramePr>
          <p:cNvPr id="74" name="Table 73">
            <a:extLst>
              <a:ext uri="{FF2B5EF4-FFF2-40B4-BE49-F238E27FC236}">
                <a16:creationId xmlns:a16="http://schemas.microsoft.com/office/drawing/2014/main" id="{7CC60863-4156-1309-C726-1D85DAF52D3F}"/>
              </a:ext>
            </a:extLst>
          </p:cNvPr>
          <p:cNvGraphicFramePr>
            <a:graphicFrameLocks noGrp="1"/>
          </p:cNvGraphicFramePr>
          <p:nvPr>
            <p:extLst>
              <p:ext uri="{D42A27DB-BD31-4B8C-83A1-F6EECF244321}">
                <p14:modId xmlns:p14="http://schemas.microsoft.com/office/powerpoint/2010/main" val="1516395852"/>
              </p:ext>
            </p:extLst>
          </p:nvPr>
        </p:nvGraphicFramePr>
        <p:xfrm>
          <a:off x="7352414" y="6542141"/>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625372040"/>
                  </a:ext>
                </a:extLst>
              </a:tr>
            </a:tbl>
          </a:graphicData>
        </a:graphic>
      </p:graphicFrame>
      <p:cxnSp>
        <p:nvCxnSpPr>
          <p:cNvPr id="76" name="Straight Arrow Connector 75">
            <a:extLst>
              <a:ext uri="{FF2B5EF4-FFF2-40B4-BE49-F238E27FC236}">
                <a16:creationId xmlns:a16="http://schemas.microsoft.com/office/drawing/2014/main" id="{5751AEEC-97B9-4BF9-B136-C8B1D9CEE4D7}"/>
              </a:ext>
            </a:extLst>
          </p:cNvPr>
          <p:cNvCxnSpPr>
            <a:stCxn id="27" idx="3"/>
            <a:endCxn id="64" idx="1"/>
          </p:cNvCxnSpPr>
          <p:nvPr/>
        </p:nvCxnSpPr>
        <p:spPr>
          <a:xfrm flipV="1">
            <a:off x="5864939" y="4722064"/>
            <a:ext cx="1487475" cy="4390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A9D6F409-3AA7-652A-7ECA-84E80D16C3E1}"/>
              </a:ext>
            </a:extLst>
          </p:cNvPr>
          <p:cNvCxnSpPr>
            <a:cxnSpLocks/>
            <a:stCxn id="27" idx="3"/>
            <a:endCxn id="70" idx="1"/>
          </p:cNvCxnSpPr>
          <p:nvPr/>
        </p:nvCxnSpPr>
        <p:spPr>
          <a:xfrm flipV="1">
            <a:off x="5864939" y="5067300"/>
            <a:ext cx="1487475" cy="93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A10F655B-D9DE-D492-8FA4-FF86AD9A0D3D}"/>
              </a:ext>
            </a:extLst>
          </p:cNvPr>
          <p:cNvCxnSpPr>
            <a:cxnSpLocks/>
            <a:stCxn id="27" idx="3"/>
            <a:endCxn id="71" idx="1"/>
          </p:cNvCxnSpPr>
          <p:nvPr/>
        </p:nvCxnSpPr>
        <p:spPr>
          <a:xfrm>
            <a:off x="5864939" y="5161147"/>
            <a:ext cx="1487475" cy="2467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AEDE94F3-3763-0592-DE89-6084456A6612}"/>
              </a:ext>
            </a:extLst>
          </p:cNvPr>
          <p:cNvSpPr/>
          <p:nvPr/>
        </p:nvSpPr>
        <p:spPr>
          <a:xfrm>
            <a:off x="8864600" y="6228080"/>
            <a:ext cx="294632" cy="314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5" name="Picture 84">
            <a:extLst>
              <a:ext uri="{FF2B5EF4-FFF2-40B4-BE49-F238E27FC236}">
                <a16:creationId xmlns:a16="http://schemas.microsoft.com/office/drawing/2014/main" id="{5D089004-1A73-007A-2163-5CD27D740B5C}"/>
              </a:ext>
            </a:extLst>
          </p:cNvPr>
          <p:cNvPicPr>
            <a:picLocks noChangeAspect="1"/>
          </p:cNvPicPr>
          <p:nvPr/>
        </p:nvPicPr>
        <p:blipFill>
          <a:blip r:embed="rId9"/>
          <a:stretch>
            <a:fillRect/>
          </a:stretch>
        </p:blipFill>
        <p:spPr>
          <a:xfrm>
            <a:off x="8911312" y="6214837"/>
            <a:ext cx="74575" cy="310731"/>
          </a:xfrm>
          <a:prstGeom prst="rect">
            <a:avLst/>
          </a:prstGeom>
        </p:spPr>
      </p:pic>
      <p:cxnSp>
        <p:nvCxnSpPr>
          <p:cNvPr id="88" name="Straight Arrow Connector 87">
            <a:extLst>
              <a:ext uri="{FF2B5EF4-FFF2-40B4-BE49-F238E27FC236}">
                <a16:creationId xmlns:a16="http://schemas.microsoft.com/office/drawing/2014/main" id="{F9EBF4E0-4006-AA9C-1020-AEF4AE4EBCB4}"/>
              </a:ext>
            </a:extLst>
          </p:cNvPr>
          <p:cNvCxnSpPr>
            <a:cxnSpLocks/>
            <a:stCxn id="27" idx="3"/>
            <a:endCxn id="72" idx="1"/>
          </p:cNvCxnSpPr>
          <p:nvPr/>
        </p:nvCxnSpPr>
        <p:spPr>
          <a:xfrm>
            <a:off x="5864939" y="5161147"/>
            <a:ext cx="1487475" cy="5740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10CB53A8-16DC-8DBE-EB3C-231CD2DDFF7A}"/>
              </a:ext>
            </a:extLst>
          </p:cNvPr>
          <p:cNvCxnSpPr>
            <a:cxnSpLocks/>
            <a:stCxn id="27" idx="3"/>
            <a:endCxn id="73" idx="1"/>
          </p:cNvCxnSpPr>
          <p:nvPr/>
        </p:nvCxnSpPr>
        <p:spPr>
          <a:xfrm>
            <a:off x="5864939" y="5161147"/>
            <a:ext cx="1480832" cy="88928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94" name="Straight Arrow Connector 93">
            <a:extLst>
              <a:ext uri="{FF2B5EF4-FFF2-40B4-BE49-F238E27FC236}">
                <a16:creationId xmlns:a16="http://schemas.microsoft.com/office/drawing/2014/main" id="{1C07D117-BED0-2669-17B5-7562141F22E2}"/>
              </a:ext>
            </a:extLst>
          </p:cNvPr>
          <p:cNvCxnSpPr>
            <a:cxnSpLocks/>
            <a:stCxn id="27" idx="3"/>
            <a:endCxn id="74" idx="1"/>
          </p:cNvCxnSpPr>
          <p:nvPr/>
        </p:nvCxnSpPr>
        <p:spPr>
          <a:xfrm>
            <a:off x="5864939" y="5161147"/>
            <a:ext cx="1487475" cy="15181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7" name="Rectangle 96">
            <a:extLst>
              <a:ext uri="{FF2B5EF4-FFF2-40B4-BE49-F238E27FC236}">
                <a16:creationId xmlns:a16="http://schemas.microsoft.com/office/drawing/2014/main" id="{30EA2580-5438-47F9-957E-AFEB066A7E07}"/>
              </a:ext>
            </a:extLst>
          </p:cNvPr>
          <p:cNvSpPr/>
          <p:nvPr/>
        </p:nvSpPr>
        <p:spPr>
          <a:xfrm>
            <a:off x="7344794" y="4029213"/>
            <a:ext cx="2227553" cy="2839557"/>
          </a:xfrm>
          <a:custGeom>
            <a:avLst/>
            <a:gdLst>
              <a:gd name="csX0" fmla="*/ 0 w 2227553"/>
              <a:gd name="csY0" fmla="*/ 0 h 2839557"/>
              <a:gd name="csX1" fmla="*/ 534613 w 2227553"/>
              <a:gd name="csY1" fmla="*/ 0 h 2839557"/>
              <a:gd name="csX2" fmla="*/ 1024674 w 2227553"/>
              <a:gd name="csY2" fmla="*/ 0 h 2839557"/>
              <a:gd name="csX3" fmla="*/ 1626114 w 2227553"/>
              <a:gd name="csY3" fmla="*/ 0 h 2839557"/>
              <a:gd name="csX4" fmla="*/ 2227553 w 2227553"/>
              <a:gd name="csY4" fmla="*/ 0 h 2839557"/>
              <a:gd name="csX5" fmla="*/ 2227553 w 2227553"/>
              <a:gd name="csY5" fmla="*/ 539516 h 2839557"/>
              <a:gd name="csX6" fmla="*/ 2227553 w 2227553"/>
              <a:gd name="csY6" fmla="*/ 1050636 h 2839557"/>
              <a:gd name="csX7" fmla="*/ 2227553 w 2227553"/>
              <a:gd name="csY7" fmla="*/ 1618547 h 2839557"/>
              <a:gd name="csX8" fmla="*/ 2227553 w 2227553"/>
              <a:gd name="csY8" fmla="*/ 2186459 h 2839557"/>
              <a:gd name="csX9" fmla="*/ 2227553 w 2227553"/>
              <a:gd name="csY9" fmla="*/ 2839557 h 2839557"/>
              <a:gd name="csX10" fmla="*/ 1715216 w 2227553"/>
              <a:gd name="csY10" fmla="*/ 2839557 h 2839557"/>
              <a:gd name="csX11" fmla="*/ 1158328 w 2227553"/>
              <a:gd name="csY11" fmla="*/ 2839557 h 2839557"/>
              <a:gd name="csX12" fmla="*/ 623715 w 2227553"/>
              <a:gd name="csY12" fmla="*/ 2839557 h 2839557"/>
              <a:gd name="csX13" fmla="*/ 0 w 2227553"/>
              <a:gd name="csY13" fmla="*/ 2839557 h 2839557"/>
              <a:gd name="csX14" fmla="*/ 0 w 2227553"/>
              <a:gd name="csY14" fmla="*/ 2214854 h 2839557"/>
              <a:gd name="csX15" fmla="*/ 0 w 2227553"/>
              <a:gd name="csY15" fmla="*/ 1590152 h 2839557"/>
              <a:gd name="csX16" fmla="*/ 0 w 2227553"/>
              <a:gd name="csY16" fmla="*/ 1022241 h 2839557"/>
              <a:gd name="csX17" fmla="*/ 0 w 2227553"/>
              <a:gd name="csY17" fmla="*/ 0 h 28395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227553" h="2839557" extrusionOk="0">
                <a:moveTo>
                  <a:pt x="0" y="0"/>
                </a:moveTo>
                <a:cubicBezTo>
                  <a:pt x="221431" y="-62832"/>
                  <a:pt x="329678" y="10018"/>
                  <a:pt x="534613" y="0"/>
                </a:cubicBezTo>
                <a:cubicBezTo>
                  <a:pt x="739548" y="-10018"/>
                  <a:pt x="886006" y="42524"/>
                  <a:pt x="1024674" y="0"/>
                </a:cubicBezTo>
                <a:cubicBezTo>
                  <a:pt x="1163342" y="-42524"/>
                  <a:pt x="1427655" y="24082"/>
                  <a:pt x="1626114" y="0"/>
                </a:cubicBezTo>
                <a:cubicBezTo>
                  <a:pt x="1824573" y="-24082"/>
                  <a:pt x="2087273" y="8256"/>
                  <a:pt x="2227553" y="0"/>
                </a:cubicBezTo>
                <a:cubicBezTo>
                  <a:pt x="2285797" y="175325"/>
                  <a:pt x="2224512" y="317180"/>
                  <a:pt x="2227553" y="539516"/>
                </a:cubicBezTo>
                <a:cubicBezTo>
                  <a:pt x="2230594" y="761852"/>
                  <a:pt x="2220830" y="797413"/>
                  <a:pt x="2227553" y="1050636"/>
                </a:cubicBezTo>
                <a:cubicBezTo>
                  <a:pt x="2234276" y="1303859"/>
                  <a:pt x="2182203" y="1378031"/>
                  <a:pt x="2227553" y="1618547"/>
                </a:cubicBezTo>
                <a:cubicBezTo>
                  <a:pt x="2272903" y="1859063"/>
                  <a:pt x="2170648" y="1990372"/>
                  <a:pt x="2227553" y="2186459"/>
                </a:cubicBezTo>
                <a:cubicBezTo>
                  <a:pt x="2284458" y="2382546"/>
                  <a:pt x="2201625" y="2620316"/>
                  <a:pt x="2227553" y="2839557"/>
                </a:cubicBezTo>
                <a:cubicBezTo>
                  <a:pt x="2054691" y="2878615"/>
                  <a:pt x="1901716" y="2836777"/>
                  <a:pt x="1715216" y="2839557"/>
                </a:cubicBezTo>
                <a:cubicBezTo>
                  <a:pt x="1528716" y="2842337"/>
                  <a:pt x="1274158" y="2809981"/>
                  <a:pt x="1158328" y="2839557"/>
                </a:cubicBezTo>
                <a:cubicBezTo>
                  <a:pt x="1042498" y="2869133"/>
                  <a:pt x="736832" y="2778375"/>
                  <a:pt x="623715" y="2839557"/>
                </a:cubicBezTo>
                <a:cubicBezTo>
                  <a:pt x="510598" y="2900739"/>
                  <a:pt x="150662" y="2806571"/>
                  <a:pt x="0" y="2839557"/>
                </a:cubicBezTo>
                <a:cubicBezTo>
                  <a:pt x="-65204" y="2642671"/>
                  <a:pt x="3946" y="2422805"/>
                  <a:pt x="0" y="2214854"/>
                </a:cubicBezTo>
                <a:cubicBezTo>
                  <a:pt x="-3946" y="2006903"/>
                  <a:pt x="42526" y="1763041"/>
                  <a:pt x="0" y="1590152"/>
                </a:cubicBezTo>
                <a:cubicBezTo>
                  <a:pt x="-42526" y="1417263"/>
                  <a:pt x="10432" y="1269390"/>
                  <a:pt x="0" y="1022241"/>
                </a:cubicBezTo>
                <a:cubicBezTo>
                  <a:pt x="-10432" y="775092"/>
                  <a:pt x="103209" y="243524"/>
                  <a:pt x="0" y="0"/>
                </a:cubicBezTo>
                <a:close/>
              </a:path>
            </a:pathLst>
          </a:custGeom>
          <a:noFill/>
          <a:ln w="28575">
            <a:prstDash val="sysDot"/>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9" name="Straight Arrow Connector 98">
            <a:extLst>
              <a:ext uri="{FF2B5EF4-FFF2-40B4-BE49-F238E27FC236}">
                <a16:creationId xmlns:a16="http://schemas.microsoft.com/office/drawing/2014/main" id="{D4A54297-7F8A-8A55-4540-3A153ABD541C}"/>
              </a:ext>
            </a:extLst>
          </p:cNvPr>
          <p:cNvCxnSpPr>
            <a:cxnSpLocks/>
            <a:stCxn id="104" idx="1"/>
          </p:cNvCxnSpPr>
          <p:nvPr/>
        </p:nvCxnSpPr>
        <p:spPr>
          <a:xfrm>
            <a:off x="10730784" y="6034082"/>
            <a:ext cx="91690" cy="243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F377AB79-FF2D-637E-1C37-A573BDFBB8F3}"/>
              </a:ext>
            </a:extLst>
          </p:cNvPr>
          <p:cNvSpPr txBox="1"/>
          <p:nvPr/>
        </p:nvSpPr>
        <p:spPr>
          <a:xfrm rot="1827048">
            <a:off x="6515789" y="5847038"/>
            <a:ext cx="1716514" cy="261610"/>
          </a:xfrm>
          <a:prstGeom prst="rect">
            <a:avLst/>
          </a:prstGeom>
          <a:noFill/>
        </p:spPr>
        <p:txBody>
          <a:bodyPr wrap="square" rtlCol="0">
            <a:spAutoFit/>
          </a:bodyPr>
          <a:lstStyle/>
          <a:p>
            <a:r>
              <a:rPr lang="en-US" sz="1100" dirty="0"/>
              <a:t>Best Match</a:t>
            </a:r>
            <a:endParaRPr lang="en-IN" sz="1100" dirty="0"/>
          </a:p>
        </p:txBody>
      </p:sp>
      <p:sp>
        <p:nvSpPr>
          <p:cNvPr id="104" name="TextBox 103">
            <a:extLst>
              <a:ext uri="{FF2B5EF4-FFF2-40B4-BE49-F238E27FC236}">
                <a16:creationId xmlns:a16="http://schemas.microsoft.com/office/drawing/2014/main" id="{B5A32667-AC04-CC77-6BC8-8EAEA1353162}"/>
              </a:ext>
            </a:extLst>
          </p:cNvPr>
          <p:cNvSpPr txBox="1"/>
          <p:nvPr/>
        </p:nvSpPr>
        <p:spPr>
          <a:xfrm>
            <a:off x="10730784" y="5895582"/>
            <a:ext cx="1716514" cy="276999"/>
          </a:xfrm>
          <a:prstGeom prst="rect">
            <a:avLst/>
          </a:prstGeom>
          <a:noFill/>
        </p:spPr>
        <p:txBody>
          <a:bodyPr wrap="square" rtlCol="0">
            <a:spAutoFit/>
          </a:bodyPr>
          <a:lstStyle/>
          <a:p>
            <a:r>
              <a:rPr lang="en-US" sz="1200" dirty="0"/>
              <a:t>Predicted Forecast</a:t>
            </a:r>
            <a:endParaRPr lang="en-IN" sz="1200" dirty="0"/>
          </a:p>
        </p:txBody>
      </p:sp>
      <p:sp>
        <p:nvSpPr>
          <p:cNvPr id="105" name="Oval 104">
            <a:extLst>
              <a:ext uri="{FF2B5EF4-FFF2-40B4-BE49-F238E27FC236}">
                <a16:creationId xmlns:a16="http://schemas.microsoft.com/office/drawing/2014/main" id="{DE70981A-EFAB-BB92-843E-069B195C4ED8}"/>
              </a:ext>
            </a:extLst>
          </p:cNvPr>
          <p:cNvSpPr/>
          <p:nvPr/>
        </p:nvSpPr>
        <p:spPr>
          <a:xfrm>
            <a:off x="9471630" y="5792209"/>
            <a:ext cx="1242759" cy="483744"/>
          </a:xfrm>
          <a:custGeom>
            <a:avLst/>
            <a:gdLst>
              <a:gd name="csX0" fmla="*/ 0 w 1242759"/>
              <a:gd name="csY0" fmla="*/ 241872 h 483744"/>
              <a:gd name="csX1" fmla="*/ 621380 w 1242759"/>
              <a:gd name="csY1" fmla="*/ 0 h 483744"/>
              <a:gd name="csX2" fmla="*/ 1242760 w 1242759"/>
              <a:gd name="csY2" fmla="*/ 241872 h 483744"/>
              <a:gd name="csX3" fmla="*/ 621380 w 1242759"/>
              <a:gd name="csY3" fmla="*/ 483744 h 483744"/>
              <a:gd name="csX4" fmla="*/ 0 w 1242759"/>
              <a:gd name="csY4" fmla="*/ 241872 h 483744"/>
            </a:gdLst>
            <a:ahLst/>
            <a:cxnLst>
              <a:cxn ang="0">
                <a:pos x="csX0" y="csY0"/>
              </a:cxn>
              <a:cxn ang="0">
                <a:pos x="csX1" y="csY1"/>
              </a:cxn>
              <a:cxn ang="0">
                <a:pos x="csX2" y="csY2"/>
              </a:cxn>
              <a:cxn ang="0">
                <a:pos x="csX3" y="csY3"/>
              </a:cxn>
              <a:cxn ang="0">
                <a:pos x="csX4" y="csY4"/>
              </a:cxn>
            </a:cxnLst>
            <a:rect l="l" t="t" r="r" b="b"/>
            <a:pathLst>
              <a:path w="1242759" h="483744" extrusionOk="0">
                <a:moveTo>
                  <a:pt x="0" y="241872"/>
                </a:moveTo>
                <a:cubicBezTo>
                  <a:pt x="-6046" y="104561"/>
                  <a:pt x="252244" y="9742"/>
                  <a:pt x="621380" y="0"/>
                </a:cubicBezTo>
                <a:cubicBezTo>
                  <a:pt x="1000466" y="7559"/>
                  <a:pt x="1225012" y="108854"/>
                  <a:pt x="1242760" y="241872"/>
                </a:cubicBezTo>
                <a:cubicBezTo>
                  <a:pt x="1224739" y="393053"/>
                  <a:pt x="951735" y="554625"/>
                  <a:pt x="621380" y="483744"/>
                </a:cubicBezTo>
                <a:cubicBezTo>
                  <a:pt x="248775" y="467644"/>
                  <a:pt x="22703" y="386302"/>
                  <a:pt x="0" y="241872"/>
                </a:cubicBezTo>
                <a:close/>
              </a:path>
            </a:pathLst>
          </a:custGeom>
          <a:noFill/>
          <a:ln>
            <a:prstDash val="dash"/>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4" name="Audio 33">
            <a:hlinkClick r:id="" action="ppaction://media"/>
            <a:extLst>
              <a:ext uri="{FF2B5EF4-FFF2-40B4-BE49-F238E27FC236}">
                <a16:creationId xmlns:a16="http://schemas.microsoft.com/office/drawing/2014/main" id="{F83F5459-07BB-4D73-DC98-6A5DC3168E29}"/>
              </a:ext>
            </a:extLst>
          </p:cNvPr>
          <p:cNvPicPr>
            <a:picLocks noChangeAspect="1"/>
          </p:cNvPicPr>
          <p:nvPr>
            <a:audioFile r:link="rId2"/>
            <p:extLst>
              <p:ext uri="{DAA4B4D4-6D71-4841-9C94-3DE7FCFB9230}">
                <p14:media xmlns:p14="http://schemas.microsoft.com/office/powerpoint/2010/main" r:embed="rId1"/>
              </p:ext>
            </p:extLst>
          </p:nvPr>
        </p:nvPicPr>
        <p:blipFill>
          <a:blip r:embed="rId10"/>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027020716"/>
      </p:ext>
    </p:extLst>
  </p:cSld>
  <p:clrMapOvr>
    <a:masterClrMapping/>
  </p:clrMapOvr>
  <mc:AlternateContent xmlns:mc="http://schemas.openxmlformats.org/markup-compatibility/2006">
    <mc:Choice xmlns:p14="http://schemas.microsoft.com/office/powerpoint/2010/main" Requires="p14">
      <p:transition spd="slow" p14:dur="2000" advTm="64685"/>
    </mc:Choice>
    <mc:Fallback>
      <p:transition spd="slow" advTm="646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39DB1E-3B2B-804A-2175-0899B07E4B32}"/>
              </a:ext>
            </a:extLst>
          </p:cNvPr>
          <p:cNvSpPr>
            <a:spLocks noGrp="1"/>
          </p:cNvSpPr>
          <p:nvPr>
            <p:ph idx="1"/>
          </p:nvPr>
        </p:nvSpPr>
        <p:spPr>
          <a:xfrm>
            <a:off x="159773" y="727023"/>
            <a:ext cx="11904407" cy="4513572"/>
          </a:xfrm>
        </p:spPr>
        <p:txBody>
          <a:bodyPr>
            <a:normAutofit/>
          </a:bodyPr>
          <a:lstStyle/>
          <a:p>
            <a:pPr marL="0" indent="0">
              <a:buNone/>
            </a:pPr>
            <a:r>
              <a:rPr lang="en-IN" sz="2400" b="1" dirty="0">
                <a:solidFill>
                  <a:schemeClr val="tx2">
                    <a:lumMod val="90000"/>
                    <a:lumOff val="10000"/>
                  </a:schemeClr>
                </a:solidFill>
              </a:rPr>
              <a:t>Uncertainty quantification from joint samples</a:t>
            </a:r>
          </a:p>
          <a:p>
            <a:pPr marL="0" indent="0">
              <a:buNone/>
            </a:pPr>
            <a:r>
              <a:rPr lang="en-US" sz="2000" dirty="0"/>
              <a:t>In chaotic systems, the model will eventually lose track of the truth, and we need some metrics tell us </a:t>
            </a:r>
            <a:r>
              <a:rPr lang="en-US" sz="2000" b="1" dirty="0"/>
              <a:t>exactly when and why</a:t>
            </a:r>
            <a:r>
              <a:rPr lang="en-US" sz="2000" dirty="0"/>
              <a:t> that is happening without us needing to know the actual future.</a:t>
            </a:r>
          </a:p>
          <a:p>
            <a:pPr marL="0" indent="0">
              <a:buNone/>
            </a:pPr>
            <a:r>
              <a:rPr lang="en-IN" sz="2000" b="1" dirty="0">
                <a:solidFill>
                  <a:schemeClr val="accent6">
                    <a:lumMod val="50000"/>
                  </a:schemeClr>
                </a:solidFill>
              </a:rPr>
              <a:t>"Top-k" Selection</a:t>
            </a:r>
          </a:p>
        </p:txBody>
      </p:sp>
      <p:sp>
        <p:nvSpPr>
          <p:cNvPr id="4" name="Title 1">
            <a:extLst>
              <a:ext uri="{FF2B5EF4-FFF2-40B4-BE49-F238E27FC236}">
                <a16:creationId xmlns:a16="http://schemas.microsoft.com/office/drawing/2014/main" id="{7C680636-55D5-FF88-88D7-D120EFEE58EB}"/>
              </a:ext>
            </a:extLst>
          </p:cNvPr>
          <p:cNvSpPr txBox="1">
            <a:spLocks/>
          </p:cNvSpPr>
          <p:nvPr/>
        </p:nvSpPr>
        <p:spPr>
          <a:xfrm>
            <a:off x="0" y="73490"/>
            <a:ext cx="12192000" cy="607547"/>
          </a:xfrm>
          <a:prstGeom prst="rect">
            <a:avLst/>
          </a:prstGeom>
          <a:solidFill>
            <a:schemeClr val="accent1">
              <a:lumMod val="20000"/>
              <a:lumOff val="80000"/>
            </a:schemeClr>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Generative Forecasting using </a:t>
            </a:r>
            <a:r>
              <a:rPr lang="en-US" b="1" dirty="0">
                <a:solidFill>
                  <a:schemeClr val="accent6">
                    <a:lumMod val="50000"/>
                  </a:schemeClr>
                </a:solidFill>
              </a:rPr>
              <a:t>Joint</a:t>
            </a:r>
            <a:r>
              <a:rPr lang="en-US" dirty="0"/>
              <a:t> Probability Models</a:t>
            </a:r>
            <a:endParaRPr lang="en-IN" dirty="0"/>
          </a:p>
        </p:txBody>
      </p:sp>
      <p:cxnSp>
        <p:nvCxnSpPr>
          <p:cNvPr id="7" name="Straight Connector 6">
            <a:extLst>
              <a:ext uri="{FF2B5EF4-FFF2-40B4-BE49-F238E27FC236}">
                <a16:creationId xmlns:a16="http://schemas.microsoft.com/office/drawing/2014/main" id="{884B1594-48E7-5223-D3FA-312A62AC2A26}"/>
              </a:ext>
            </a:extLst>
          </p:cNvPr>
          <p:cNvCxnSpPr/>
          <p:nvPr/>
        </p:nvCxnSpPr>
        <p:spPr>
          <a:xfrm>
            <a:off x="0" y="1799303"/>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55AAB92-F067-4719-EF0B-4F204B408D85}"/>
              </a:ext>
            </a:extLst>
          </p:cNvPr>
          <p:cNvCxnSpPr/>
          <p:nvPr/>
        </p:nvCxnSpPr>
        <p:spPr>
          <a:xfrm>
            <a:off x="3372465" y="2103822"/>
            <a:ext cx="0" cy="2839564"/>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BA30280-0A60-C9B6-0172-6F5361D8B645}"/>
              </a:ext>
            </a:extLst>
          </p:cNvPr>
          <p:cNvSpPr txBox="1"/>
          <p:nvPr/>
        </p:nvSpPr>
        <p:spPr>
          <a:xfrm>
            <a:off x="273167" y="2555076"/>
            <a:ext cx="2848572" cy="646331"/>
          </a:xfrm>
          <a:prstGeom prst="rect">
            <a:avLst/>
          </a:prstGeom>
          <a:noFill/>
        </p:spPr>
        <p:txBody>
          <a:bodyPr wrap="square" rtlCol="0">
            <a:spAutoFit/>
          </a:bodyPr>
          <a:lstStyle/>
          <a:p>
            <a:r>
              <a:rPr lang="en-US" dirty="0"/>
              <a:t>Generative Model provide us with samples</a:t>
            </a:r>
            <a:endParaRPr lang="en-IN" dirty="0"/>
          </a:p>
        </p:txBody>
      </p:sp>
      <p:cxnSp>
        <p:nvCxnSpPr>
          <p:cNvPr id="14" name="Straight Arrow Connector 13">
            <a:extLst>
              <a:ext uri="{FF2B5EF4-FFF2-40B4-BE49-F238E27FC236}">
                <a16:creationId xmlns:a16="http://schemas.microsoft.com/office/drawing/2014/main" id="{4FA4A9FB-0D2F-65AA-1B1D-2A0274990053}"/>
              </a:ext>
            </a:extLst>
          </p:cNvPr>
          <p:cNvCxnSpPr>
            <a:cxnSpLocks/>
          </p:cNvCxnSpPr>
          <p:nvPr/>
        </p:nvCxnSpPr>
        <p:spPr>
          <a:xfrm>
            <a:off x="1537549" y="3464211"/>
            <a:ext cx="0" cy="7492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BE73801-4704-3A87-CD10-0900EFE7BCFE}"/>
              </a:ext>
            </a:extLst>
          </p:cNvPr>
          <p:cNvSpPr txBox="1"/>
          <p:nvPr/>
        </p:nvSpPr>
        <p:spPr>
          <a:xfrm>
            <a:off x="1528526" y="3564872"/>
            <a:ext cx="1329115" cy="369332"/>
          </a:xfrm>
          <a:prstGeom prst="rect">
            <a:avLst/>
          </a:prstGeom>
          <a:noFill/>
        </p:spPr>
        <p:txBody>
          <a:bodyPr wrap="square" rtlCol="0">
            <a:spAutoFit/>
          </a:bodyPr>
          <a:lstStyle/>
          <a:p>
            <a:r>
              <a:rPr lang="en-US" dirty="0"/>
              <a:t>Sampling</a:t>
            </a:r>
            <a:endParaRPr lang="en-IN" dirty="0"/>
          </a:p>
        </p:txBody>
      </p:sp>
      <p:sp>
        <p:nvSpPr>
          <p:cNvPr id="16" name="Rectangle 15">
            <a:extLst>
              <a:ext uri="{FF2B5EF4-FFF2-40B4-BE49-F238E27FC236}">
                <a16:creationId xmlns:a16="http://schemas.microsoft.com/office/drawing/2014/main" id="{BAD66CA8-FF87-DCE8-8537-747140E2DE26}"/>
              </a:ext>
            </a:extLst>
          </p:cNvPr>
          <p:cNvSpPr/>
          <p:nvPr/>
        </p:nvSpPr>
        <p:spPr>
          <a:xfrm>
            <a:off x="1219575" y="4265729"/>
            <a:ext cx="635949" cy="5608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2">
                    <a:lumMod val="90000"/>
                    <a:lumOff val="10000"/>
                  </a:schemeClr>
                </a:solidFill>
              </a:rPr>
              <a:t>Day 1</a:t>
            </a:r>
            <a:br>
              <a:rPr lang="en-US" sz="1100" dirty="0">
                <a:solidFill>
                  <a:schemeClr val="tx2">
                    <a:lumMod val="90000"/>
                    <a:lumOff val="10000"/>
                  </a:schemeClr>
                </a:solidFill>
              </a:rPr>
            </a:br>
            <a:r>
              <a:rPr lang="en-US" sz="1100" dirty="0">
                <a:solidFill>
                  <a:schemeClr val="tx2">
                    <a:lumMod val="90000"/>
                    <a:lumOff val="10000"/>
                  </a:schemeClr>
                </a:solidFill>
              </a:rPr>
              <a:t>Day 2</a:t>
            </a:r>
            <a:br>
              <a:rPr lang="en-US" sz="1100" dirty="0">
                <a:solidFill>
                  <a:schemeClr val="tx2">
                    <a:lumMod val="90000"/>
                    <a:lumOff val="10000"/>
                  </a:schemeClr>
                </a:solidFill>
              </a:rPr>
            </a:br>
            <a:r>
              <a:rPr lang="en-US" sz="1100" dirty="0">
                <a:solidFill>
                  <a:schemeClr val="tx2">
                    <a:lumMod val="90000"/>
                    <a:lumOff val="10000"/>
                  </a:schemeClr>
                </a:solidFill>
              </a:rPr>
              <a:t>Day 2</a:t>
            </a:r>
            <a:endParaRPr lang="en-IN" sz="1100" dirty="0">
              <a:solidFill>
                <a:schemeClr val="tx2">
                  <a:lumMod val="90000"/>
                  <a:lumOff val="10000"/>
                </a:schemeClr>
              </a:solidFill>
            </a:endParaRPr>
          </a:p>
        </p:txBody>
      </p:sp>
      <p:graphicFrame>
        <p:nvGraphicFramePr>
          <p:cNvPr id="17" name="Table 16">
            <a:extLst>
              <a:ext uri="{FF2B5EF4-FFF2-40B4-BE49-F238E27FC236}">
                <a16:creationId xmlns:a16="http://schemas.microsoft.com/office/drawing/2014/main" id="{1C85CDFA-4197-2981-98C9-B78595E59EC0}"/>
              </a:ext>
            </a:extLst>
          </p:cNvPr>
          <p:cNvGraphicFramePr>
            <a:graphicFrameLocks noGrp="1"/>
          </p:cNvGraphicFramePr>
          <p:nvPr>
            <p:extLst>
              <p:ext uri="{D42A27DB-BD31-4B8C-83A1-F6EECF244321}">
                <p14:modId xmlns:p14="http://schemas.microsoft.com/office/powerpoint/2010/main" val="3012915320"/>
              </p:ext>
            </p:extLst>
          </p:nvPr>
        </p:nvGraphicFramePr>
        <p:xfrm>
          <a:off x="3521704" y="2219041"/>
          <a:ext cx="3308421" cy="370840"/>
        </p:xfrm>
        <a:graphic>
          <a:graphicData uri="http://schemas.openxmlformats.org/drawingml/2006/table">
            <a:tbl>
              <a:tblPr firstRow="1" bandRow="1">
                <a:tableStyleId>{5C22544A-7EE6-4342-B048-85BDC9FD1C3A}</a:tableStyleId>
              </a:tblPr>
              <a:tblGrid>
                <a:gridCol w="1102808">
                  <a:extLst>
                    <a:ext uri="{9D8B030D-6E8A-4147-A177-3AD203B41FA5}">
                      <a16:colId xmlns:a16="http://schemas.microsoft.com/office/drawing/2014/main" val="2102312840"/>
                    </a:ext>
                  </a:extLst>
                </a:gridCol>
                <a:gridCol w="889278">
                  <a:extLst>
                    <a:ext uri="{9D8B030D-6E8A-4147-A177-3AD203B41FA5}">
                      <a16:colId xmlns:a16="http://schemas.microsoft.com/office/drawing/2014/main" val="1181155727"/>
                    </a:ext>
                  </a:extLst>
                </a:gridCol>
                <a:gridCol w="1316335">
                  <a:extLst>
                    <a:ext uri="{9D8B030D-6E8A-4147-A177-3AD203B41FA5}">
                      <a16:colId xmlns:a16="http://schemas.microsoft.com/office/drawing/2014/main" val="3320317631"/>
                    </a:ext>
                  </a:extLst>
                </a:gridCol>
              </a:tblGrid>
              <a:tr h="370840">
                <a:tc>
                  <a:txBody>
                    <a:bodyPr/>
                    <a:lstStyle/>
                    <a:p>
                      <a:pPr algn="ctr"/>
                      <a:r>
                        <a:rPr lang="en-US" b="0" dirty="0">
                          <a:solidFill>
                            <a:schemeClr val="tx2">
                              <a:lumMod val="90000"/>
                              <a:lumOff val="10000"/>
                            </a:schemeClr>
                          </a:solidFill>
                        </a:rPr>
                        <a:t>Thursday</a:t>
                      </a:r>
                      <a:endParaRPr lang="en-IN" b="0" dirty="0">
                        <a:solidFill>
                          <a:schemeClr val="tx2">
                            <a:lumMod val="90000"/>
                            <a:lumOff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2">
                              <a:lumMod val="90000"/>
                              <a:lumOff val="10000"/>
                            </a:schemeClr>
                          </a:solidFill>
                        </a:rPr>
                        <a:t>Friday</a:t>
                      </a:r>
                      <a:endParaRPr lang="en-IN" b="0" dirty="0">
                        <a:solidFill>
                          <a:schemeClr val="tx2">
                            <a:lumMod val="90000"/>
                            <a:lumOff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dirty="0">
                          <a:solidFill>
                            <a:schemeClr val="tx2">
                              <a:lumMod val="90000"/>
                              <a:lumOff val="10000"/>
                            </a:schemeClr>
                          </a:solidFill>
                        </a:rPr>
                        <a:t>Saturday</a:t>
                      </a:r>
                      <a:endParaRPr lang="en-IN" b="0" dirty="0">
                        <a:solidFill>
                          <a:schemeClr val="tx2">
                            <a:lumMod val="90000"/>
                            <a:lumOff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25372040"/>
                  </a:ext>
                </a:extLst>
              </a:tr>
            </a:tbl>
          </a:graphicData>
        </a:graphic>
      </p:graphicFrame>
      <p:cxnSp>
        <p:nvCxnSpPr>
          <p:cNvPr id="18" name="Straight Arrow Connector 17">
            <a:extLst>
              <a:ext uri="{FF2B5EF4-FFF2-40B4-BE49-F238E27FC236}">
                <a16:creationId xmlns:a16="http://schemas.microsoft.com/office/drawing/2014/main" id="{42E09C8E-C61D-0F7D-FCCE-EEA5EB847843}"/>
              </a:ext>
            </a:extLst>
          </p:cNvPr>
          <p:cNvCxnSpPr>
            <a:cxnSpLocks/>
            <a:endCxn id="17" idx="3"/>
          </p:cNvCxnSpPr>
          <p:nvPr/>
        </p:nvCxnSpPr>
        <p:spPr>
          <a:xfrm flipH="1">
            <a:off x="6830125" y="2404461"/>
            <a:ext cx="7505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D333577-C6D0-F2BC-748E-100B293CD9D4}"/>
              </a:ext>
            </a:extLst>
          </p:cNvPr>
          <p:cNvSpPr txBox="1"/>
          <p:nvPr/>
        </p:nvSpPr>
        <p:spPr>
          <a:xfrm>
            <a:off x="7539910" y="2222656"/>
            <a:ext cx="1716514" cy="369332"/>
          </a:xfrm>
          <a:prstGeom prst="rect">
            <a:avLst/>
          </a:prstGeom>
          <a:noFill/>
        </p:spPr>
        <p:txBody>
          <a:bodyPr wrap="square" rtlCol="0">
            <a:spAutoFit/>
          </a:bodyPr>
          <a:lstStyle/>
          <a:p>
            <a:r>
              <a:rPr lang="en-US" dirty="0"/>
              <a:t>Ground Turth</a:t>
            </a:r>
            <a:endParaRPr lang="en-IN" dirty="0"/>
          </a:p>
        </p:txBody>
      </p:sp>
      <p:graphicFrame>
        <p:nvGraphicFramePr>
          <p:cNvPr id="20" name="Table 19">
            <a:extLst>
              <a:ext uri="{FF2B5EF4-FFF2-40B4-BE49-F238E27FC236}">
                <a16:creationId xmlns:a16="http://schemas.microsoft.com/office/drawing/2014/main" id="{928BAD28-A5F1-337C-C445-5488BCA087C9}"/>
              </a:ext>
            </a:extLst>
          </p:cNvPr>
          <p:cNvGraphicFramePr>
            <a:graphicFrameLocks noGrp="1"/>
          </p:cNvGraphicFramePr>
          <p:nvPr>
            <p:extLst>
              <p:ext uri="{D42A27DB-BD31-4B8C-83A1-F6EECF244321}">
                <p14:modId xmlns:p14="http://schemas.microsoft.com/office/powerpoint/2010/main" val="640717386"/>
              </p:ext>
            </p:extLst>
          </p:nvPr>
        </p:nvGraphicFramePr>
        <p:xfrm>
          <a:off x="4609214" y="2670290"/>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25372040"/>
                  </a:ext>
                </a:extLst>
              </a:tr>
            </a:tbl>
          </a:graphicData>
        </a:graphic>
      </p:graphicFrame>
      <p:graphicFrame>
        <p:nvGraphicFramePr>
          <p:cNvPr id="21" name="Table 20">
            <a:extLst>
              <a:ext uri="{FF2B5EF4-FFF2-40B4-BE49-F238E27FC236}">
                <a16:creationId xmlns:a16="http://schemas.microsoft.com/office/drawing/2014/main" id="{0EBD4991-4CE0-8D1A-3069-ABB40A6FA4BC}"/>
              </a:ext>
            </a:extLst>
          </p:cNvPr>
          <p:cNvGraphicFramePr>
            <a:graphicFrameLocks noGrp="1"/>
          </p:cNvGraphicFramePr>
          <p:nvPr>
            <p:extLst>
              <p:ext uri="{D42A27DB-BD31-4B8C-83A1-F6EECF244321}">
                <p14:modId xmlns:p14="http://schemas.microsoft.com/office/powerpoint/2010/main" val="3498060701"/>
              </p:ext>
            </p:extLst>
          </p:nvPr>
        </p:nvGraphicFramePr>
        <p:xfrm>
          <a:off x="4609214" y="3015526"/>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625372040"/>
                  </a:ext>
                </a:extLst>
              </a:tr>
            </a:tbl>
          </a:graphicData>
        </a:graphic>
      </p:graphicFrame>
      <p:graphicFrame>
        <p:nvGraphicFramePr>
          <p:cNvPr id="22" name="Table 21">
            <a:extLst>
              <a:ext uri="{FF2B5EF4-FFF2-40B4-BE49-F238E27FC236}">
                <a16:creationId xmlns:a16="http://schemas.microsoft.com/office/drawing/2014/main" id="{FEAF8279-FBAF-767A-C4DA-B69F48DF57A7}"/>
              </a:ext>
            </a:extLst>
          </p:cNvPr>
          <p:cNvGraphicFramePr>
            <a:graphicFrameLocks noGrp="1"/>
          </p:cNvGraphicFramePr>
          <p:nvPr>
            <p:extLst>
              <p:ext uri="{D42A27DB-BD31-4B8C-83A1-F6EECF244321}">
                <p14:modId xmlns:p14="http://schemas.microsoft.com/office/powerpoint/2010/main" val="1746669078"/>
              </p:ext>
            </p:extLst>
          </p:nvPr>
        </p:nvGraphicFramePr>
        <p:xfrm>
          <a:off x="4609214" y="3356099"/>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25372040"/>
                  </a:ext>
                </a:extLst>
              </a:tr>
            </a:tbl>
          </a:graphicData>
        </a:graphic>
      </p:graphicFrame>
      <p:graphicFrame>
        <p:nvGraphicFramePr>
          <p:cNvPr id="23" name="Table 22">
            <a:extLst>
              <a:ext uri="{FF2B5EF4-FFF2-40B4-BE49-F238E27FC236}">
                <a16:creationId xmlns:a16="http://schemas.microsoft.com/office/drawing/2014/main" id="{2FA8A9DD-F8EB-DA96-B5D1-88AF506AC283}"/>
              </a:ext>
            </a:extLst>
          </p:cNvPr>
          <p:cNvGraphicFramePr>
            <a:graphicFrameLocks noGrp="1"/>
          </p:cNvGraphicFramePr>
          <p:nvPr>
            <p:extLst>
              <p:ext uri="{D42A27DB-BD31-4B8C-83A1-F6EECF244321}">
                <p14:modId xmlns:p14="http://schemas.microsoft.com/office/powerpoint/2010/main" val="761546374"/>
              </p:ext>
            </p:extLst>
          </p:nvPr>
        </p:nvGraphicFramePr>
        <p:xfrm>
          <a:off x="4609214" y="3683403"/>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25372040"/>
                  </a:ext>
                </a:extLst>
              </a:tr>
            </a:tbl>
          </a:graphicData>
        </a:graphic>
      </p:graphicFrame>
      <p:graphicFrame>
        <p:nvGraphicFramePr>
          <p:cNvPr id="24" name="Table 23">
            <a:extLst>
              <a:ext uri="{FF2B5EF4-FFF2-40B4-BE49-F238E27FC236}">
                <a16:creationId xmlns:a16="http://schemas.microsoft.com/office/drawing/2014/main" id="{600BD6DF-AB78-D5C3-4F45-AE21E9C777B2}"/>
              </a:ext>
            </a:extLst>
          </p:cNvPr>
          <p:cNvGraphicFramePr>
            <a:graphicFrameLocks noGrp="1"/>
          </p:cNvGraphicFramePr>
          <p:nvPr>
            <p:extLst>
              <p:ext uri="{D42A27DB-BD31-4B8C-83A1-F6EECF244321}">
                <p14:modId xmlns:p14="http://schemas.microsoft.com/office/powerpoint/2010/main" val="1539664816"/>
              </p:ext>
            </p:extLst>
          </p:nvPr>
        </p:nvGraphicFramePr>
        <p:xfrm>
          <a:off x="4602571" y="3998662"/>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625372040"/>
                  </a:ext>
                </a:extLst>
              </a:tr>
            </a:tbl>
          </a:graphicData>
        </a:graphic>
      </p:graphicFrame>
      <p:graphicFrame>
        <p:nvGraphicFramePr>
          <p:cNvPr id="25" name="Table 24">
            <a:extLst>
              <a:ext uri="{FF2B5EF4-FFF2-40B4-BE49-F238E27FC236}">
                <a16:creationId xmlns:a16="http://schemas.microsoft.com/office/drawing/2014/main" id="{AE788DAF-8F9B-9A5C-5864-015776AE1961}"/>
              </a:ext>
            </a:extLst>
          </p:cNvPr>
          <p:cNvGraphicFramePr>
            <a:graphicFrameLocks noGrp="1"/>
          </p:cNvGraphicFramePr>
          <p:nvPr>
            <p:extLst>
              <p:ext uri="{D42A27DB-BD31-4B8C-83A1-F6EECF244321}">
                <p14:modId xmlns:p14="http://schemas.microsoft.com/office/powerpoint/2010/main" val="1276437781"/>
              </p:ext>
            </p:extLst>
          </p:nvPr>
        </p:nvGraphicFramePr>
        <p:xfrm>
          <a:off x="4609214" y="4627527"/>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625372040"/>
                  </a:ext>
                </a:extLst>
              </a:tr>
            </a:tbl>
          </a:graphicData>
        </a:graphic>
      </p:graphicFrame>
      <p:cxnSp>
        <p:nvCxnSpPr>
          <p:cNvPr id="26" name="Straight Arrow Connector 25">
            <a:extLst>
              <a:ext uri="{FF2B5EF4-FFF2-40B4-BE49-F238E27FC236}">
                <a16:creationId xmlns:a16="http://schemas.microsoft.com/office/drawing/2014/main" id="{7DE69988-3EBA-4C8C-35C6-D0F182A05A10}"/>
              </a:ext>
            </a:extLst>
          </p:cNvPr>
          <p:cNvCxnSpPr>
            <a:endCxn id="20" idx="1"/>
          </p:cNvCxnSpPr>
          <p:nvPr/>
        </p:nvCxnSpPr>
        <p:spPr>
          <a:xfrm flipV="1">
            <a:off x="3121739" y="2807450"/>
            <a:ext cx="1487475" cy="4390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6BFBFB94-F5E4-94F6-6668-6A9B00D2081E}"/>
              </a:ext>
            </a:extLst>
          </p:cNvPr>
          <p:cNvCxnSpPr>
            <a:cxnSpLocks/>
            <a:endCxn id="21" idx="1"/>
          </p:cNvCxnSpPr>
          <p:nvPr/>
        </p:nvCxnSpPr>
        <p:spPr>
          <a:xfrm flipV="1">
            <a:off x="3121739" y="3152686"/>
            <a:ext cx="1487475" cy="93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DD1AE92-32D9-17BC-D6C7-A308FED71583}"/>
              </a:ext>
            </a:extLst>
          </p:cNvPr>
          <p:cNvCxnSpPr>
            <a:cxnSpLocks/>
            <a:endCxn id="22" idx="1"/>
          </p:cNvCxnSpPr>
          <p:nvPr/>
        </p:nvCxnSpPr>
        <p:spPr>
          <a:xfrm>
            <a:off x="3121739" y="3246533"/>
            <a:ext cx="1487475" cy="2467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538E58E2-5B5C-B490-0D0C-B8C69879382F}"/>
              </a:ext>
            </a:extLst>
          </p:cNvPr>
          <p:cNvSpPr/>
          <p:nvPr/>
        </p:nvSpPr>
        <p:spPr>
          <a:xfrm>
            <a:off x="6121400" y="4313466"/>
            <a:ext cx="294632" cy="314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0" name="Picture 29">
            <a:extLst>
              <a:ext uri="{FF2B5EF4-FFF2-40B4-BE49-F238E27FC236}">
                <a16:creationId xmlns:a16="http://schemas.microsoft.com/office/drawing/2014/main" id="{EF4AF5F8-DEAA-5094-E14C-A1B612C63187}"/>
              </a:ext>
            </a:extLst>
          </p:cNvPr>
          <p:cNvPicPr>
            <a:picLocks noChangeAspect="1"/>
          </p:cNvPicPr>
          <p:nvPr/>
        </p:nvPicPr>
        <p:blipFill>
          <a:blip r:embed="rId5"/>
          <a:stretch>
            <a:fillRect/>
          </a:stretch>
        </p:blipFill>
        <p:spPr>
          <a:xfrm>
            <a:off x="6168112" y="4300223"/>
            <a:ext cx="74575" cy="310731"/>
          </a:xfrm>
          <a:prstGeom prst="rect">
            <a:avLst/>
          </a:prstGeom>
        </p:spPr>
      </p:pic>
      <p:cxnSp>
        <p:nvCxnSpPr>
          <p:cNvPr id="31" name="Straight Arrow Connector 30">
            <a:extLst>
              <a:ext uri="{FF2B5EF4-FFF2-40B4-BE49-F238E27FC236}">
                <a16:creationId xmlns:a16="http://schemas.microsoft.com/office/drawing/2014/main" id="{9080393B-2472-7C9F-2CC6-306F81B31713}"/>
              </a:ext>
            </a:extLst>
          </p:cNvPr>
          <p:cNvCxnSpPr>
            <a:cxnSpLocks/>
            <a:endCxn id="23" idx="1"/>
          </p:cNvCxnSpPr>
          <p:nvPr/>
        </p:nvCxnSpPr>
        <p:spPr>
          <a:xfrm>
            <a:off x="3121739" y="3246533"/>
            <a:ext cx="1487475" cy="5740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BFD23FB-B265-BBB3-CE23-0D174A9241FA}"/>
              </a:ext>
            </a:extLst>
          </p:cNvPr>
          <p:cNvCxnSpPr>
            <a:cxnSpLocks/>
            <a:endCxn id="24" idx="1"/>
          </p:cNvCxnSpPr>
          <p:nvPr/>
        </p:nvCxnSpPr>
        <p:spPr>
          <a:xfrm>
            <a:off x="3121739" y="3246533"/>
            <a:ext cx="1480832" cy="88928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3" name="Straight Arrow Connector 32">
            <a:extLst>
              <a:ext uri="{FF2B5EF4-FFF2-40B4-BE49-F238E27FC236}">
                <a16:creationId xmlns:a16="http://schemas.microsoft.com/office/drawing/2014/main" id="{A0FC4A60-2329-66C5-A534-397166A38775}"/>
              </a:ext>
            </a:extLst>
          </p:cNvPr>
          <p:cNvCxnSpPr>
            <a:cxnSpLocks/>
            <a:endCxn id="25" idx="1"/>
          </p:cNvCxnSpPr>
          <p:nvPr/>
        </p:nvCxnSpPr>
        <p:spPr>
          <a:xfrm>
            <a:off x="3121739" y="3246533"/>
            <a:ext cx="1487475" cy="15181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1743BBB5-5F0B-4717-7822-7C99679D6468}"/>
              </a:ext>
            </a:extLst>
          </p:cNvPr>
          <p:cNvSpPr/>
          <p:nvPr/>
        </p:nvSpPr>
        <p:spPr>
          <a:xfrm>
            <a:off x="4601594" y="2114599"/>
            <a:ext cx="2227553" cy="2839557"/>
          </a:xfrm>
          <a:custGeom>
            <a:avLst/>
            <a:gdLst>
              <a:gd name="csX0" fmla="*/ 0 w 2227553"/>
              <a:gd name="csY0" fmla="*/ 0 h 2839557"/>
              <a:gd name="csX1" fmla="*/ 534613 w 2227553"/>
              <a:gd name="csY1" fmla="*/ 0 h 2839557"/>
              <a:gd name="csX2" fmla="*/ 1024674 w 2227553"/>
              <a:gd name="csY2" fmla="*/ 0 h 2839557"/>
              <a:gd name="csX3" fmla="*/ 1626114 w 2227553"/>
              <a:gd name="csY3" fmla="*/ 0 h 2839557"/>
              <a:gd name="csX4" fmla="*/ 2227553 w 2227553"/>
              <a:gd name="csY4" fmla="*/ 0 h 2839557"/>
              <a:gd name="csX5" fmla="*/ 2227553 w 2227553"/>
              <a:gd name="csY5" fmla="*/ 539516 h 2839557"/>
              <a:gd name="csX6" fmla="*/ 2227553 w 2227553"/>
              <a:gd name="csY6" fmla="*/ 1050636 h 2839557"/>
              <a:gd name="csX7" fmla="*/ 2227553 w 2227553"/>
              <a:gd name="csY7" fmla="*/ 1618547 h 2839557"/>
              <a:gd name="csX8" fmla="*/ 2227553 w 2227553"/>
              <a:gd name="csY8" fmla="*/ 2186459 h 2839557"/>
              <a:gd name="csX9" fmla="*/ 2227553 w 2227553"/>
              <a:gd name="csY9" fmla="*/ 2839557 h 2839557"/>
              <a:gd name="csX10" fmla="*/ 1715216 w 2227553"/>
              <a:gd name="csY10" fmla="*/ 2839557 h 2839557"/>
              <a:gd name="csX11" fmla="*/ 1158328 w 2227553"/>
              <a:gd name="csY11" fmla="*/ 2839557 h 2839557"/>
              <a:gd name="csX12" fmla="*/ 623715 w 2227553"/>
              <a:gd name="csY12" fmla="*/ 2839557 h 2839557"/>
              <a:gd name="csX13" fmla="*/ 0 w 2227553"/>
              <a:gd name="csY13" fmla="*/ 2839557 h 2839557"/>
              <a:gd name="csX14" fmla="*/ 0 w 2227553"/>
              <a:gd name="csY14" fmla="*/ 2214854 h 2839557"/>
              <a:gd name="csX15" fmla="*/ 0 w 2227553"/>
              <a:gd name="csY15" fmla="*/ 1590152 h 2839557"/>
              <a:gd name="csX16" fmla="*/ 0 w 2227553"/>
              <a:gd name="csY16" fmla="*/ 1022241 h 2839557"/>
              <a:gd name="csX17" fmla="*/ 0 w 2227553"/>
              <a:gd name="csY17" fmla="*/ 0 h 28395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227553" h="2839557" extrusionOk="0">
                <a:moveTo>
                  <a:pt x="0" y="0"/>
                </a:moveTo>
                <a:cubicBezTo>
                  <a:pt x="221431" y="-62832"/>
                  <a:pt x="329678" y="10018"/>
                  <a:pt x="534613" y="0"/>
                </a:cubicBezTo>
                <a:cubicBezTo>
                  <a:pt x="739548" y="-10018"/>
                  <a:pt x="886006" y="42524"/>
                  <a:pt x="1024674" y="0"/>
                </a:cubicBezTo>
                <a:cubicBezTo>
                  <a:pt x="1163342" y="-42524"/>
                  <a:pt x="1427655" y="24082"/>
                  <a:pt x="1626114" y="0"/>
                </a:cubicBezTo>
                <a:cubicBezTo>
                  <a:pt x="1824573" y="-24082"/>
                  <a:pt x="2087273" y="8256"/>
                  <a:pt x="2227553" y="0"/>
                </a:cubicBezTo>
                <a:cubicBezTo>
                  <a:pt x="2285797" y="175325"/>
                  <a:pt x="2224512" y="317180"/>
                  <a:pt x="2227553" y="539516"/>
                </a:cubicBezTo>
                <a:cubicBezTo>
                  <a:pt x="2230594" y="761852"/>
                  <a:pt x="2220830" y="797413"/>
                  <a:pt x="2227553" y="1050636"/>
                </a:cubicBezTo>
                <a:cubicBezTo>
                  <a:pt x="2234276" y="1303859"/>
                  <a:pt x="2182203" y="1378031"/>
                  <a:pt x="2227553" y="1618547"/>
                </a:cubicBezTo>
                <a:cubicBezTo>
                  <a:pt x="2272903" y="1859063"/>
                  <a:pt x="2170648" y="1990372"/>
                  <a:pt x="2227553" y="2186459"/>
                </a:cubicBezTo>
                <a:cubicBezTo>
                  <a:pt x="2284458" y="2382546"/>
                  <a:pt x="2201625" y="2620316"/>
                  <a:pt x="2227553" y="2839557"/>
                </a:cubicBezTo>
                <a:cubicBezTo>
                  <a:pt x="2054691" y="2878615"/>
                  <a:pt x="1901716" y="2836777"/>
                  <a:pt x="1715216" y="2839557"/>
                </a:cubicBezTo>
                <a:cubicBezTo>
                  <a:pt x="1528716" y="2842337"/>
                  <a:pt x="1274158" y="2809981"/>
                  <a:pt x="1158328" y="2839557"/>
                </a:cubicBezTo>
                <a:cubicBezTo>
                  <a:pt x="1042498" y="2869133"/>
                  <a:pt x="736832" y="2778375"/>
                  <a:pt x="623715" y="2839557"/>
                </a:cubicBezTo>
                <a:cubicBezTo>
                  <a:pt x="510598" y="2900739"/>
                  <a:pt x="150662" y="2806571"/>
                  <a:pt x="0" y="2839557"/>
                </a:cubicBezTo>
                <a:cubicBezTo>
                  <a:pt x="-65204" y="2642671"/>
                  <a:pt x="3946" y="2422805"/>
                  <a:pt x="0" y="2214854"/>
                </a:cubicBezTo>
                <a:cubicBezTo>
                  <a:pt x="-3946" y="2006903"/>
                  <a:pt x="42526" y="1763041"/>
                  <a:pt x="0" y="1590152"/>
                </a:cubicBezTo>
                <a:cubicBezTo>
                  <a:pt x="-42526" y="1417263"/>
                  <a:pt x="10432" y="1269390"/>
                  <a:pt x="0" y="1022241"/>
                </a:cubicBezTo>
                <a:cubicBezTo>
                  <a:pt x="-10432" y="775092"/>
                  <a:pt x="103209" y="243524"/>
                  <a:pt x="0" y="0"/>
                </a:cubicBezTo>
                <a:close/>
              </a:path>
            </a:pathLst>
          </a:custGeom>
          <a:noFill/>
          <a:ln w="28575">
            <a:prstDash val="sysDot"/>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7F90956C-0340-BA22-960B-72A0B5AD46B0}"/>
              </a:ext>
            </a:extLst>
          </p:cNvPr>
          <p:cNvSpPr txBox="1"/>
          <p:nvPr/>
        </p:nvSpPr>
        <p:spPr>
          <a:xfrm rot="1827048">
            <a:off x="3780298" y="3932424"/>
            <a:ext cx="1716514" cy="261610"/>
          </a:xfrm>
          <a:prstGeom prst="rect">
            <a:avLst/>
          </a:prstGeom>
          <a:noFill/>
        </p:spPr>
        <p:txBody>
          <a:bodyPr wrap="square" rtlCol="0">
            <a:spAutoFit/>
          </a:bodyPr>
          <a:lstStyle/>
          <a:p>
            <a:r>
              <a:rPr lang="en-US" sz="1100" dirty="0"/>
              <a:t>Best Match</a:t>
            </a:r>
            <a:endParaRPr lang="en-IN" sz="1100" dirty="0"/>
          </a:p>
        </p:txBody>
      </p:sp>
      <p:pic>
        <p:nvPicPr>
          <p:cNvPr id="38" name="Picture 37">
            <a:extLst>
              <a:ext uri="{FF2B5EF4-FFF2-40B4-BE49-F238E27FC236}">
                <a16:creationId xmlns:a16="http://schemas.microsoft.com/office/drawing/2014/main" id="{782199B5-38F0-F06B-02F2-268169AEB2BD}"/>
              </a:ext>
            </a:extLst>
          </p:cNvPr>
          <p:cNvPicPr>
            <a:picLocks noChangeAspect="1"/>
          </p:cNvPicPr>
          <p:nvPr/>
        </p:nvPicPr>
        <p:blipFill>
          <a:blip r:embed="rId6"/>
          <a:stretch>
            <a:fillRect/>
          </a:stretch>
        </p:blipFill>
        <p:spPr>
          <a:xfrm>
            <a:off x="93337" y="3075000"/>
            <a:ext cx="3018502" cy="336301"/>
          </a:xfrm>
          <a:prstGeom prst="rect">
            <a:avLst/>
          </a:prstGeom>
        </p:spPr>
      </p:pic>
      <p:sp>
        <p:nvSpPr>
          <p:cNvPr id="39" name="TextBox 38">
            <a:extLst>
              <a:ext uri="{FF2B5EF4-FFF2-40B4-BE49-F238E27FC236}">
                <a16:creationId xmlns:a16="http://schemas.microsoft.com/office/drawing/2014/main" id="{399BD74C-CDE7-F27E-3992-FDE501A50E89}"/>
              </a:ext>
            </a:extLst>
          </p:cNvPr>
          <p:cNvSpPr txBox="1"/>
          <p:nvPr/>
        </p:nvSpPr>
        <p:spPr>
          <a:xfrm rot="2658375">
            <a:off x="3504410" y="4267418"/>
            <a:ext cx="1716514" cy="261610"/>
          </a:xfrm>
          <a:prstGeom prst="rect">
            <a:avLst/>
          </a:prstGeom>
          <a:noFill/>
        </p:spPr>
        <p:txBody>
          <a:bodyPr wrap="square" rtlCol="0">
            <a:spAutoFit/>
          </a:bodyPr>
          <a:lstStyle/>
          <a:p>
            <a:r>
              <a:rPr lang="en-US" sz="1100" dirty="0"/>
              <a:t>Kth Best Match</a:t>
            </a:r>
            <a:endParaRPr lang="en-IN" sz="1100" dirty="0"/>
          </a:p>
        </p:txBody>
      </p:sp>
      <p:sp>
        <p:nvSpPr>
          <p:cNvPr id="40" name="TextBox 39">
            <a:extLst>
              <a:ext uri="{FF2B5EF4-FFF2-40B4-BE49-F238E27FC236}">
                <a16:creationId xmlns:a16="http://schemas.microsoft.com/office/drawing/2014/main" id="{8C79F0BC-B6EF-EFA1-7462-317B72BC4B2C}"/>
              </a:ext>
            </a:extLst>
          </p:cNvPr>
          <p:cNvSpPr txBox="1"/>
          <p:nvPr/>
        </p:nvSpPr>
        <p:spPr>
          <a:xfrm rot="21447118">
            <a:off x="3543883" y="2972742"/>
            <a:ext cx="1716514" cy="261610"/>
          </a:xfrm>
          <a:prstGeom prst="rect">
            <a:avLst/>
          </a:prstGeom>
          <a:noFill/>
        </p:spPr>
        <p:txBody>
          <a:bodyPr wrap="square" rtlCol="0">
            <a:spAutoFit/>
          </a:bodyPr>
          <a:lstStyle/>
          <a:p>
            <a:r>
              <a:rPr lang="en-US" sz="1100" dirty="0"/>
              <a:t> 2</a:t>
            </a:r>
            <a:r>
              <a:rPr lang="en-US" sz="1100" baseline="30000" dirty="0"/>
              <a:t>nd</a:t>
            </a:r>
            <a:r>
              <a:rPr lang="en-US" sz="1100" dirty="0"/>
              <a:t> Best Match</a:t>
            </a:r>
            <a:endParaRPr lang="en-IN" sz="1100" dirty="0"/>
          </a:p>
        </p:txBody>
      </p:sp>
      <p:cxnSp>
        <p:nvCxnSpPr>
          <p:cNvPr id="42" name="Straight Arrow Connector 41">
            <a:extLst>
              <a:ext uri="{FF2B5EF4-FFF2-40B4-BE49-F238E27FC236}">
                <a16:creationId xmlns:a16="http://schemas.microsoft.com/office/drawing/2014/main" id="{B25205EC-E7EA-E56C-F4C6-196CCCFE5945}"/>
              </a:ext>
            </a:extLst>
          </p:cNvPr>
          <p:cNvCxnSpPr>
            <a:cxnSpLocks/>
            <a:endCxn id="24" idx="3"/>
          </p:cNvCxnSpPr>
          <p:nvPr/>
        </p:nvCxnSpPr>
        <p:spPr>
          <a:xfrm flipH="1">
            <a:off x="7891825" y="4135822"/>
            <a:ext cx="7263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99160FF7-34E6-2AAD-E30A-3497AA967E0C}"/>
              </a:ext>
            </a:extLst>
          </p:cNvPr>
          <p:cNvSpPr/>
          <p:nvPr/>
        </p:nvSpPr>
        <p:spPr>
          <a:xfrm>
            <a:off x="8615217" y="3998662"/>
            <a:ext cx="358140" cy="32175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E8F03919-397C-B577-8149-376BCF424313}"/>
              </a:ext>
            </a:extLst>
          </p:cNvPr>
          <p:cNvSpPr txBox="1"/>
          <p:nvPr/>
        </p:nvSpPr>
        <p:spPr>
          <a:xfrm>
            <a:off x="8565561" y="3993293"/>
            <a:ext cx="538480" cy="338554"/>
          </a:xfrm>
          <a:prstGeom prst="rect">
            <a:avLst/>
          </a:prstGeom>
          <a:noFill/>
        </p:spPr>
        <p:txBody>
          <a:bodyPr wrap="square" rtlCol="0">
            <a:spAutoFit/>
          </a:bodyPr>
          <a:lstStyle/>
          <a:p>
            <a:r>
              <a:rPr lang="en-US" sz="1600" dirty="0" err="1"/>
              <a:t>i</a:t>
            </a:r>
            <a:r>
              <a:rPr lang="en-US" sz="1600" dirty="0"/>
              <a:t>=1</a:t>
            </a:r>
            <a:endParaRPr lang="en-IN" sz="1600" dirty="0"/>
          </a:p>
        </p:txBody>
      </p:sp>
      <p:cxnSp>
        <p:nvCxnSpPr>
          <p:cNvPr id="46" name="Straight Arrow Connector 45">
            <a:extLst>
              <a:ext uri="{FF2B5EF4-FFF2-40B4-BE49-F238E27FC236}">
                <a16:creationId xmlns:a16="http://schemas.microsoft.com/office/drawing/2014/main" id="{0B4A8CD9-8609-271D-C0AE-594CE6F51874}"/>
              </a:ext>
            </a:extLst>
          </p:cNvPr>
          <p:cNvCxnSpPr>
            <a:cxnSpLocks/>
          </p:cNvCxnSpPr>
          <p:nvPr/>
        </p:nvCxnSpPr>
        <p:spPr>
          <a:xfrm flipH="1">
            <a:off x="7898437" y="3154220"/>
            <a:ext cx="7263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2587A39-3787-0AF7-1722-B8DBCF16AFCF}"/>
              </a:ext>
            </a:extLst>
          </p:cNvPr>
          <p:cNvSpPr txBox="1"/>
          <p:nvPr/>
        </p:nvSpPr>
        <p:spPr>
          <a:xfrm>
            <a:off x="8645555" y="2993270"/>
            <a:ext cx="538480" cy="369332"/>
          </a:xfrm>
          <a:prstGeom prst="rect">
            <a:avLst/>
          </a:prstGeom>
          <a:noFill/>
        </p:spPr>
        <p:txBody>
          <a:bodyPr wrap="square" rtlCol="0">
            <a:spAutoFit/>
          </a:bodyPr>
          <a:lstStyle/>
          <a:p>
            <a:r>
              <a:rPr lang="en-US" dirty="0"/>
              <a:t>2</a:t>
            </a:r>
            <a:endParaRPr lang="en-IN" dirty="0"/>
          </a:p>
        </p:txBody>
      </p:sp>
      <p:sp>
        <p:nvSpPr>
          <p:cNvPr id="49" name="Oval 48">
            <a:extLst>
              <a:ext uri="{FF2B5EF4-FFF2-40B4-BE49-F238E27FC236}">
                <a16:creationId xmlns:a16="http://schemas.microsoft.com/office/drawing/2014/main" id="{2503DCF5-3B9A-AB9A-6D47-D08E7FBE385C}"/>
              </a:ext>
            </a:extLst>
          </p:cNvPr>
          <p:cNvSpPr/>
          <p:nvPr/>
        </p:nvSpPr>
        <p:spPr>
          <a:xfrm>
            <a:off x="8615217" y="3011387"/>
            <a:ext cx="358140" cy="32175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0" name="Straight Arrow Connector 49">
            <a:extLst>
              <a:ext uri="{FF2B5EF4-FFF2-40B4-BE49-F238E27FC236}">
                <a16:creationId xmlns:a16="http://schemas.microsoft.com/office/drawing/2014/main" id="{D394F9CE-AAD7-0F20-3EC2-42EE39DD3AF4}"/>
              </a:ext>
            </a:extLst>
          </p:cNvPr>
          <p:cNvCxnSpPr>
            <a:cxnSpLocks/>
          </p:cNvCxnSpPr>
          <p:nvPr/>
        </p:nvCxnSpPr>
        <p:spPr>
          <a:xfrm flipH="1">
            <a:off x="7891825" y="4761325"/>
            <a:ext cx="7263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C175E454-AEC5-1317-B68B-89DBD0D480AF}"/>
              </a:ext>
            </a:extLst>
          </p:cNvPr>
          <p:cNvSpPr txBox="1"/>
          <p:nvPr/>
        </p:nvSpPr>
        <p:spPr>
          <a:xfrm>
            <a:off x="8645555" y="4584824"/>
            <a:ext cx="538480" cy="369332"/>
          </a:xfrm>
          <a:prstGeom prst="rect">
            <a:avLst/>
          </a:prstGeom>
          <a:noFill/>
        </p:spPr>
        <p:txBody>
          <a:bodyPr wrap="square" rtlCol="0">
            <a:spAutoFit/>
          </a:bodyPr>
          <a:lstStyle/>
          <a:p>
            <a:r>
              <a:rPr lang="en-US" dirty="0"/>
              <a:t>K</a:t>
            </a:r>
            <a:endParaRPr lang="en-IN" dirty="0"/>
          </a:p>
        </p:txBody>
      </p:sp>
      <p:sp>
        <p:nvSpPr>
          <p:cNvPr id="52" name="Oval 51">
            <a:extLst>
              <a:ext uri="{FF2B5EF4-FFF2-40B4-BE49-F238E27FC236}">
                <a16:creationId xmlns:a16="http://schemas.microsoft.com/office/drawing/2014/main" id="{F8EEA1EE-A141-0429-E99B-3BA7D24E180D}"/>
              </a:ext>
            </a:extLst>
          </p:cNvPr>
          <p:cNvSpPr/>
          <p:nvPr/>
        </p:nvSpPr>
        <p:spPr>
          <a:xfrm>
            <a:off x="8621860" y="4600449"/>
            <a:ext cx="358140" cy="32175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52">
            <a:extLst>
              <a:ext uri="{FF2B5EF4-FFF2-40B4-BE49-F238E27FC236}">
                <a16:creationId xmlns:a16="http://schemas.microsoft.com/office/drawing/2014/main" id="{A4F61DFA-71E4-EAB6-857F-B85064484CEF}"/>
              </a:ext>
            </a:extLst>
          </p:cNvPr>
          <p:cNvSpPr/>
          <p:nvPr/>
        </p:nvSpPr>
        <p:spPr>
          <a:xfrm>
            <a:off x="8565561" y="2934715"/>
            <a:ext cx="538480" cy="20654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47E1FC40-F8C2-E9FB-5995-87AA3DA3A673}"/>
              </a:ext>
            </a:extLst>
          </p:cNvPr>
          <p:cNvSpPr txBox="1"/>
          <p:nvPr/>
        </p:nvSpPr>
        <p:spPr>
          <a:xfrm>
            <a:off x="9244833" y="2365056"/>
            <a:ext cx="1339277" cy="646331"/>
          </a:xfrm>
          <a:prstGeom prst="rect">
            <a:avLst/>
          </a:prstGeom>
          <a:noFill/>
          <a:ln>
            <a:solidFill>
              <a:schemeClr val="tx1"/>
            </a:solidFill>
          </a:ln>
        </p:spPr>
        <p:txBody>
          <a:bodyPr wrap="square" rtlCol="0">
            <a:spAutoFit/>
          </a:bodyPr>
          <a:lstStyle/>
          <a:p>
            <a:r>
              <a:rPr lang="en-US" dirty="0"/>
              <a:t>K-nearest Ensemble</a:t>
            </a:r>
            <a:endParaRPr lang="en-IN" dirty="0"/>
          </a:p>
        </p:txBody>
      </p:sp>
      <p:cxnSp>
        <p:nvCxnSpPr>
          <p:cNvPr id="56" name="Straight Arrow Connector 55">
            <a:extLst>
              <a:ext uri="{FF2B5EF4-FFF2-40B4-BE49-F238E27FC236}">
                <a16:creationId xmlns:a16="http://schemas.microsoft.com/office/drawing/2014/main" id="{77C789DD-700A-FCF5-A117-2B08A2CED0C1}"/>
              </a:ext>
            </a:extLst>
          </p:cNvPr>
          <p:cNvCxnSpPr>
            <a:cxnSpLocks/>
            <a:stCxn id="54" idx="1"/>
            <a:endCxn id="53" idx="0"/>
          </p:cNvCxnSpPr>
          <p:nvPr/>
        </p:nvCxnSpPr>
        <p:spPr>
          <a:xfrm flipH="1">
            <a:off x="8834801" y="2688222"/>
            <a:ext cx="410032" cy="2464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EA8D525F-1F97-D74E-8FCD-7B2E82EB2F3C}"/>
              </a:ext>
            </a:extLst>
          </p:cNvPr>
          <p:cNvCxnSpPr>
            <a:cxnSpLocks/>
          </p:cNvCxnSpPr>
          <p:nvPr/>
        </p:nvCxnSpPr>
        <p:spPr>
          <a:xfrm flipH="1">
            <a:off x="8973357" y="4167924"/>
            <a:ext cx="766674" cy="61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5DC88E3D-CCCD-B992-6EF2-F7E3A7E49572}"/>
              </a:ext>
            </a:extLst>
          </p:cNvPr>
          <p:cNvSpPr txBox="1"/>
          <p:nvPr/>
        </p:nvSpPr>
        <p:spPr>
          <a:xfrm>
            <a:off x="9720368" y="3997544"/>
            <a:ext cx="1668802" cy="369332"/>
          </a:xfrm>
          <a:prstGeom prst="rect">
            <a:avLst/>
          </a:prstGeom>
          <a:noFill/>
          <a:ln>
            <a:solidFill>
              <a:schemeClr val="tx1"/>
            </a:solidFill>
          </a:ln>
        </p:spPr>
        <p:txBody>
          <a:bodyPr wrap="square" rtlCol="0">
            <a:spAutoFit/>
          </a:bodyPr>
          <a:lstStyle/>
          <a:p>
            <a:r>
              <a:rPr lang="en-IN" dirty="0"/>
              <a:t>Point Forecast</a:t>
            </a:r>
          </a:p>
        </p:txBody>
      </p:sp>
      <p:cxnSp>
        <p:nvCxnSpPr>
          <p:cNvPr id="76" name="Straight Connector 75">
            <a:extLst>
              <a:ext uri="{FF2B5EF4-FFF2-40B4-BE49-F238E27FC236}">
                <a16:creationId xmlns:a16="http://schemas.microsoft.com/office/drawing/2014/main" id="{7C20B314-1826-F245-517F-F12D6E628B07}"/>
              </a:ext>
            </a:extLst>
          </p:cNvPr>
          <p:cNvCxnSpPr/>
          <p:nvPr/>
        </p:nvCxnSpPr>
        <p:spPr>
          <a:xfrm>
            <a:off x="25400" y="5935538"/>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78" name="Right Brace 77">
            <a:extLst>
              <a:ext uri="{FF2B5EF4-FFF2-40B4-BE49-F238E27FC236}">
                <a16:creationId xmlns:a16="http://schemas.microsoft.com/office/drawing/2014/main" id="{6290B046-D2D8-8AA4-C79A-5E7356697191}"/>
              </a:ext>
            </a:extLst>
          </p:cNvPr>
          <p:cNvSpPr/>
          <p:nvPr/>
        </p:nvSpPr>
        <p:spPr>
          <a:xfrm rot="5400000">
            <a:off x="7214373" y="4649503"/>
            <a:ext cx="274320" cy="109380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79" name="TextBox 78">
            <a:extLst>
              <a:ext uri="{FF2B5EF4-FFF2-40B4-BE49-F238E27FC236}">
                <a16:creationId xmlns:a16="http://schemas.microsoft.com/office/drawing/2014/main" id="{8962FF33-A24A-7AF9-BD4D-AA81B3BA82F5}"/>
              </a:ext>
            </a:extLst>
          </p:cNvPr>
          <p:cNvSpPr txBox="1"/>
          <p:nvPr/>
        </p:nvSpPr>
        <p:spPr>
          <a:xfrm>
            <a:off x="7232815" y="5252341"/>
            <a:ext cx="1183640" cy="369332"/>
          </a:xfrm>
          <a:prstGeom prst="rect">
            <a:avLst/>
          </a:prstGeom>
          <a:noFill/>
        </p:spPr>
        <p:txBody>
          <a:bodyPr wrap="square" rtlCol="0">
            <a:spAutoFit/>
          </a:bodyPr>
          <a:lstStyle/>
          <a:p>
            <a:r>
              <a:rPr lang="en-US" dirty="0"/>
              <a:t>t</a:t>
            </a:r>
            <a:endParaRPr lang="en-IN" dirty="0"/>
          </a:p>
        </p:txBody>
      </p:sp>
      <p:sp>
        <p:nvSpPr>
          <p:cNvPr id="80" name="TextBox 79">
            <a:extLst>
              <a:ext uri="{FF2B5EF4-FFF2-40B4-BE49-F238E27FC236}">
                <a16:creationId xmlns:a16="http://schemas.microsoft.com/office/drawing/2014/main" id="{F8768DDB-48D7-9FC7-A3E9-A232194D174C}"/>
              </a:ext>
            </a:extLst>
          </p:cNvPr>
          <p:cNvSpPr txBox="1"/>
          <p:nvPr/>
        </p:nvSpPr>
        <p:spPr>
          <a:xfrm>
            <a:off x="5924207" y="5247365"/>
            <a:ext cx="1183640" cy="369332"/>
          </a:xfrm>
          <a:prstGeom prst="rect">
            <a:avLst/>
          </a:prstGeom>
          <a:noFill/>
        </p:spPr>
        <p:txBody>
          <a:bodyPr wrap="square" rtlCol="0">
            <a:spAutoFit/>
          </a:bodyPr>
          <a:lstStyle/>
          <a:p>
            <a:r>
              <a:rPr lang="en-US" dirty="0"/>
              <a:t>t-</a:t>
            </a:r>
            <a:r>
              <a:rPr lang="el-GR" dirty="0"/>
              <a:t>Δ</a:t>
            </a:r>
            <a:r>
              <a:rPr lang="en-US" dirty="0"/>
              <a:t>t</a:t>
            </a:r>
            <a:endParaRPr lang="en-IN" dirty="0"/>
          </a:p>
        </p:txBody>
      </p:sp>
      <p:sp>
        <p:nvSpPr>
          <p:cNvPr id="81" name="TextBox 80">
            <a:extLst>
              <a:ext uri="{FF2B5EF4-FFF2-40B4-BE49-F238E27FC236}">
                <a16:creationId xmlns:a16="http://schemas.microsoft.com/office/drawing/2014/main" id="{299AF4F2-7FFF-ED1A-FBF1-BAB60FA4582C}"/>
              </a:ext>
            </a:extLst>
          </p:cNvPr>
          <p:cNvSpPr txBox="1"/>
          <p:nvPr/>
        </p:nvSpPr>
        <p:spPr>
          <a:xfrm>
            <a:off x="4784255" y="5252097"/>
            <a:ext cx="1183640" cy="369332"/>
          </a:xfrm>
          <a:prstGeom prst="rect">
            <a:avLst/>
          </a:prstGeom>
          <a:noFill/>
        </p:spPr>
        <p:txBody>
          <a:bodyPr wrap="square" rtlCol="0">
            <a:spAutoFit/>
          </a:bodyPr>
          <a:lstStyle/>
          <a:p>
            <a:r>
              <a:rPr lang="en-US" dirty="0"/>
              <a:t>t-2</a:t>
            </a:r>
            <a:r>
              <a:rPr lang="el-GR" dirty="0"/>
              <a:t>Δ</a:t>
            </a:r>
            <a:r>
              <a:rPr lang="en-US" dirty="0"/>
              <a:t>t</a:t>
            </a:r>
            <a:endParaRPr lang="en-IN" dirty="0"/>
          </a:p>
        </p:txBody>
      </p:sp>
      <p:sp>
        <p:nvSpPr>
          <p:cNvPr id="82" name="Right Brace 81">
            <a:extLst>
              <a:ext uri="{FF2B5EF4-FFF2-40B4-BE49-F238E27FC236}">
                <a16:creationId xmlns:a16="http://schemas.microsoft.com/office/drawing/2014/main" id="{E6FD50DA-C8E2-40DA-669B-92DBA5F48980}"/>
              </a:ext>
            </a:extLst>
          </p:cNvPr>
          <p:cNvSpPr/>
          <p:nvPr/>
        </p:nvSpPr>
        <p:spPr>
          <a:xfrm rot="5400000">
            <a:off x="5986609" y="4554653"/>
            <a:ext cx="274320" cy="126119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83" name="Right Brace 82">
            <a:extLst>
              <a:ext uri="{FF2B5EF4-FFF2-40B4-BE49-F238E27FC236}">
                <a16:creationId xmlns:a16="http://schemas.microsoft.com/office/drawing/2014/main" id="{30101F50-CC26-FD46-E5BE-B6B2241A4D87}"/>
              </a:ext>
            </a:extLst>
          </p:cNvPr>
          <p:cNvSpPr/>
          <p:nvPr/>
        </p:nvSpPr>
        <p:spPr>
          <a:xfrm rot="5400000">
            <a:off x="4883878" y="4721430"/>
            <a:ext cx="274320" cy="92764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pic>
        <p:nvPicPr>
          <p:cNvPr id="70" name="Audio 69">
            <a:hlinkClick r:id="" action="ppaction://media"/>
            <a:extLst>
              <a:ext uri="{FF2B5EF4-FFF2-40B4-BE49-F238E27FC236}">
                <a16:creationId xmlns:a16="http://schemas.microsoft.com/office/drawing/2014/main" id="{3E555B6A-F9A9-21FE-9039-B15D03E5B135}"/>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541625020"/>
      </p:ext>
    </p:extLst>
  </p:cSld>
  <p:clrMapOvr>
    <a:masterClrMapping/>
  </p:clrMapOvr>
  <mc:AlternateContent xmlns:mc="http://schemas.openxmlformats.org/markup-compatibility/2006">
    <mc:Choice xmlns:p14="http://schemas.microsoft.com/office/powerpoint/2010/main" Requires="p14">
      <p:transition spd="slow" p14:dur="2000" advTm="20909"/>
    </mc:Choice>
    <mc:Fallback>
      <p:transition spd="slow" advTm="209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0"/>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6088CD-2AB0-035E-BBA9-B9DDFFB2F8CA}"/>
              </a:ext>
            </a:extLst>
          </p:cNvPr>
          <p:cNvSpPr>
            <a:spLocks noGrp="1"/>
          </p:cNvSpPr>
          <p:nvPr>
            <p:ph idx="1"/>
          </p:nvPr>
        </p:nvSpPr>
        <p:spPr>
          <a:xfrm>
            <a:off x="0" y="812903"/>
            <a:ext cx="12044516" cy="1025729"/>
          </a:xfrm>
        </p:spPr>
        <p:txBody>
          <a:bodyPr>
            <a:normAutofit fontScale="92500" lnSpcReduction="10000"/>
          </a:bodyPr>
          <a:lstStyle/>
          <a:p>
            <a:pPr marL="457200" indent="-457200">
              <a:buAutoNum type="arabicPeriod"/>
            </a:pPr>
            <a:r>
              <a:rPr lang="en-US" b="1" dirty="0">
                <a:solidFill>
                  <a:schemeClr val="accent6">
                    <a:lumMod val="50000"/>
                  </a:schemeClr>
                </a:solidFill>
              </a:rPr>
              <a:t>Ensemble Variance: (On Predicted Forecast) </a:t>
            </a:r>
          </a:p>
          <a:p>
            <a:r>
              <a:rPr lang="en-US" sz="2000" dirty="0"/>
              <a:t>First, we need calculate the weighted average of the all the predicted forecasts (sunday) from the k-nearest ensemble.  </a:t>
            </a:r>
            <a:endParaRPr lang="en-IN" sz="2000" dirty="0"/>
          </a:p>
        </p:txBody>
      </p:sp>
      <p:sp>
        <p:nvSpPr>
          <p:cNvPr id="4" name="Title 1">
            <a:extLst>
              <a:ext uri="{FF2B5EF4-FFF2-40B4-BE49-F238E27FC236}">
                <a16:creationId xmlns:a16="http://schemas.microsoft.com/office/drawing/2014/main" id="{CE99909B-D4DD-EE9B-1834-DDCFF770A649}"/>
              </a:ext>
            </a:extLst>
          </p:cNvPr>
          <p:cNvSpPr txBox="1">
            <a:spLocks/>
          </p:cNvSpPr>
          <p:nvPr/>
        </p:nvSpPr>
        <p:spPr>
          <a:xfrm>
            <a:off x="0" y="41940"/>
            <a:ext cx="12192000" cy="607547"/>
          </a:xfrm>
          <a:prstGeom prst="rect">
            <a:avLst/>
          </a:prstGeom>
          <a:solidFill>
            <a:schemeClr val="accent1">
              <a:lumMod val="20000"/>
              <a:lumOff val="80000"/>
            </a:schemeClr>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Generative Forecasting using </a:t>
            </a:r>
            <a:r>
              <a:rPr lang="en-US" b="1" dirty="0">
                <a:solidFill>
                  <a:schemeClr val="accent6">
                    <a:lumMod val="50000"/>
                  </a:schemeClr>
                </a:solidFill>
              </a:rPr>
              <a:t>Joint</a:t>
            </a:r>
            <a:r>
              <a:rPr lang="en-US" dirty="0"/>
              <a:t> Probability Models</a:t>
            </a:r>
            <a:endParaRPr lang="en-IN" dirty="0"/>
          </a:p>
        </p:txBody>
      </p:sp>
      <p:pic>
        <p:nvPicPr>
          <p:cNvPr id="7" name="Picture 6">
            <a:extLst>
              <a:ext uri="{FF2B5EF4-FFF2-40B4-BE49-F238E27FC236}">
                <a16:creationId xmlns:a16="http://schemas.microsoft.com/office/drawing/2014/main" id="{2CA55395-85E2-6567-5DCE-D5FCB5B28DBC}"/>
              </a:ext>
            </a:extLst>
          </p:cNvPr>
          <p:cNvPicPr>
            <a:picLocks noChangeAspect="1"/>
          </p:cNvPicPr>
          <p:nvPr/>
        </p:nvPicPr>
        <p:blipFill>
          <a:blip r:embed="rId5"/>
          <a:stretch>
            <a:fillRect/>
          </a:stretch>
        </p:blipFill>
        <p:spPr>
          <a:xfrm>
            <a:off x="621270" y="1767329"/>
            <a:ext cx="1669645" cy="1451252"/>
          </a:xfrm>
          <a:prstGeom prst="rect">
            <a:avLst/>
          </a:prstGeom>
        </p:spPr>
      </p:pic>
      <p:sp>
        <p:nvSpPr>
          <p:cNvPr id="8" name="TextBox 7">
            <a:extLst>
              <a:ext uri="{FF2B5EF4-FFF2-40B4-BE49-F238E27FC236}">
                <a16:creationId xmlns:a16="http://schemas.microsoft.com/office/drawing/2014/main" id="{B5E10E22-60A5-B4D9-9A77-209DE090DA4C}"/>
              </a:ext>
            </a:extLst>
          </p:cNvPr>
          <p:cNvSpPr txBox="1"/>
          <p:nvPr/>
        </p:nvSpPr>
        <p:spPr>
          <a:xfrm>
            <a:off x="2418736" y="2123622"/>
            <a:ext cx="4444180" cy="369332"/>
          </a:xfrm>
          <a:prstGeom prst="rect">
            <a:avLst/>
          </a:prstGeom>
          <a:noFill/>
        </p:spPr>
        <p:txBody>
          <a:bodyPr wrap="square" rtlCol="0">
            <a:spAutoFit/>
          </a:bodyPr>
          <a:lstStyle/>
          <a:p>
            <a:r>
              <a:rPr lang="en-US" dirty="0"/>
              <a:t>wi is the optional importance weights</a:t>
            </a:r>
            <a:endParaRPr lang="en-IN" dirty="0"/>
          </a:p>
        </p:txBody>
      </p:sp>
      <p:pic>
        <p:nvPicPr>
          <p:cNvPr id="10" name="Picture 9">
            <a:extLst>
              <a:ext uri="{FF2B5EF4-FFF2-40B4-BE49-F238E27FC236}">
                <a16:creationId xmlns:a16="http://schemas.microsoft.com/office/drawing/2014/main" id="{ED2C605C-B36C-50F5-EBA8-BEDB8DD9D701}"/>
              </a:ext>
            </a:extLst>
          </p:cNvPr>
          <p:cNvPicPr>
            <a:picLocks noChangeAspect="1"/>
          </p:cNvPicPr>
          <p:nvPr/>
        </p:nvPicPr>
        <p:blipFill>
          <a:blip r:embed="rId6"/>
          <a:stretch>
            <a:fillRect/>
          </a:stretch>
        </p:blipFill>
        <p:spPr>
          <a:xfrm>
            <a:off x="4984954" y="2821992"/>
            <a:ext cx="3165987" cy="1474569"/>
          </a:xfrm>
          <a:prstGeom prst="rect">
            <a:avLst/>
          </a:prstGeom>
        </p:spPr>
      </p:pic>
      <p:sp>
        <p:nvSpPr>
          <p:cNvPr id="11" name="TextBox 10">
            <a:extLst>
              <a:ext uri="{FF2B5EF4-FFF2-40B4-BE49-F238E27FC236}">
                <a16:creationId xmlns:a16="http://schemas.microsoft.com/office/drawing/2014/main" id="{6631AEFC-9907-F4F1-53CA-73ED648E7C4A}"/>
              </a:ext>
            </a:extLst>
          </p:cNvPr>
          <p:cNvSpPr txBox="1"/>
          <p:nvPr/>
        </p:nvSpPr>
        <p:spPr>
          <a:xfrm>
            <a:off x="0" y="3374611"/>
            <a:ext cx="11867535" cy="369332"/>
          </a:xfrm>
          <a:prstGeom prst="rect">
            <a:avLst/>
          </a:prstGeom>
          <a:noFill/>
        </p:spPr>
        <p:txBody>
          <a:bodyPr wrap="square" rtlCol="0">
            <a:spAutoFit/>
          </a:bodyPr>
          <a:lstStyle/>
          <a:p>
            <a:pPr marL="285750" indent="-285750">
              <a:buFont typeface="Arial" panose="020B0604020202020204" pitchFamily="34" charset="0"/>
              <a:buChar char="•"/>
            </a:pPr>
            <a:r>
              <a:rPr lang="en-US" dirty="0"/>
              <a:t>Then we can calculate the ensemble variance.</a:t>
            </a:r>
            <a:endParaRPr lang="en-IN" dirty="0"/>
          </a:p>
        </p:txBody>
      </p:sp>
      <p:sp>
        <p:nvSpPr>
          <p:cNvPr id="14" name="TextBox 13">
            <a:extLst>
              <a:ext uri="{FF2B5EF4-FFF2-40B4-BE49-F238E27FC236}">
                <a16:creationId xmlns:a16="http://schemas.microsoft.com/office/drawing/2014/main" id="{782A622D-9571-3980-027E-80F770C6E806}"/>
              </a:ext>
            </a:extLst>
          </p:cNvPr>
          <p:cNvSpPr txBox="1"/>
          <p:nvPr/>
        </p:nvSpPr>
        <p:spPr>
          <a:xfrm>
            <a:off x="88490" y="4569894"/>
            <a:ext cx="10697497" cy="461665"/>
          </a:xfrm>
          <a:prstGeom prst="rect">
            <a:avLst/>
          </a:prstGeom>
          <a:noFill/>
        </p:spPr>
        <p:txBody>
          <a:bodyPr wrap="square" rtlCol="0">
            <a:spAutoFit/>
          </a:bodyPr>
          <a:lstStyle/>
          <a:p>
            <a:pPr marL="285750" indent="-285750">
              <a:buFont typeface="Arial" panose="020B0604020202020204" pitchFamily="34" charset="0"/>
              <a:buChar char="•"/>
            </a:pPr>
            <a:r>
              <a:rPr lang="en-US" sz="2400" b="1" dirty="0"/>
              <a:t>High Variance Indicates the Model is Uncertain. </a:t>
            </a:r>
            <a:endParaRPr lang="en-IN" sz="2400" b="1" dirty="0"/>
          </a:p>
        </p:txBody>
      </p:sp>
      <p:pic>
        <p:nvPicPr>
          <p:cNvPr id="18" name="Audio 17">
            <a:hlinkClick r:id="" action="ppaction://media"/>
            <a:extLst>
              <a:ext uri="{FF2B5EF4-FFF2-40B4-BE49-F238E27FC236}">
                <a16:creationId xmlns:a16="http://schemas.microsoft.com/office/drawing/2014/main" id="{9416101D-295D-AADE-F7EE-E88B5E1848CB}"/>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248492656"/>
      </p:ext>
    </p:extLst>
  </p:cSld>
  <p:clrMapOvr>
    <a:masterClrMapping/>
  </p:clrMapOvr>
  <mc:AlternateContent xmlns:mc="http://schemas.openxmlformats.org/markup-compatibility/2006">
    <mc:Choice xmlns:p14="http://schemas.microsoft.com/office/powerpoint/2010/main" Requires="p14">
      <p:transition spd="slow" p14:dur="2000" advTm="18624"/>
    </mc:Choice>
    <mc:Fallback>
      <p:transition spd="slow" advTm="186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DEC9BCD-7CEF-D542-09CF-174C62A82D5E}"/>
              </a:ext>
            </a:extLst>
          </p:cNvPr>
          <p:cNvSpPr txBox="1">
            <a:spLocks/>
          </p:cNvSpPr>
          <p:nvPr/>
        </p:nvSpPr>
        <p:spPr>
          <a:xfrm>
            <a:off x="0" y="41940"/>
            <a:ext cx="12192000" cy="607547"/>
          </a:xfrm>
          <a:prstGeom prst="rect">
            <a:avLst/>
          </a:prstGeom>
          <a:solidFill>
            <a:schemeClr val="accent1">
              <a:lumMod val="20000"/>
              <a:lumOff val="80000"/>
            </a:schemeClr>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Generative Forecasting using </a:t>
            </a:r>
            <a:r>
              <a:rPr lang="en-US" b="1" dirty="0">
                <a:solidFill>
                  <a:schemeClr val="accent6">
                    <a:lumMod val="50000"/>
                  </a:schemeClr>
                </a:solidFill>
              </a:rPr>
              <a:t>Joint</a:t>
            </a:r>
            <a:r>
              <a:rPr lang="en-US" dirty="0"/>
              <a:t> Probability Models</a:t>
            </a:r>
            <a:endParaRPr lang="en-IN" dirty="0"/>
          </a:p>
        </p:txBody>
      </p:sp>
      <p:sp>
        <p:nvSpPr>
          <p:cNvPr id="6" name="Content Placeholder 2">
            <a:extLst>
              <a:ext uri="{FF2B5EF4-FFF2-40B4-BE49-F238E27FC236}">
                <a16:creationId xmlns:a16="http://schemas.microsoft.com/office/drawing/2014/main" id="{CA2114F9-E05E-40BC-745B-30E099C4F4EB}"/>
              </a:ext>
            </a:extLst>
          </p:cNvPr>
          <p:cNvSpPr txBox="1">
            <a:spLocks/>
          </p:cNvSpPr>
          <p:nvPr/>
        </p:nvSpPr>
        <p:spPr>
          <a:xfrm>
            <a:off x="0" y="812903"/>
            <a:ext cx="12044516" cy="102572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accent6">
                    <a:lumMod val="50000"/>
                  </a:schemeClr>
                </a:solidFill>
              </a:rPr>
              <a:t>2. Autocorrelation : (Between Predicted Forecast and the Previous State)</a:t>
            </a:r>
          </a:p>
          <a:p>
            <a:r>
              <a:rPr lang="en-US" sz="2000" b="1" dirty="0">
                <a:solidFill>
                  <a:schemeClr val="accent6">
                    <a:lumMod val="50000"/>
                  </a:schemeClr>
                </a:solidFill>
              </a:rPr>
              <a:t> </a:t>
            </a:r>
            <a:r>
              <a:rPr lang="en-US" sz="2000" dirty="0"/>
              <a:t>Autocorrelation measures how much the state at time </a:t>
            </a:r>
            <a:r>
              <a:rPr lang="en-US" sz="2000" b="1" dirty="0"/>
              <a:t>t</a:t>
            </a:r>
            <a:r>
              <a:rPr lang="en-US" sz="2000" dirty="0"/>
              <a:t> (e.g., Sunday) depends linearly on the state at time </a:t>
            </a:r>
            <a:r>
              <a:rPr lang="en-US" sz="2100" dirty="0"/>
              <a:t>t-</a:t>
            </a:r>
            <a:r>
              <a:rPr lang="el-GR" sz="2100" dirty="0"/>
              <a:t>Δ</a:t>
            </a:r>
            <a:r>
              <a:rPr lang="en-US" sz="2100" dirty="0"/>
              <a:t>t</a:t>
            </a:r>
          </a:p>
        </p:txBody>
      </p:sp>
      <p:pic>
        <p:nvPicPr>
          <p:cNvPr id="11" name="Picture 10">
            <a:extLst>
              <a:ext uri="{FF2B5EF4-FFF2-40B4-BE49-F238E27FC236}">
                <a16:creationId xmlns:a16="http://schemas.microsoft.com/office/drawing/2014/main" id="{BD3865D5-6312-C73D-955E-F99B23F37724}"/>
              </a:ext>
            </a:extLst>
          </p:cNvPr>
          <p:cNvPicPr>
            <a:picLocks noChangeAspect="1"/>
          </p:cNvPicPr>
          <p:nvPr/>
        </p:nvPicPr>
        <p:blipFill>
          <a:blip r:embed="rId4"/>
          <a:stretch>
            <a:fillRect/>
          </a:stretch>
        </p:blipFill>
        <p:spPr>
          <a:xfrm>
            <a:off x="2085062" y="1572454"/>
            <a:ext cx="6468378" cy="1333686"/>
          </a:xfrm>
          <a:prstGeom prst="rect">
            <a:avLst/>
          </a:prstGeom>
        </p:spPr>
      </p:pic>
      <p:pic>
        <p:nvPicPr>
          <p:cNvPr id="13" name="Picture 12">
            <a:extLst>
              <a:ext uri="{FF2B5EF4-FFF2-40B4-BE49-F238E27FC236}">
                <a16:creationId xmlns:a16="http://schemas.microsoft.com/office/drawing/2014/main" id="{A80F5424-F276-5BFF-CB0E-6E49AD8D1A14}"/>
              </a:ext>
            </a:extLst>
          </p:cNvPr>
          <p:cNvPicPr>
            <a:picLocks noChangeAspect="1"/>
          </p:cNvPicPr>
          <p:nvPr/>
        </p:nvPicPr>
        <p:blipFill>
          <a:blip r:embed="rId5"/>
          <a:stretch>
            <a:fillRect/>
          </a:stretch>
        </p:blipFill>
        <p:spPr>
          <a:xfrm>
            <a:off x="2085062" y="3066999"/>
            <a:ext cx="1114581" cy="362001"/>
          </a:xfrm>
          <a:prstGeom prst="rect">
            <a:avLst/>
          </a:prstGeom>
        </p:spPr>
      </p:pic>
      <p:sp>
        <p:nvSpPr>
          <p:cNvPr id="14" name="TextBox 13">
            <a:extLst>
              <a:ext uri="{FF2B5EF4-FFF2-40B4-BE49-F238E27FC236}">
                <a16:creationId xmlns:a16="http://schemas.microsoft.com/office/drawing/2014/main" id="{5909ACBC-58F6-987E-D52A-BFEE900C8DB2}"/>
              </a:ext>
            </a:extLst>
          </p:cNvPr>
          <p:cNvSpPr txBox="1"/>
          <p:nvPr/>
        </p:nvSpPr>
        <p:spPr>
          <a:xfrm>
            <a:off x="3297965" y="3073204"/>
            <a:ext cx="4528512" cy="369332"/>
          </a:xfrm>
          <a:prstGeom prst="rect">
            <a:avLst/>
          </a:prstGeom>
          <a:noFill/>
        </p:spPr>
        <p:txBody>
          <a:bodyPr wrap="square" rtlCol="0">
            <a:spAutoFit/>
          </a:bodyPr>
          <a:lstStyle/>
          <a:p>
            <a:r>
              <a:rPr lang="en-US" dirty="0"/>
              <a:t>: Empirical Means at t and t-</a:t>
            </a:r>
            <a:r>
              <a:rPr lang="el-GR" dirty="0"/>
              <a:t>Δ</a:t>
            </a:r>
            <a:r>
              <a:rPr lang="en-US" dirty="0"/>
              <a:t>t respectively</a:t>
            </a:r>
            <a:endParaRPr lang="en-IN" dirty="0"/>
          </a:p>
        </p:txBody>
      </p:sp>
      <p:pic>
        <p:nvPicPr>
          <p:cNvPr id="16" name="Picture 15">
            <a:extLst>
              <a:ext uri="{FF2B5EF4-FFF2-40B4-BE49-F238E27FC236}">
                <a16:creationId xmlns:a16="http://schemas.microsoft.com/office/drawing/2014/main" id="{B3C27925-EDC5-8B7A-1F9B-E3F7DC31F200}"/>
              </a:ext>
            </a:extLst>
          </p:cNvPr>
          <p:cNvPicPr>
            <a:picLocks noChangeAspect="1"/>
          </p:cNvPicPr>
          <p:nvPr/>
        </p:nvPicPr>
        <p:blipFill>
          <a:blip r:embed="rId6"/>
          <a:stretch>
            <a:fillRect/>
          </a:stretch>
        </p:blipFill>
        <p:spPr>
          <a:xfrm>
            <a:off x="2108877" y="3494217"/>
            <a:ext cx="1066949" cy="342948"/>
          </a:xfrm>
          <a:prstGeom prst="rect">
            <a:avLst/>
          </a:prstGeom>
        </p:spPr>
      </p:pic>
      <p:sp>
        <p:nvSpPr>
          <p:cNvPr id="17" name="TextBox 16">
            <a:extLst>
              <a:ext uri="{FF2B5EF4-FFF2-40B4-BE49-F238E27FC236}">
                <a16:creationId xmlns:a16="http://schemas.microsoft.com/office/drawing/2014/main" id="{2E04E0AC-DAF9-9DD8-4B30-B9B15DC5D104}"/>
              </a:ext>
            </a:extLst>
          </p:cNvPr>
          <p:cNvSpPr txBox="1"/>
          <p:nvPr/>
        </p:nvSpPr>
        <p:spPr>
          <a:xfrm>
            <a:off x="3297964" y="3481025"/>
            <a:ext cx="5718212" cy="369332"/>
          </a:xfrm>
          <a:prstGeom prst="rect">
            <a:avLst/>
          </a:prstGeom>
          <a:noFill/>
        </p:spPr>
        <p:txBody>
          <a:bodyPr wrap="square" rtlCol="0">
            <a:spAutoFit/>
          </a:bodyPr>
          <a:lstStyle/>
          <a:p>
            <a:r>
              <a:rPr lang="en-US" dirty="0"/>
              <a:t>: Standard deviations at t and t-</a:t>
            </a:r>
            <a:r>
              <a:rPr lang="el-GR" dirty="0"/>
              <a:t>Δ</a:t>
            </a:r>
            <a:r>
              <a:rPr lang="en-US" dirty="0"/>
              <a:t>t respectively</a:t>
            </a:r>
            <a:endParaRPr lang="en-IN" dirty="0"/>
          </a:p>
        </p:txBody>
      </p:sp>
      <p:sp>
        <p:nvSpPr>
          <p:cNvPr id="18" name="TextBox 17">
            <a:extLst>
              <a:ext uri="{FF2B5EF4-FFF2-40B4-BE49-F238E27FC236}">
                <a16:creationId xmlns:a16="http://schemas.microsoft.com/office/drawing/2014/main" id="{24774B5F-084B-13EA-CA70-E6805E8C64F7}"/>
              </a:ext>
            </a:extLst>
          </p:cNvPr>
          <p:cNvSpPr txBox="1"/>
          <p:nvPr/>
        </p:nvSpPr>
        <p:spPr>
          <a:xfrm>
            <a:off x="68826" y="4479848"/>
            <a:ext cx="12368980" cy="707886"/>
          </a:xfrm>
          <a:prstGeom prst="rect">
            <a:avLst/>
          </a:prstGeom>
          <a:noFill/>
        </p:spPr>
        <p:txBody>
          <a:bodyPr wrap="square" rtlCol="0">
            <a:spAutoFit/>
          </a:bodyPr>
          <a:lstStyle/>
          <a:p>
            <a:r>
              <a:rPr lang="en-US" sz="2000" b="1" dirty="0">
                <a:solidFill>
                  <a:srgbClr val="7030A0"/>
                </a:solidFill>
              </a:rPr>
              <a:t>If AC is close to 1: </a:t>
            </a:r>
            <a:r>
              <a:rPr lang="en-US" sz="2000" dirty="0"/>
              <a:t>This means the system has </a:t>
            </a:r>
            <a:r>
              <a:rPr lang="en-US" sz="2000" b="1" dirty="0"/>
              <a:t>strong momentum</a:t>
            </a:r>
            <a:r>
              <a:rPr lang="en-US" sz="2000" dirty="0"/>
              <a:t> and changes slowly relative to time.  </a:t>
            </a:r>
            <a:br>
              <a:rPr lang="en-US" sz="2000" dirty="0"/>
            </a:br>
            <a:r>
              <a:rPr lang="en-US" sz="2000" b="1" dirty="0">
                <a:solidFill>
                  <a:srgbClr val="C00000"/>
                </a:solidFill>
              </a:rPr>
              <a:t>If AC is close to 0: </a:t>
            </a:r>
            <a:r>
              <a:rPr lang="en-US" sz="2000" dirty="0">
                <a:solidFill>
                  <a:srgbClr val="C00000"/>
                </a:solidFill>
              </a:rPr>
              <a:t>T</a:t>
            </a:r>
            <a:r>
              <a:rPr lang="en-US" sz="2000" dirty="0"/>
              <a:t>his means the system is </a:t>
            </a:r>
            <a:r>
              <a:rPr lang="en-US" sz="2000" b="1" dirty="0"/>
              <a:t>highly volatile</a:t>
            </a:r>
            <a:r>
              <a:rPr lang="en-US" sz="2000" dirty="0"/>
              <a:t> or is being dominated by random noise.</a:t>
            </a:r>
            <a:endParaRPr lang="en-IN" sz="2000" b="1" dirty="0">
              <a:solidFill>
                <a:srgbClr val="C00000"/>
              </a:solidFill>
            </a:endParaRPr>
          </a:p>
        </p:txBody>
      </p:sp>
      <p:pic>
        <p:nvPicPr>
          <p:cNvPr id="10" name="Audio 9">
            <a:hlinkClick r:id="" action="ppaction://media"/>
            <a:extLst>
              <a:ext uri="{FF2B5EF4-FFF2-40B4-BE49-F238E27FC236}">
                <a16:creationId xmlns:a16="http://schemas.microsoft.com/office/drawing/2014/main" id="{4D9D6EE3-CF67-ABE9-0D2A-80D5EE11E365}"/>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26094152"/>
      </p:ext>
    </p:extLst>
  </p:cSld>
  <p:clrMapOvr>
    <a:masterClrMapping/>
  </p:clrMapOvr>
  <mc:AlternateContent xmlns:mc="http://schemas.openxmlformats.org/markup-compatibility/2006">
    <mc:Choice xmlns:p14="http://schemas.microsoft.com/office/powerpoint/2010/main" Requires="p14">
      <p:transition spd="slow" p14:dur="2000" advTm="36999"/>
    </mc:Choice>
    <mc:Fallback>
      <p:transition spd="slow" advTm="369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854F6-D3C1-851F-96B1-2832D89AEE7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64B9091-02C9-CA06-7DF6-D02EC5FD2908}"/>
              </a:ext>
            </a:extLst>
          </p:cNvPr>
          <p:cNvSpPr txBox="1">
            <a:spLocks/>
          </p:cNvSpPr>
          <p:nvPr/>
        </p:nvSpPr>
        <p:spPr>
          <a:xfrm>
            <a:off x="0" y="91325"/>
            <a:ext cx="12192000" cy="719748"/>
          </a:xfrm>
          <a:prstGeom prst="rect">
            <a:avLst/>
          </a:prstGeom>
          <a:solidFill>
            <a:schemeClr val="accent1">
              <a:lumMod val="20000"/>
              <a:lumOff val="8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dirty="0"/>
          </a:p>
        </p:txBody>
      </p:sp>
      <p:sp>
        <p:nvSpPr>
          <p:cNvPr id="7" name="TextBox 6">
            <a:extLst>
              <a:ext uri="{FF2B5EF4-FFF2-40B4-BE49-F238E27FC236}">
                <a16:creationId xmlns:a16="http://schemas.microsoft.com/office/drawing/2014/main" id="{D77E1595-794F-6EA5-7CA0-C10A56553AAA}"/>
              </a:ext>
            </a:extLst>
          </p:cNvPr>
          <p:cNvSpPr txBox="1"/>
          <p:nvPr/>
        </p:nvSpPr>
        <p:spPr>
          <a:xfrm>
            <a:off x="78657" y="144309"/>
            <a:ext cx="5447071" cy="1077218"/>
          </a:xfrm>
          <a:prstGeom prst="rect">
            <a:avLst/>
          </a:prstGeom>
          <a:noFill/>
        </p:spPr>
        <p:txBody>
          <a:bodyPr wrap="square" rtlCol="0">
            <a:spAutoFit/>
          </a:bodyPr>
          <a:lstStyle/>
          <a:p>
            <a:r>
              <a:rPr lang="en-IN" sz="3200" b="1" dirty="0"/>
              <a:t>Wasserstein Drift</a:t>
            </a:r>
          </a:p>
          <a:p>
            <a:endParaRPr lang="en-IN" sz="3200" b="1" dirty="0"/>
          </a:p>
        </p:txBody>
      </p:sp>
      <p:graphicFrame>
        <p:nvGraphicFramePr>
          <p:cNvPr id="9" name="Table 8">
            <a:extLst>
              <a:ext uri="{FF2B5EF4-FFF2-40B4-BE49-F238E27FC236}">
                <a16:creationId xmlns:a16="http://schemas.microsoft.com/office/drawing/2014/main" id="{C54AC756-4A57-E615-CF93-F5728A2D4F7B}"/>
              </a:ext>
            </a:extLst>
          </p:cNvPr>
          <p:cNvGraphicFramePr>
            <a:graphicFrameLocks noGrp="1"/>
          </p:cNvGraphicFramePr>
          <p:nvPr>
            <p:extLst>
              <p:ext uri="{D42A27DB-BD31-4B8C-83A1-F6EECF244321}">
                <p14:modId xmlns:p14="http://schemas.microsoft.com/office/powerpoint/2010/main" val="601612712"/>
              </p:ext>
            </p:extLst>
          </p:nvPr>
        </p:nvGraphicFramePr>
        <p:xfrm>
          <a:off x="16165" y="941857"/>
          <a:ext cx="3308421" cy="370840"/>
        </p:xfrm>
        <a:graphic>
          <a:graphicData uri="http://schemas.openxmlformats.org/drawingml/2006/table">
            <a:tbl>
              <a:tblPr firstRow="1" bandRow="1">
                <a:tableStyleId>{5C22544A-7EE6-4342-B048-85BDC9FD1C3A}</a:tableStyleId>
              </a:tblPr>
              <a:tblGrid>
                <a:gridCol w="1102808">
                  <a:extLst>
                    <a:ext uri="{9D8B030D-6E8A-4147-A177-3AD203B41FA5}">
                      <a16:colId xmlns:a16="http://schemas.microsoft.com/office/drawing/2014/main" val="2102312840"/>
                    </a:ext>
                  </a:extLst>
                </a:gridCol>
                <a:gridCol w="889278">
                  <a:extLst>
                    <a:ext uri="{9D8B030D-6E8A-4147-A177-3AD203B41FA5}">
                      <a16:colId xmlns:a16="http://schemas.microsoft.com/office/drawing/2014/main" val="1181155727"/>
                    </a:ext>
                  </a:extLst>
                </a:gridCol>
                <a:gridCol w="1316335">
                  <a:extLst>
                    <a:ext uri="{9D8B030D-6E8A-4147-A177-3AD203B41FA5}">
                      <a16:colId xmlns:a16="http://schemas.microsoft.com/office/drawing/2014/main" val="3320317631"/>
                    </a:ext>
                  </a:extLst>
                </a:gridCol>
              </a:tblGrid>
              <a:tr h="370840">
                <a:tc>
                  <a:txBody>
                    <a:bodyPr/>
                    <a:lstStyle/>
                    <a:p>
                      <a:pPr algn="ctr"/>
                      <a:r>
                        <a:rPr lang="en-US" b="0" dirty="0">
                          <a:solidFill>
                            <a:schemeClr val="tx2">
                              <a:lumMod val="90000"/>
                              <a:lumOff val="10000"/>
                            </a:schemeClr>
                          </a:solidFill>
                        </a:rPr>
                        <a:t>Thursday</a:t>
                      </a:r>
                      <a:endParaRPr lang="en-IN" b="0" dirty="0">
                        <a:solidFill>
                          <a:schemeClr val="tx2">
                            <a:lumMod val="90000"/>
                            <a:lumOff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2">
                              <a:lumMod val="90000"/>
                              <a:lumOff val="10000"/>
                            </a:schemeClr>
                          </a:solidFill>
                        </a:rPr>
                        <a:t>Friday</a:t>
                      </a:r>
                      <a:endParaRPr lang="en-IN" b="0" dirty="0">
                        <a:solidFill>
                          <a:schemeClr val="tx2">
                            <a:lumMod val="90000"/>
                            <a:lumOff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0" dirty="0">
                          <a:solidFill>
                            <a:schemeClr val="tx2">
                              <a:lumMod val="90000"/>
                              <a:lumOff val="10000"/>
                            </a:schemeClr>
                          </a:solidFill>
                        </a:rPr>
                        <a:t>Saturday</a:t>
                      </a:r>
                      <a:endParaRPr lang="en-IN" b="0" dirty="0">
                        <a:solidFill>
                          <a:schemeClr val="tx2">
                            <a:lumMod val="90000"/>
                            <a:lumOff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25372040"/>
                  </a:ext>
                </a:extLst>
              </a:tr>
            </a:tbl>
          </a:graphicData>
        </a:graphic>
      </p:graphicFrame>
      <p:cxnSp>
        <p:nvCxnSpPr>
          <p:cNvPr id="10" name="Straight Arrow Connector 9">
            <a:extLst>
              <a:ext uri="{FF2B5EF4-FFF2-40B4-BE49-F238E27FC236}">
                <a16:creationId xmlns:a16="http://schemas.microsoft.com/office/drawing/2014/main" id="{1164B709-8D61-1F4F-73D7-E6CED078C093}"/>
              </a:ext>
            </a:extLst>
          </p:cNvPr>
          <p:cNvCxnSpPr>
            <a:cxnSpLocks/>
            <a:endCxn id="9" idx="3"/>
          </p:cNvCxnSpPr>
          <p:nvPr/>
        </p:nvCxnSpPr>
        <p:spPr>
          <a:xfrm flipH="1">
            <a:off x="3324586" y="1127277"/>
            <a:ext cx="43133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84F72A0-EF9F-B354-AADD-CBE9EB7934AD}"/>
              </a:ext>
            </a:extLst>
          </p:cNvPr>
          <p:cNvSpPr txBox="1"/>
          <p:nvPr/>
        </p:nvSpPr>
        <p:spPr>
          <a:xfrm>
            <a:off x="3755921" y="952950"/>
            <a:ext cx="1716514" cy="369332"/>
          </a:xfrm>
          <a:prstGeom prst="rect">
            <a:avLst/>
          </a:prstGeom>
          <a:noFill/>
        </p:spPr>
        <p:txBody>
          <a:bodyPr wrap="square" rtlCol="0">
            <a:spAutoFit/>
          </a:bodyPr>
          <a:lstStyle/>
          <a:p>
            <a:r>
              <a:rPr lang="en-US" dirty="0"/>
              <a:t>Ground Turth</a:t>
            </a:r>
            <a:endParaRPr lang="en-IN" dirty="0"/>
          </a:p>
        </p:txBody>
      </p:sp>
      <p:graphicFrame>
        <p:nvGraphicFramePr>
          <p:cNvPr id="12" name="Table 11">
            <a:extLst>
              <a:ext uri="{FF2B5EF4-FFF2-40B4-BE49-F238E27FC236}">
                <a16:creationId xmlns:a16="http://schemas.microsoft.com/office/drawing/2014/main" id="{6FEF3EEB-8B26-D1B0-3F07-E321BFC58B1A}"/>
              </a:ext>
            </a:extLst>
          </p:cNvPr>
          <p:cNvGraphicFramePr>
            <a:graphicFrameLocks noGrp="1"/>
          </p:cNvGraphicFramePr>
          <p:nvPr>
            <p:extLst>
              <p:ext uri="{D42A27DB-BD31-4B8C-83A1-F6EECF244321}">
                <p14:modId xmlns:p14="http://schemas.microsoft.com/office/powerpoint/2010/main" val="219908271"/>
              </p:ext>
            </p:extLst>
          </p:nvPr>
        </p:nvGraphicFramePr>
        <p:xfrm>
          <a:off x="1103675" y="1393106"/>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25372040"/>
                  </a:ext>
                </a:extLst>
              </a:tr>
            </a:tbl>
          </a:graphicData>
        </a:graphic>
      </p:graphicFrame>
      <p:graphicFrame>
        <p:nvGraphicFramePr>
          <p:cNvPr id="13" name="Table 12">
            <a:extLst>
              <a:ext uri="{FF2B5EF4-FFF2-40B4-BE49-F238E27FC236}">
                <a16:creationId xmlns:a16="http://schemas.microsoft.com/office/drawing/2014/main" id="{A0AC7781-3030-B1C8-CBB1-15843411BBA1}"/>
              </a:ext>
            </a:extLst>
          </p:cNvPr>
          <p:cNvGraphicFramePr>
            <a:graphicFrameLocks noGrp="1"/>
          </p:cNvGraphicFramePr>
          <p:nvPr>
            <p:extLst>
              <p:ext uri="{D42A27DB-BD31-4B8C-83A1-F6EECF244321}">
                <p14:modId xmlns:p14="http://schemas.microsoft.com/office/powerpoint/2010/main" val="551934703"/>
              </p:ext>
            </p:extLst>
          </p:nvPr>
        </p:nvGraphicFramePr>
        <p:xfrm>
          <a:off x="1103675" y="1738342"/>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625372040"/>
                  </a:ext>
                </a:extLst>
              </a:tr>
            </a:tbl>
          </a:graphicData>
        </a:graphic>
      </p:graphicFrame>
      <p:graphicFrame>
        <p:nvGraphicFramePr>
          <p:cNvPr id="14" name="Table 13">
            <a:extLst>
              <a:ext uri="{FF2B5EF4-FFF2-40B4-BE49-F238E27FC236}">
                <a16:creationId xmlns:a16="http://schemas.microsoft.com/office/drawing/2014/main" id="{589A4FBF-AC51-5343-907E-2265EAC44324}"/>
              </a:ext>
            </a:extLst>
          </p:cNvPr>
          <p:cNvGraphicFramePr>
            <a:graphicFrameLocks noGrp="1"/>
          </p:cNvGraphicFramePr>
          <p:nvPr>
            <p:extLst>
              <p:ext uri="{D42A27DB-BD31-4B8C-83A1-F6EECF244321}">
                <p14:modId xmlns:p14="http://schemas.microsoft.com/office/powerpoint/2010/main" val="1820146127"/>
              </p:ext>
            </p:extLst>
          </p:nvPr>
        </p:nvGraphicFramePr>
        <p:xfrm>
          <a:off x="1103675" y="2078915"/>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25372040"/>
                  </a:ext>
                </a:extLst>
              </a:tr>
            </a:tbl>
          </a:graphicData>
        </a:graphic>
      </p:graphicFrame>
      <p:graphicFrame>
        <p:nvGraphicFramePr>
          <p:cNvPr id="15" name="Table 14">
            <a:extLst>
              <a:ext uri="{FF2B5EF4-FFF2-40B4-BE49-F238E27FC236}">
                <a16:creationId xmlns:a16="http://schemas.microsoft.com/office/drawing/2014/main" id="{1EFB8780-249B-17FF-BCFF-2F08826DF42C}"/>
              </a:ext>
            </a:extLst>
          </p:cNvPr>
          <p:cNvGraphicFramePr>
            <a:graphicFrameLocks noGrp="1"/>
          </p:cNvGraphicFramePr>
          <p:nvPr>
            <p:extLst>
              <p:ext uri="{D42A27DB-BD31-4B8C-83A1-F6EECF244321}">
                <p14:modId xmlns:p14="http://schemas.microsoft.com/office/powerpoint/2010/main" val="1694394206"/>
              </p:ext>
            </p:extLst>
          </p:nvPr>
        </p:nvGraphicFramePr>
        <p:xfrm>
          <a:off x="1103675" y="2406219"/>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25372040"/>
                  </a:ext>
                </a:extLst>
              </a:tr>
            </a:tbl>
          </a:graphicData>
        </a:graphic>
      </p:graphicFrame>
      <p:graphicFrame>
        <p:nvGraphicFramePr>
          <p:cNvPr id="16" name="Table 15">
            <a:extLst>
              <a:ext uri="{FF2B5EF4-FFF2-40B4-BE49-F238E27FC236}">
                <a16:creationId xmlns:a16="http://schemas.microsoft.com/office/drawing/2014/main" id="{75C1554B-69F2-B92D-70DC-0D1871C75CB9}"/>
              </a:ext>
            </a:extLst>
          </p:cNvPr>
          <p:cNvGraphicFramePr>
            <a:graphicFrameLocks noGrp="1"/>
          </p:cNvGraphicFramePr>
          <p:nvPr>
            <p:extLst>
              <p:ext uri="{D42A27DB-BD31-4B8C-83A1-F6EECF244321}">
                <p14:modId xmlns:p14="http://schemas.microsoft.com/office/powerpoint/2010/main" val="1068194093"/>
              </p:ext>
            </p:extLst>
          </p:nvPr>
        </p:nvGraphicFramePr>
        <p:xfrm>
          <a:off x="1097032" y="2721478"/>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algn="ctr" defTabSz="914400" rtl="0" eaLnBrk="1" latinLnBrk="0" hangingPunct="1"/>
                      <a:r>
                        <a:rPr lang="en-US" sz="1200" b="0" kern="1200" dirty="0">
                          <a:solidFill>
                            <a:schemeClr val="tx2">
                              <a:lumMod val="90000"/>
                              <a:lumOff val="10000"/>
                            </a:schemeClr>
                          </a:solidFill>
                          <a:latin typeface="+mn-lt"/>
                          <a:ea typeface="+mn-ea"/>
                          <a:cs typeface="+mn-cs"/>
                        </a:rPr>
                        <a:t>Sunday</a:t>
                      </a:r>
                      <a:endParaRPr lang="en-IN" sz="1200" b="0" kern="1200" dirty="0">
                        <a:solidFill>
                          <a:schemeClr val="tx2">
                            <a:lumMod val="90000"/>
                            <a:lumOff val="10000"/>
                          </a:schemeClr>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625372040"/>
                  </a:ext>
                </a:extLst>
              </a:tr>
            </a:tbl>
          </a:graphicData>
        </a:graphic>
      </p:graphicFrame>
      <p:graphicFrame>
        <p:nvGraphicFramePr>
          <p:cNvPr id="17" name="Table 16">
            <a:extLst>
              <a:ext uri="{FF2B5EF4-FFF2-40B4-BE49-F238E27FC236}">
                <a16:creationId xmlns:a16="http://schemas.microsoft.com/office/drawing/2014/main" id="{950DFFA3-5CE9-1629-6F49-9D9EEB819060}"/>
              </a:ext>
            </a:extLst>
          </p:cNvPr>
          <p:cNvGraphicFramePr>
            <a:graphicFrameLocks noGrp="1"/>
          </p:cNvGraphicFramePr>
          <p:nvPr>
            <p:extLst>
              <p:ext uri="{D42A27DB-BD31-4B8C-83A1-F6EECF244321}">
                <p14:modId xmlns:p14="http://schemas.microsoft.com/office/powerpoint/2010/main" val="680343936"/>
              </p:ext>
            </p:extLst>
          </p:nvPr>
        </p:nvGraphicFramePr>
        <p:xfrm>
          <a:off x="1103675" y="3350343"/>
          <a:ext cx="3289254" cy="274320"/>
        </p:xfrm>
        <a:graphic>
          <a:graphicData uri="http://schemas.openxmlformats.org/drawingml/2006/table">
            <a:tbl>
              <a:tblPr firstRow="1" bandRow="1">
                <a:tableStyleId>{5C22544A-7EE6-4342-B048-85BDC9FD1C3A}</a:tableStyleId>
              </a:tblPr>
              <a:tblGrid>
                <a:gridCol w="868039">
                  <a:extLst>
                    <a:ext uri="{9D8B030D-6E8A-4147-A177-3AD203B41FA5}">
                      <a16:colId xmlns:a16="http://schemas.microsoft.com/office/drawing/2014/main" val="2102312840"/>
                    </a:ext>
                  </a:extLst>
                </a:gridCol>
                <a:gridCol w="1330960">
                  <a:extLst>
                    <a:ext uri="{9D8B030D-6E8A-4147-A177-3AD203B41FA5}">
                      <a16:colId xmlns:a16="http://schemas.microsoft.com/office/drawing/2014/main" val="3656183140"/>
                    </a:ext>
                  </a:extLst>
                </a:gridCol>
                <a:gridCol w="1090255">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Friday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625372040"/>
                  </a:ext>
                </a:extLst>
              </a:tr>
            </a:tbl>
          </a:graphicData>
        </a:graphic>
      </p:graphicFrame>
      <p:sp>
        <p:nvSpPr>
          <p:cNvPr id="18" name="Rectangle 17">
            <a:extLst>
              <a:ext uri="{FF2B5EF4-FFF2-40B4-BE49-F238E27FC236}">
                <a16:creationId xmlns:a16="http://schemas.microsoft.com/office/drawing/2014/main" id="{5CA3A1A2-11F4-CBF4-7B63-E817171CE6F7}"/>
              </a:ext>
            </a:extLst>
          </p:cNvPr>
          <p:cNvSpPr/>
          <p:nvPr/>
        </p:nvSpPr>
        <p:spPr>
          <a:xfrm>
            <a:off x="2615861" y="3036282"/>
            <a:ext cx="294632" cy="314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9" name="Picture 18">
            <a:extLst>
              <a:ext uri="{FF2B5EF4-FFF2-40B4-BE49-F238E27FC236}">
                <a16:creationId xmlns:a16="http://schemas.microsoft.com/office/drawing/2014/main" id="{C3380A02-A597-4C04-488F-ACB97FD7B864}"/>
              </a:ext>
            </a:extLst>
          </p:cNvPr>
          <p:cNvPicPr>
            <a:picLocks noChangeAspect="1"/>
          </p:cNvPicPr>
          <p:nvPr/>
        </p:nvPicPr>
        <p:blipFill>
          <a:blip r:embed="rId5"/>
          <a:stretch>
            <a:fillRect/>
          </a:stretch>
        </p:blipFill>
        <p:spPr>
          <a:xfrm>
            <a:off x="2662573" y="3023039"/>
            <a:ext cx="74575" cy="310731"/>
          </a:xfrm>
          <a:prstGeom prst="rect">
            <a:avLst/>
          </a:prstGeom>
        </p:spPr>
      </p:pic>
      <p:sp>
        <p:nvSpPr>
          <p:cNvPr id="20" name="Rectangle 19">
            <a:extLst>
              <a:ext uri="{FF2B5EF4-FFF2-40B4-BE49-F238E27FC236}">
                <a16:creationId xmlns:a16="http://schemas.microsoft.com/office/drawing/2014/main" id="{EC115F83-1361-2221-B39E-3531180CD11D}"/>
              </a:ext>
            </a:extLst>
          </p:cNvPr>
          <p:cNvSpPr/>
          <p:nvPr/>
        </p:nvSpPr>
        <p:spPr>
          <a:xfrm>
            <a:off x="1096055" y="837415"/>
            <a:ext cx="2227553" cy="2839557"/>
          </a:xfrm>
          <a:custGeom>
            <a:avLst/>
            <a:gdLst>
              <a:gd name="csX0" fmla="*/ 0 w 2227553"/>
              <a:gd name="csY0" fmla="*/ 0 h 2839557"/>
              <a:gd name="csX1" fmla="*/ 534613 w 2227553"/>
              <a:gd name="csY1" fmla="*/ 0 h 2839557"/>
              <a:gd name="csX2" fmla="*/ 1024674 w 2227553"/>
              <a:gd name="csY2" fmla="*/ 0 h 2839557"/>
              <a:gd name="csX3" fmla="*/ 1626114 w 2227553"/>
              <a:gd name="csY3" fmla="*/ 0 h 2839557"/>
              <a:gd name="csX4" fmla="*/ 2227553 w 2227553"/>
              <a:gd name="csY4" fmla="*/ 0 h 2839557"/>
              <a:gd name="csX5" fmla="*/ 2227553 w 2227553"/>
              <a:gd name="csY5" fmla="*/ 539516 h 2839557"/>
              <a:gd name="csX6" fmla="*/ 2227553 w 2227553"/>
              <a:gd name="csY6" fmla="*/ 1050636 h 2839557"/>
              <a:gd name="csX7" fmla="*/ 2227553 w 2227553"/>
              <a:gd name="csY7" fmla="*/ 1618547 h 2839557"/>
              <a:gd name="csX8" fmla="*/ 2227553 w 2227553"/>
              <a:gd name="csY8" fmla="*/ 2186459 h 2839557"/>
              <a:gd name="csX9" fmla="*/ 2227553 w 2227553"/>
              <a:gd name="csY9" fmla="*/ 2839557 h 2839557"/>
              <a:gd name="csX10" fmla="*/ 1715216 w 2227553"/>
              <a:gd name="csY10" fmla="*/ 2839557 h 2839557"/>
              <a:gd name="csX11" fmla="*/ 1158328 w 2227553"/>
              <a:gd name="csY11" fmla="*/ 2839557 h 2839557"/>
              <a:gd name="csX12" fmla="*/ 623715 w 2227553"/>
              <a:gd name="csY12" fmla="*/ 2839557 h 2839557"/>
              <a:gd name="csX13" fmla="*/ 0 w 2227553"/>
              <a:gd name="csY13" fmla="*/ 2839557 h 2839557"/>
              <a:gd name="csX14" fmla="*/ 0 w 2227553"/>
              <a:gd name="csY14" fmla="*/ 2214854 h 2839557"/>
              <a:gd name="csX15" fmla="*/ 0 w 2227553"/>
              <a:gd name="csY15" fmla="*/ 1590152 h 2839557"/>
              <a:gd name="csX16" fmla="*/ 0 w 2227553"/>
              <a:gd name="csY16" fmla="*/ 1022241 h 2839557"/>
              <a:gd name="csX17" fmla="*/ 0 w 2227553"/>
              <a:gd name="csY17" fmla="*/ 0 h 28395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227553" h="2839557" extrusionOk="0">
                <a:moveTo>
                  <a:pt x="0" y="0"/>
                </a:moveTo>
                <a:cubicBezTo>
                  <a:pt x="221431" y="-62832"/>
                  <a:pt x="329678" y="10018"/>
                  <a:pt x="534613" y="0"/>
                </a:cubicBezTo>
                <a:cubicBezTo>
                  <a:pt x="739548" y="-10018"/>
                  <a:pt x="886006" y="42524"/>
                  <a:pt x="1024674" y="0"/>
                </a:cubicBezTo>
                <a:cubicBezTo>
                  <a:pt x="1163342" y="-42524"/>
                  <a:pt x="1427655" y="24082"/>
                  <a:pt x="1626114" y="0"/>
                </a:cubicBezTo>
                <a:cubicBezTo>
                  <a:pt x="1824573" y="-24082"/>
                  <a:pt x="2087273" y="8256"/>
                  <a:pt x="2227553" y="0"/>
                </a:cubicBezTo>
                <a:cubicBezTo>
                  <a:pt x="2285797" y="175325"/>
                  <a:pt x="2224512" y="317180"/>
                  <a:pt x="2227553" y="539516"/>
                </a:cubicBezTo>
                <a:cubicBezTo>
                  <a:pt x="2230594" y="761852"/>
                  <a:pt x="2220830" y="797413"/>
                  <a:pt x="2227553" y="1050636"/>
                </a:cubicBezTo>
                <a:cubicBezTo>
                  <a:pt x="2234276" y="1303859"/>
                  <a:pt x="2182203" y="1378031"/>
                  <a:pt x="2227553" y="1618547"/>
                </a:cubicBezTo>
                <a:cubicBezTo>
                  <a:pt x="2272903" y="1859063"/>
                  <a:pt x="2170648" y="1990372"/>
                  <a:pt x="2227553" y="2186459"/>
                </a:cubicBezTo>
                <a:cubicBezTo>
                  <a:pt x="2284458" y="2382546"/>
                  <a:pt x="2201625" y="2620316"/>
                  <a:pt x="2227553" y="2839557"/>
                </a:cubicBezTo>
                <a:cubicBezTo>
                  <a:pt x="2054691" y="2878615"/>
                  <a:pt x="1901716" y="2836777"/>
                  <a:pt x="1715216" y="2839557"/>
                </a:cubicBezTo>
                <a:cubicBezTo>
                  <a:pt x="1528716" y="2842337"/>
                  <a:pt x="1274158" y="2809981"/>
                  <a:pt x="1158328" y="2839557"/>
                </a:cubicBezTo>
                <a:cubicBezTo>
                  <a:pt x="1042498" y="2869133"/>
                  <a:pt x="736832" y="2778375"/>
                  <a:pt x="623715" y="2839557"/>
                </a:cubicBezTo>
                <a:cubicBezTo>
                  <a:pt x="510598" y="2900739"/>
                  <a:pt x="150662" y="2806571"/>
                  <a:pt x="0" y="2839557"/>
                </a:cubicBezTo>
                <a:cubicBezTo>
                  <a:pt x="-65204" y="2642671"/>
                  <a:pt x="3946" y="2422805"/>
                  <a:pt x="0" y="2214854"/>
                </a:cubicBezTo>
                <a:cubicBezTo>
                  <a:pt x="-3946" y="2006903"/>
                  <a:pt x="42526" y="1763041"/>
                  <a:pt x="0" y="1590152"/>
                </a:cubicBezTo>
                <a:cubicBezTo>
                  <a:pt x="-42526" y="1417263"/>
                  <a:pt x="10432" y="1269390"/>
                  <a:pt x="0" y="1022241"/>
                </a:cubicBezTo>
                <a:cubicBezTo>
                  <a:pt x="-10432" y="775092"/>
                  <a:pt x="103209" y="243524"/>
                  <a:pt x="0" y="0"/>
                </a:cubicBezTo>
                <a:close/>
              </a:path>
            </a:pathLst>
          </a:custGeom>
          <a:noFill/>
          <a:ln w="28575">
            <a:prstDash val="sysDot"/>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5" name="Table 24">
            <a:extLst>
              <a:ext uri="{FF2B5EF4-FFF2-40B4-BE49-F238E27FC236}">
                <a16:creationId xmlns:a16="http://schemas.microsoft.com/office/drawing/2014/main" id="{12D9B3E1-3A95-07C0-9709-D7B69BA1127A}"/>
              </a:ext>
            </a:extLst>
          </p:cNvPr>
          <p:cNvGraphicFramePr>
            <a:graphicFrameLocks noGrp="1"/>
          </p:cNvGraphicFramePr>
          <p:nvPr>
            <p:extLst>
              <p:ext uri="{D42A27DB-BD31-4B8C-83A1-F6EECF244321}">
                <p14:modId xmlns:p14="http://schemas.microsoft.com/office/powerpoint/2010/main" val="3192477943"/>
              </p:ext>
            </p:extLst>
          </p:nvPr>
        </p:nvGraphicFramePr>
        <p:xfrm>
          <a:off x="1987595" y="3821746"/>
          <a:ext cx="3289254" cy="457200"/>
        </p:xfrm>
        <a:graphic>
          <a:graphicData uri="http://schemas.openxmlformats.org/drawingml/2006/table">
            <a:tbl>
              <a:tblPr firstRow="1" bandRow="1">
                <a:tableStyleId>{5C22544A-7EE6-4342-B048-85BDC9FD1C3A}</a:tableStyleId>
              </a:tblPr>
              <a:tblGrid>
                <a:gridCol w="1324565">
                  <a:extLst>
                    <a:ext uri="{9D8B030D-6E8A-4147-A177-3AD203B41FA5}">
                      <a16:colId xmlns:a16="http://schemas.microsoft.com/office/drawing/2014/main" val="2102312840"/>
                    </a:ext>
                  </a:extLst>
                </a:gridCol>
                <a:gridCol w="1082040">
                  <a:extLst>
                    <a:ext uri="{9D8B030D-6E8A-4147-A177-3AD203B41FA5}">
                      <a16:colId xmlns:a16="http://schemas.microsoft.com/office/drawing/2014/main" val="3656183140"/>
                    </a:ext>
                  </a:extLst>
                </a:gridCol>
                <a:gridCol w="882649">
                  <a:extLst>
                    <a:ext uri="{9D8B030D-6E8A-4147-A177-3AD203B41FA5}">
                      <a16:colId xmlns:a16="http://schemas.microsoft.com/office/drawing/2014/main" val="3396704487"/>
                    </a:ext>
                  </a:extLst>
                </a:gridCol>
              </a:tblGrid>
              <a:tr h="1842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p>
                      <a:pPr algn="ct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0" dirty="0">
                          <a:solidFill>
                            <a:schemeClr val="tx2">
                              <a:lumMod val="90000"/>
                              <a:lumOff val="10000"/>
                            </a:schemeClr>
                          </a:solidFill>
                        </a:rPr>
                        <a:t>Monday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25372040"/>
                  </a:ext>
                </a:extLst>
              </a:tr>
            </a:tbl>
          </a:graphicData>
        </a:graphic>
      </p:graphicFrame>
      <p:graphicFrame>
        <p:nvGraphicFramePr>
          <p:cNvPr id="26" name="Table 25">
            <a:extLst>
              <a:ext uri="{FF2B5EF4-FFF2-40B4-BE49-F238E27FC236}">
                <a16:creationId xmlns:a16="http://schemas.microsoft.com/office/drawing/2014/main" id="{F0F75943-16C3-2EA9-A298-FB9539152254}"/>
              </a:ext>
            </a:extLst>
          </p:cNvPr>
          <p:cNvGraphicFramePr>
            <a:graphicFrameLocks noGrp="1"/>
          </p:cNvGraphicFramePr>
          <p:nvPr>
            <p:extLst>
              <p:ext uri="{D42A27DB-BD31-4B8C-83A1-F6EECF244321}">
                <p14:modId xmlns:p14="http://schemas.microsoft.com/office/powerpoint/2010/main" val="1679568501"/>
              </p:ext>
            </p:extLst>
          </p:nvPr>
        </p:nvGraphicFramePr>
        <p:xfrm>
          <a:off x="1987595" y="4166982"/>
          <a:ext cx="3289254" cy="457200"/>
        </p:xfrm>
        <a:graphic>
          <a:graphicData uri="http://schemas.openxmlformats.org/drawingml/2006/table">
            <a:tbl>
              <a:tblPr firstRow="1" bandRow="1">
                <a:tableStyleId>{5C22544A-7EE6-4342-B048-85BDC9FD1C3A}</a:tableStyleId>
              </a:tblPr>
              <a:tblGrid>
                <a:gridCol w="1324565">
                  <a:extLst>
                    <a:ext uri="{9D8B030D-6E8A-4147-A177-3AD203B41FA5}">
                      <a16:colId xmlns:a16="http://schemas.microsoft.com/office/drawing/2014/main" val="2102312840"/>
                    </a:ext>
                  </a:extLst>
                </a:gridCol>
                <a:gridCol w="1079500">
                  <a:extLst>
                    <a:ext uri="{9D8B030D-6E8A-4147-A177-3AD203B41FA5}">
                      <a16:colId xmlns:a16="http://schemas.microsoft.com/office/drawing/2014/main" val="3656183140"/>
                    </a:ext>
                  </a:extLst>
                </a:gridCol>
                <a:gridCol w="885189">
                  <a:extLst>
                    <a:ext uri="{9D8B030D-6E8A-4147-A177-3AD203B41FA5}">
                      <a16:colId xmlns:a16="http://schemas.microsoft.com/office/drawing/2014/main" val="3396704487"/>
                    </a:ext>
                  </a:extLst>
                </a:gridCol>
              </a:tblGrid>
              <a:tr h="1842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p>
                      <a:pPr algn="ct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sz="1200" b="0" dirty="0">
                          <a:solidFill>
                            <a:schemeClr val="tx2">
                              <a:lumMod val="90000"/>
                              <a:lumOff val="10000"/>
                            </a:schemeClr>
                          </a:solidFill>
                        </a:rPr>
                        <a:t>Monday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625372040"/>
                  </a:ext>
                </a:extLst>
              </a:tr>
            </a:tbl>
          </a:graphicData>
        </a:graphic>
      </p:graphicFrame>
      <p:graphicFrame>
        <p:nvGraphicFramePr>
          <p:cNvPr id="27" name="Table 26">
            <a:extLst>
              <a:ext uri="{FF2B5EF4-FFF2-40B4-BE49-F238E27FC236}">
                <a16:creationId xmlns:a16="http://schemas.microsoft.com/office/drawing/2014/main" id="{6DE15309-C0BC-9B54-3041-4811912ACE33}"/>
              </a:ext>
            </a:extLst>
          </p:cNvPr>
          <p:cNvGraphicFramePr>
            <a:graphicFrameLocks noGrp="1"/>
          </p:cNvGraphicFramePr>
          <p:nvPr>
            <p:extLst>
              <p:ext uri="{D42A27DB-BD31-4B8C-83A1-F6EECF244321}">
                <p14:modId xmlns:p14="http://schemas.microsoft.com/office/powerpoint/2010/main" val="3377495372"/>
              </p:ext>
            </p:extLst>
          </p:nvPr>
        </p:nvGraphicFramePr>
        <p:xfrm>
          <a:off x="1987595" y="4507555"/>
          <a:ext cx="3289254" cy="457200"/>
        </p:xfrm>
        <a:graphic>
          <a:graphicData uri="http://schemas.openxmlformats.org/drawingml/2006/table">
            <a:tbl>
              <a:tblPr firstRow="1" bandRow="1">
                <a:tableStyleId>{5C22544A-7EE6-4342-B048-85BDC9FD1C3A}</a:tableStyleId>
              </a:tblPr>
              <a:tblGrid>
                <a:gridCol w="1329645">
                  <a:extLst>
                    <a:ext uri="{9D8B030D-6E8A-4147-A177-3AD203B41FA5}">
                      <a16:colId xmlns:a16="http://schemas.microsoft.com/office/drawing/2014/main" val="2102312840"/>
                    </a:ext>
                  </a:extLst>
                </a:gridCol>
                <a:gridCol w="1087120">
                  <a:extLst>
                    <a:ext uri="{9D8B030D-6E8A-4147-A177-3AD203B41FA5}">
                      <a16:colId xmlns:a16="http://schemas.microsoft.com/office/drawing/2014/main" val="3656183140"/>
                    </a:ext>
                  </a:extLst>
                </a:gridCol>
                <a:gridCol w="872489">
                  <a:extLst>
                    <a:ext uri="{9D8B030D-6E8A-4147-A177-3AD203B41FA5}">
                      <a16:colId xmlns:a16="http://schemas.microsoft.com/office/drawing/2014/main" val="3396704487"/>
                    </a:ext>
                  </a:extLst>
                </a:gridCol>
              </a:tblGrid>
              <a:tr h="1842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p>
                      <a:pPr algn="ct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200" b="0" dirty="0">
                          <a:solidFill>
                            <a:schemeClr val="tx2">
                              <a:lumMod val="90000"/>
                              <a:lumOff val="10000"/>
                            </a:schemeClr>
                          </a:solidFill>
                        </a:rPr>
                        <a:t>Monday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25372040"/>
                  </a:ext>
                </a:extLst>
              </a:tr>
            </a:tbl>
          </a:graphicData>
        </a:graphic>
      </p:graphicFrame>
      <p:graphicFrame>
        <p:nvGraphicFramePr>
          <p:cNvPr id="28" name="Table 27">
            <a:extLst>
              <a:ext uri="{FF2B5EF4-FFF2-40B4-BE49-F238E27FC236}">
                <a16:creationId xmlns:a16="http://schemas.microsoft.com/office/drawing/2014/main" id="{6B74529D-F2C5-E45E-80C8-B7C869FA8E3E}"/>
              </a:ext>
            </a:extLst>
          </p:cNvPr>
          <p:cNvGraphicFramePr>
            <a:graphicFrameLocks noGrp="1"/>
          </p:cNvGraphicFramePr>
          <p:nvPr>
            <p:extLst>
              <p:ext uri="{D42A27DB-BD31-4B8C-83A1-F6EECF244321}">
                <p14:modId xmlns:p14="http://schemas.microsoft.com/office/powerpoint/2010/main" val="3257674641"/>
              </p:ext>
            </p:extLst>
          </p:nvPr>
        </p:nvGraphicFramePr>
        <p:xfrm>
          <a:off x="1987595" y="4834859"/>
          <a:ext cx="3289254" cy="457200"/>
        </p:xfrm>
        <a:graphic>
          <a:graphicData uri="http://schemas.openxmlformats.org/drawingml/2006/table">
            <a:tbl>
              <a:tblPr firstRow="1" bandRow="1">
                <a:tableStyleId>{5C22544A-7EE6-4342-B048-85BDC9FD1C3A}</a:tableStyleId>
              </a:tblPr>
              <a:tblGrid>
                <a:gridCol w="1328629">
                  <a:extLst>
                    <a:ext uri="{9D8B030D-6E8A-4147-A177-3AD203B41FA5}">
                      <a16:colId xmlns:a16="http://schemas.microsoft.com/office/drawing/2014/main" val="2102312840"/>
                    </a:ext>
                  </a:extLst>
                </a:gridCol>
                <a:gridCol w="1083056">
                  <a:extLst>
                    <a:ext uri="{9D8B030D-6E8A-4147-A177-3AD203B41FA5}">
                      <a16:colId xmlns:a16="http://schemas.microsoft.com/office/drawing/2014/main" val="3656183140"/>
                    </a:ext>
                  </a:extLst>
                </a:gridCol>
                <a:gridCol w="877569">
                  <a:extLst>
                    <a:ext uri="{9D8B030D-6E8A-4147-A177-3AD203B41FA5}">
                      <a16:colId xmlns:a16="http://schemas.microsoft.com/office/drawing/2014/main" val="3396704487"/>
                    </a:ext>
                  </a:extLst>
                </a:gridCol>
              </a:tblGrid>
              <a:tr h="1842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p>
                      <a:pPr algn="ct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1200" b="0" dirty="0">
                          <a:solidFill>
                            <a:schemeClr val="tx2">
                              <a:lumMod val="90000"/>
                              <a:lumOff val="10000"/>
                            </a:schemeClr>
                          </a:solidFill>
                        </a:rPr>
                        <a:t>Monday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25372040"/>
                  </a:ext>
                </a:extLst>
              </a:tr>
            </a:tbl>
          </a:graphicData>
        </a:graphic>
      </p:graphicFrame>
      <p:graphicFrame>
        <p:nvGraphicFramePr>
          <p:cNvPr id="29" name="Table 28">
            <a:extLst>
              <a:ext uri="{FF2B5EF4-FFF2-40B4-BE49-F238E27FC236}">
                <a16:creationId xmlns:a16="http://schemas.microsoft.com/office/drawing/2014/main" id="{E4B15CA9-3037-8A4E-1087-579B32454906}"/>
              </a:ext>
            </a:extLst>
          </p:cNvPr>
          <p:cNvGraphicFramePr>
            <a:graphicFrameLocks noGrp="1"/>
          </p:cNvGraphicFramePr>
          <p:nvPr>
            <p:extLst>
              <p:ext uri="{D42A27DB-BD31-4B8C-83A1-F6EECF244321}">
                <p14:modId xmlns:p14="http://schemas.microsoft.com/office/powerpoint/2010/main" val="4228819513"/>
              </p:ext>
            </p:extLst>
          </p:nvPr>
        </p:nvGraphicFramePr>
        <p:xfrm>
          <a:off x="1980952" y="5150118"/>
          <a:ext cx="3289254" cy="274320"/>
        </p:xfrm>
        <a:graphic>
          <a:graphicData uri="http://schemas.openxmlformats.org/drawingml/2006/table">
            <a:tbl>
              <a:tblPr firstRow="1" bandRow="1">
                <a:tableStyleId>{5C22544A-7EE6-4342-B048-85BDC9FD1C3A}</a:tableStyleId>
              </a:tblPr>
              <a:tblGrid>
                <a:gridCol w="1336288">
                  <a:extLst>
                    <a:ext uri="{9D8B030D-6E8A-4147-A177-3AD203B41FA5}">
                      <a16:colId xmlns:a16="http://schemas.microsoft.com/office/drawing/2014/main" val="2102312840"/>
                    </a:ext>
                  </a:extLst>
                </a:gridCol>
                <a:gridCol w="1084580">
                  <a:extLst>
                    <a:ext uri="{9D8B030D-6E8A-4147-A177-3AD203B41FA5}">
                      <a16:colId xmlns:a16="http://schemas.microsoft.com/office/drawing/2014/main" val="3656183140"/>
                    </a:ext>
                  </a:extLst>
                </a:gridCol>
                <a:gridCol w="868386">
                  <a:extLst>
                    <a:ext uri="{9D8B030D-6E8A-4147-A177-3AD203B41FA5}">
                      <a16:colId xmlns:a16="http://schemas.microsoft.com/office/drawing/2014/main" val="3396704487"/>
                    </a:ext>
                  </a:extLst>
                </a:gridCol>
              </a:tblGrid>
              <a:tr h="1842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algn="ctr" defTabSz="914400" rtl="0" eaLnBrk="1" latinLnBrk="0" hangingPunct="1"/>
                      <a:r>
                        <a:rPr lang="en-US" sz="1200" b="0" dirty="0">
                          <a:solidFill>
                            <a:schemeClr val="tx2">
                              <a:lumMod val="90000"/>
                              <a:lumOff val="10000"/>
                            </a:schemeClr>
                          </a:solidFill>
                        </a:rPr>
                        <a:t>Monday</a:t>
                      </a:r>
                      <a:endParaRPr lang="en-IN" sz="1200" b="0" kern="1200" dirty="0">
                        <a:solidFill>
                          <a:schemeClr val="tx2">
                            <a:lumMod val="90000"/>
                            <a:lumOff val="10000"/>
                          </a:schemeClr>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AA84"/>
                    </a:solidFill>
                  </a:tcPr>
                </a:tc>
                <a:extLst>
                  <a:ext uri="{0D108BD9-81ED-4DB2-BD59-A6C34878D82A}">
                    <a16:rowId xmlns:a16="http://schemas.microsoft.com/office/drawing/2014/main" val="2625372040"/>
                  </a:ext>
                </a:extLst>
              </a:tr>
            </a:tbl>
          </a:graphicData>
        </a:graphic>
      </p:graphicFrame>
      <p:graphicFrame>
        <p:nvGraphicFramePr>
          <p:cNvPr id="30" name="Table 29">
            <a:extLst>
              <a:ext uri="{FF2B5EF4-FFF2-40B4-BE49-F238E27FC236}">
                <a16:creationId xmlns:a16="http://schemas.microsoft.com/office/drawing/2014/main" id="{1DA6B1D3-276B-43C5-9FC7-B7B897C1AD43}"/>
              </a:ext>
            </a:extLst>
          </p:cNvPr>
          <p:cNvGraphicFramePr>
            <a:graphicFrameLocks noGrp="1"/>
          </p:cNvGraphicFramePr>
          <p:nvPr>
            <p:extLst>
              <p:ext uri="{D42A27DB-BD31-4B8C-83A1-F6EECF244321}">
                <p14:modId xmlns:p14="http://schemas.microsoft.com/office/powerpoint/2010/main" val="3327191510"/>
              </p:ext>
            </p:extLst>
          </p:nvPr>
        </p:nvGraphicFramePr>
        <p:xfrm>
          <a:off x="1987595" y="5778983"/>
          <a:ext cx="3289254" cy="274320"/>
        </p:xfrm>
        <a:graphic>
          <a:graphicData uri="http://schemas.openxmlformats.org/drawingml/2006/table">
            <a:tbl>
              <a:tblPr firstRow="1" bandRow="1">
                <a:tableStyleId>{5C22544A-7EE6-4342-B048-85BDC9FD1C3A}</a:tableStyleId>
              </a:tblPr>
              <a:tblGrid>
                <a:gridCol w="1304245">
                  <a:extLst>
                    <a:ext uri="{9D8B030D-6E8A-4147-A177-3AD203B41FA5}">
                      <a16:colId xmlns:a16="http://schemas.microsoft.com/office/drawing/2014/main" val="2102312840"/>
                    </a:ext>
                  </a:extLst>
                </a:gridCol>
                <a:gridCol w="1122680">
                  <a:extLst>
                    <a:ext uri="{9D8B030D-6E8A-4147-A177-3AD203B41FA5}">
                      <a16:colId xmlns:a16="http://schemas.microsoft.com/office/drawing/2014/main" val="3656183140"/>
                    </a:ext>
                  </a:extLst>
                </a:gridCol>
                <a:gridCol w="862329">
                  <a:extLst>
                    <a:ext uri="{9D8B030D-6E8A-4147-A177-3AD203B41FA5}">
                      <a16:colId xmlns:a16="http://schemas.microsoft.com/office/drawing/2014/main" val="3396704487"/>
                    </a:ext>
                  </a:extLst>
                </a:gridCol>
              </a:tblGrid>
              <a:tr h="184279">
                <a:tc>
                  <a:txBody>
                    <a:bodyPr/>
                    <a:lstStyle/>
                    <a:p>
                      <a:pPr algn="ctr"/>
                      <a:r>
                        <a:rPr lang="en-US" sz="1200" b="0" dirty="0">
                          <a:solidFill>
                            <a:schemeClr val="tx2">
                              <a:lumMod val="90000"/>
                              <a:lumOff val="10000"/>
                            </a:schemeClr>
                          </a:solidFill>
                        </a:rPr>
                        <a:t>Saturday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a:r>
                        <a:rPr lang="en-US" sz="1200" b="0" dirty="0">
                          <a:solidFill>
                            <a:schemeClr val="tx2">
                              <a:lumMod val="90000"/>
                              <a:lumOff val="10000"/>
                            </a:schemeClr>
                          </a:solidFill>
                        </a:rPr>
                        <a:t>Sunday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algn="ctr"/>
                      <a:r>
                        <a:rPr lang="en-US" sz="1200" b="0" dirty="0">
                          <a:solidFill>
                            <a:schemeClr val="tx2">
                              <a:lumMod val="90000"/>
                              <a:lumOff val="10000"/>
                            </a:schemeClr>
                          </a:solidFill>
                        </a:rPr>
                        <a:t>Monday</a:t>
                      </a:r>
                      <a:endParaRPr lang="en-IN" sz="1200" b="0" dirty="0">
                        <a:solidFill>
                          <a:schemeClr val="tx2">
                            <a:lumMod val="90000"/>
                            <a:lumOff val="1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2625372040"/>
                  </a:ext>
                </a:extLst>
              </a:tr>
            </a:tbl>
          </a:graphicData>
        </a:graphic>
      </p:graphicFrame>
      <p:pic>
        <p:nvPicPr>
          <p:cNvPr id="31" name="Picture 30">
            <a:extLst>
              <a:ext uri="{FF2B5EF4-FFF2-40B4-BE49-F238E27FC236}">
                <a16:creationId xmlns:a16="http://schemas.microsoft.com/office/drawing/2014/main" id="{DBECF8AA-2A23-BDAF-8E23-F4F580FC9C54}"/>
              </a:ext>
            </a:extLst>
          </p:cNvPr>
          <p:cNvPicPr>
            <a:picLocks noChangeAspect="1"/>
          </p:cNvPicPr>
          <p:nvPr/>
        </p:nvPicPr>
        <p:blipFill>
          <a:blip r:embed="rId5"/>
          <a:stretch>
            <a:fillRect/>
          </a:stretch>
        </p:blipFill>
        <p:spPr>
          <a:xfrm>
            <a:off x="3755921" y="5447298"/>
            <a:ext cx="74575" cy="310731"/>
          </a:xfrm>
          <a:prstGeom prst="rect">
            <a:avLst/>
          </a:prstGeom>
        </p:spPr>
      </p:pic>
      <p:sp>
        <p:nvSpPr>
          <p:cNvPr id="32" name="Left Brace 31">
            <a:extLst>
              <a:ext uri="{FF2B5EF4-FFF2-40B4-BE49-F238E27FC236}">
                <a16:creationId xmlns:a16="http://schemas.microsoft.com/office/drawing/2014/main" id="{FEA3B44A-472D-8E1B-2129-A281D0BFD370}"/>
              </a:ext>
            </a:extLst>
          </p:cNvPr>
          <p:cNvSpPr/>
          <p:nvPr/>
        </p:nvSpPr>
        <p:spPr>
          <a:xfrm>
            <a:off x="845574" y="1391354"/>
            <a:ext cx="88491" cy="2285618"/>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33" name="TextBox 32">
            <a:extLst>
              <a:ext uri="{FF2B5EF4-FFF2-40B4-BE49-F238E27FC236}">
                <a16:creationId xmlns:a16="http://schemas.microsoft.com/office/drawing/2014/main" id="{7D03A3F8-FB6B-1BD5-485C-A5D8BC12A3FD}"/>
              </a:ext>
            </a:extLst>
          </p:cNvPr>
          <p:cNvSpPr txBox="1"/>
          <p:nvPr/>
        </p:nvSpPr>
        <p:spPr>
          <a:xfrm>
            <a:off x="-1543159" y="1990398"/>
            <a:ext cx="3875879" cy="954107"/>
          </a:xfrm>
          <a:prstGeom prst="rect">
            <a:avLst/>
          </a:prstGeom>
          <a:noFill/>
        </p:spPr>
        <p:txBody>
          <a:bodyPr wrap="square" rtlCol="0">
            <a:spAutoFit/>
          </a:bodyPr>
          <a:lstStyle/>
          <a:p>
            <a:pPr algn="ctr"/>
            <a:r>
              <a:rPr lang="en-US" sz="1400" dirty="0"/>
              <a:t>Generated </a:t>
            </a:r>
            <a:br>
              <a:rPr lang="en-US" sz="1400" dirty="0"/>
            </a:br>
            <a:r>
              <a:rPr lang="en-US" sz="1400" dirty="0"/>
              <a:t>to </a:t>
            </a:r>
            <a:br>
              <a:rPr lang="en-US" sz="1400" dirty="0"/>
            </a:br>
            <a:r>
              <a:rPr lang="en-US" sz="1400" dirty="0"/>
              <a:t>predict </a:t>
            </a:r>
            <a:br>
              <a:rPr lang="en-US" sz="1400" dirty="0"/>
            </a:br>
            <a:r>
              <a:rPr lang="en-US" sz="1400" b="1" dirty="0">
                <a:solidFill>
                  <a:schemeClr val="tx2">
                    <a:lumMod val="90000"/>
                    <a:lumOff val="10000"/>
                  </a:schemeClr>
                </a:solidFill>
              </a:rPr>
              <a:t>SUNDAY</a:t>
            </a:r>
            <a:endParaRPr lang="en-IN" sz="1400" b="1" dirty="0">
              <a:solidFill>
                <a:schemeClr val="tx2">
                  <a:lumMod val="90000"/>
                  <a:lumOff val="10000"/>
                </a:schemeClr>
              </a:solidFill>
            </a:endParaRPr>
          </a:p>
        </p:txBody>
      </p:sp>
      <p:sp>
        <p:nvSpPr>
          <p:cNvPr id="34" name="Left Brace 33">
            <a:extLst>
              <a:ext uri="{FF2B5EF4-FFF2-40B4-BE49-F238E27FC236}">
                <a16:creationId xmlns:a16="http://schemas.microsoft.com/office/drawing/2014/main" id="{94D2E279-27AE-BA39-2BBC-9398FFDDAF8A}"/>
              </a:ext>
            </a:extLst>
          </p:cNvPr>
          <p:cNvSpPr/>
          <p:nvPr/>
        </p:nvSpPr>
        <p:spPr>
          <a:xfrm>
            <a:off x="1844894" y="3781414"/>
            <a:ext cx="88491" cy="2285618"/>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35" name="TextBox 34">
            <a:extLst>
              <a:ext uri="{FF2B5EF4-FFF2-40B4-BE49-F238E27FC236}">
                <a16:creationId xmlns:a16="http://schemas.microsoft.com/office/drawing/2014/main" id="{D7DEB46E-29CC-84BC-F7BB-CBFC38BD495F}"/>
              </a:ext>
            </a:extLst>
          </p:cNvPr>
          <p:cNvSpPr txBox="1"/>
          <p:nvPr/>
        </p:nvSpPr>
        <p:spPr>
          <a:xfrm>
            <a:off x="-552271" y="4474977"/>
            <a:ext cx="3875879" cy="954107"/>
          </a:xfrm>
          <a:prstGeom prst="rect">
            <a:avLst/>
          </a:prstGeom>
          <a:noFill/>
        </p:spPr>
        <p:txBody>
          <a:bodyPr wrap="square" rtlCol="0">
            <a:spAutoFit/>
          </a:bodyPr>
          <a:lstStyle/>
          <a:p>
            <a:pPr algn="ctr"/>
            <a:r>
              <a:rPr lang="en-US" sz="1400" dirty="0"/>
              <a:t>Generated </a:t>
            </a:r>
            <a:br>
              <a:rPr lang="en-US" sz="1400" dirty="0"/>
            </a:br>
            <a:r>
              <a:rPr lang="en-US" sz="1400" dirty="0"/>
              <a:t>to </a:t>
            </a:r>
            <a:br>
              <a:rPr lang="en-US" sz="1400" dirty="0"/>
            </a:br>
            <a:r>
              <a:rPr lang="en-US" sz="1400" dirty="0"/>
              <a:t>predict </a:t>
            </a:r>
            <a:br>
              <a:rPr lang="en-US" sz="1400" dirty="0"/>
            </a:br>
            <a:r>
              <a:rPr lang="en-US" sz="1400" b="1" dirty="0">
                <a:solidFill>
                  <a:schemeClr val="accent6">
                    <a:lumMod val="50000"/>
                  </a:schemeClr>
                </a:solidFill>
              </a:rPr>
              <a:t>MONDAY</a:t>
            </a:r>
            <a:endParaRPr lang="en-IN" sz="1400" b="1" dirty="0">
              <a:solidFill>
                <a:schemeClr val="accent6">
                  <a:lumMod val="50000"/>
                </a:schemeClr>
              </a:solidFill>
            </a:endParaRPr>
          </a:p>
        </p:txBody>
      </p:sp>
      <p:sp>
        <p:nvSpPr>
          <p:cNvPr id="36" name="TextBox 35">
            <a:extLst>
              <a:ext uri="{FF2B5EF4-FFF2-40B4-BE49-F238E27FC236}">
                <a16:creationId xmlns:a16="http://schemas.microsoft.com/office/drawing/2014/main" id="{060F50AA-9ACC-783D-C3E8-7C2379158CF9}"/>
              </a:ext>
            </a:extLst>
          </p:cNvPr>
          <p:cNvSpPr txBox="1"/>
          <p:nvPr/>
        </p:nvSpPr>
        <p:spPr>
          <a:xfrm>
            <a:off x="5781368" y="764653"/>
            <a:ext cx="6331975" cy="5909310"/>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t>Wasserstein Drift </a:t>
            </a:r>
            <a:r>
              <a:rPr lang="en-US" dirty="0"/>
              <a:t>measures the model's self-consistency by tracking how much overlapping predictions for the exact same time step diverge.</a:t>
            </a:r>
          </a:p>
          <a:p>
            <a:pPr marL="285750" indent="-285750" algn="just">
              <a:buFont typeface="Arial" panose="020B0604020202020204" pitchFamily="34" charset="0"/>
              <a:buChar char="•"/>
            </a:pPr>
            <a:r>
              <a:rPr lang="en-US" dirty="0"/>
              <a:t>This provides an early warning signal for forecast failure without needing actual ground truth data.</a:t>
            </a:r>
          </a:p>
          <a:p>
            <a:pPr marL="285750" indent="-285750" algn="just">
              <a:buFont typeface="Arial" panose="020B0604020202020204" pitchFamily="34" charset="0"/>
              <a:buChar char="•"/>
            </a:pPr>
            <a:endParaRPr lang="en-US" dirty="0"/>
          </a:p>
          <a:p>
            <a:pPr algn="just"/>
            <a:r>
              <a:rPr lang="en-IN" dirty="0"/>
              <a:t>                                                </a:t>
            </a:r>
            <a:r>
              <a:rPr lang="en-US" dirty="0"/>
              <a:t> -- estimated in practice using a Sinkhorn-regularized optimal transport solver. </a:t>
            </a:r>
          </a:p>
          <a:p>
            <a:pPr algn="just"/>
            <a:r>
              <a:rPr lang="en-IN" dirty="0"/>
              <a:t> </a:t>
            </a:r>
          </a:p>
          <a:p>
            <a:pPr marL="285750" indent="-285750" algn="just">
              <a:buFont typeface="Arial" panose="020B0604020202020204" pitchFamily="34" charset="0"/>
              <a:buChar char="•"/>
            </a:pPr>
            <a:r>
              <a:rPr lang="en-US" dirty="0"/>
              <a:t>A higher score means the overlapping predictions are drifting apart, indicating the model is getting confused.</a:t>
            </a:r>
          </a:p>
          <a:p>
            <a:pPr marL="285750" indent="-285750" algn="just">
              <a:buFont typeface="Arial" panose="020B0604020202020204" pitchFamily="34" charset="0"/>
              <a:buChar char="•"/>
            </a:pPr>
            <a:r>
              <a:rPr lang="en-US" dirty="0"/>
              <a:t>The signed version of the Wasserstein distance using</a:t>
            </a:r>
          </a:p>
          <a:p>
            <a:pPr algn="just"/>
            <a:r>
              <a:rPr lang="en-US" dirty="0"/>
              <a:t>       changes in ensemble variance:</a:t>
            </a:r>
          </a:p>
          <a:p>
            <a:pPr algn="just"/>
            <a:endParaRPr lang="en-US" dirty="0"/>
          </a:p>
          <a:p>
            <a:pPr algn="just"/>
            <a:endParaRPr lang="en-US" dirty="0"/>
          </a:p>
          <a:p>
            <a:pPr algn="just"/>
            <a:endParaRPr lang="en-US" dirty="0"/>
          </a:p>
          <a:p>
            <a:pPr marL="285750" indent="-285750" algn="just">
              <a:buFont typeface="Arial" panose="020B0604020202020204" pitchFamily="34" charset="0"/>
              <a:buChar char="•"/>
            </a:pPr>
            <a:r>
              <a:rPr lang="en-IN" dirty="0"/>
              <a:t>The cumulative Wasserstein : </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endParaRPr lang="en-IN" dirty="0"/>
          </a:p>
        </p:txBody>
      </p:sp>
      <p:sp>
        <p:nvSpPr>
          <p:cNvPr id="37" name="Rectangle: Rounded Corners 36">
            <a:extLst>
              <a:ext uri="{FF2B5EF4-FFF2-40B4-BE49-F238E27FC236}">
                <a16:creationId xmlns:a16="http://schemas.microsoft.com/office/drawing/2014/main" id="{07D7E919-5093-570C-E304-0F97C77938A4}"/>
              </a:ext>
            </a:extLst>
          </p:cNvPr>
          <p:cNvSpPr/>
          <p:nvPr/>
        </p:nvSpPr>
        <p:spPr>
          <a:xfrm>
            <a:off x="3323608" y="1312697"/>
            <a:ext cx="1116033" cy="2408294"/>
          </a:xfrm>
          <a:prstGeom prst="round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8B975D99-6162-099F-9102-2D0BC8D6910C}"/>
              </a:ext>
            </a:extLst>
          </p:cNvPr>
          <p:cNvSpPr/>
          <p:nvPr/>
        </p:nvSpPr>
        <p:spPr>
          <a:xfrm>
            <a:off x="3289577" y="3821746"/>
            <a:ext cx="1116033" cy="2408294"/>
          </a:xfrm>
          <a:prstGeom prst="roundRect">
            <a:avLst/>
          </a:prstGeom>
          <a:noFill/>
          <a:ln w="762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2" name="Straight Arrow Connector 41">
            <a:extLst>
              <a:ext uri="{FF2B5EF4-FFF2-40B4-BE49-F238E27FC236}">
                <a16:creationId xmlns:a16="http://schemas.microsoft.com/office/drawing/2014/main" id="{EA84B38C-32C3-D729-3B74-580BABD3F6E3}"/>
              </a:ext>
            </a:extLst>
          </p:cNvPr>
          <p:cNvCxnSpPr>
            <a:stCxn id="37" idx="3"/>
          </p:cNvCxnSpPr>
          <p:nvPr/>
        </p:nvCxnSpPr>
        <p:spPr>
          <a:xfrm>
            <a:off x="4439641" y="2516844"/>
            <a:ext cx="36833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CCB53FC-D293-16C6-3BA8-CCEC2F0054C3}"/>
                  </a:ext>
                </a:extLst>
              </p:cNvPr>
              <p:cNvSpPr txBox="1"/>
              <p:nvPr/>
            </p:nvSpPr>
            <p:spPr>
              <a:xfrm>
                <a:off x="4097781" y="2300390"/>
                <a:ext cx="1716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IN" i="1" smtClean="0">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𝑝</m:t>
                              </m:r>
                            </m:e>
                            <m:sub>
                              <m:r>
                                <a:rPr lang="en-IN" i="1">
                                  <a:latin typeface="Cambria Math" panose="02040503050406030204" pitchFamily="18" charset="0"/>
                                </a:rPr>
                                <m:t>𝑡</m:t>
                              </m:r>
                            </m:sub>
                          </m:sSub>
                        </m:e>
                      </m:acc>
                    </m:oMath>
                  </m:oMathPara>
                </a14:m>
                <a:endParaRPr lang="en-IN" dirty="0"/>
              </a:p>
            </p:txBody>
          </p:sp>
        </mc:Choice>
        <mc:Fallback xmlns="">
          <p:sp>
            <p:nvSpPr>
              <p:cNvPr id="43" name="TextBox 42">
                <a:extLst>
                  <a:ext uri="{FF2B5EF4-FFF2-40B4-BE49-F238E27FC236}">
                    <a16:creationId xmlns:a16="http://schemas.microsoft.com/office/drawing/2014/main" id="{8CCB53FC-D293-16C6-3BA8-CCEC2F0054C3}"/>
                  </a:ext>
                </a:extLst>
              </p:cNvPr>
              <p:cNvSpPr txBox="1">
                <a:spLocks noRot="1" noChangeAspect="1" noMove="1" noResize="1" noEditPoints="1" noAdjustHandles="1" noChangeArrowheads="1" noChangeShapeType="1" noTextEdit="1"/>
              </p:cNvSpPr>
              <p:nvPr/>
            </p:nvSpPr>
            <p:spPr>
              <a:xfrm>
                <a:off x="4097781" y="2300390"/>
                <a:ext cx="1716514" cy="369332"/>
              </a:xfrm>
              <a:prstGeom prst="rect">
                <a:avLst/>
              </a:prstGeom>
              <a:blipFill>
                <a:blip r:embed="rId6"/>
                <a:stretch>
                  <a:fillRect t="-6557" b="-6557"/>
                </a:stretch>
              </a:blipFill>
            </p:spPr>
            <p:txBody>
              <a:bodyPr/>
              <a:lstStyle/>
              <a:p>
                <a:r>
                  <a:rPr lang="en-IN">
                    <a:noFill/>
                  </a:rPr>
                  <a:t> </a:t>
                </a:r>
              </a:p>
            </p:txBody>
          </p:sp>
        </mc:Fallback>
      </mc:AlternateContent>
      <p:cxnSp>
        <p:nvCxnSpPr>
          <p:cNvPr id="47" name="Straight Arrow Connector 46">
            <a:extLst>
              <a:ext uri="{FF2B5EF4-FFF2-40B4-BE49-F238E27FC236}">
                <a16:creationId xmlns:a16="http://schemas.microsoft.com/office/drawing/2014/main" id="{17FE3FCB-1F85-2549-92CC-969E63131D67}"/>
              </a:ext>
            </a:extLst>
          </p:cNvPr>
          <p:cNvCxnSpPr>
            <a:cxnSpLocks/>
            <a:stCxn id="38" idx="2"/>
          </p:cNvCxnSpPr>
          <p:nvPr/>
        </p:nvCxnSpPr>
        <p:spPr>
          <a:xfrm flipH="1">
            <a:off x="3847593" y="6230040"/>
            <a:ext cx="1" cy="190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4BD2606-737D-4E41-1446-106EB57C1235}"/>
                  </a:ext>
                </a:extLst>
              </p:cNvPr>
              <p:cNvSpPr txBox="1"/>
              <p:nvPr/>
            </p:nvSpPr>
            <p:spPr>
              <a:xfrm>
                <a:off x="3023367" y="6326592"/>
                <a:ext cx="17165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IN" i="1" smtClean="0">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𝑝</m:t>
                              </m:r>
                            </m:e>
                            <m:sub>
                              <m:r>
                                <a:rPr lang="en-IN" i="1">
                                  <a:latin typeface="Cambria Math" panose="02040503050406030204" pitchFamily="18" charset="0"/>
                                </a:rPr>
                                <m:t>𝑡</m:t>
                              </m:r>
                              <m:r>
                                <a:rPr lang="en-IN" i="1">
                                  <a:latin typeface="Cambria Math" panose="02040503050406030204" pitchFamily="18" charset="0"/>
                                </a:rPr>
                                <m:t>−</m:t>
                              </m:r>
                              <m:r>
                                <m:rPr>
                                  <m:sty m:val="p"/>
                                </m:rPr>
                                <a:rPr lang="en-IN" i="0">
                                  <a:latin typeface="Cambria Math" panose="02040503050406030204" pitchFamily="18" charset="0"/>
                                </a:rPr>
                                <m:t>Δ</m:t>
                              </m:r>
                              <m:r>
                                <a:rPr lang="en-IN" i="1">
                                  <a:latin typeface="Cambria Math" panose="02040503050406030204" pitchFamily="18" charset="0"/>
                                </a:rPr>
                                <m:t>𝑡</m:t>
                              </m:r>
                            </m:sub>
                          </m:sSub>
                        </m:e>
                      </m:acc>
                    </m:oMath>
                  </m:oMathPara>
                </a14:m>
                <a:endParaRPr lang="en-IN" dirty="0"/>
              </a:p>
            </p:txBody>
          </p:sp>
        </mc:Choice>
        <mc:Fallback xmlns="">
          <p:sp>
            <p:nvSpPr>
              <p:cNvPr id="48" name="TextBox 47">
                <a:extLst>
                  <a:ext uri="{FF2B5EF4-FFF2-40B4-BE49-F238E27FC236}">
                    <a16:creationId xmlns:a16="http://schemas.microsoft.com/office/drawing/2014/main" id="{74BD2606-737D-4E41-1446-106EB57C1235}"/>
                  </a:ext>
                </a:extLst>
              </p:cNvPr>
              <p:cNvSpPr txBox="1">
                <a:spLocks noRot="1" noChangeAspect="1" noMove="1" noResize="1" noEditPoints="1" noAdjustHandles="1" noChangeArrowheads="1" noChangeShapeType="1" noTextEdit="1"/>
              </p:cNvSpPr>
              <p:nvPr/>
            </p:nvSpPr>
            <p:spPr>
              <a:xfrm>
                <a:off x="3023367" y="6326592"/>
                <a:ext cx="1716514" cy="369332"/>
              </a:xfrm>
              <a:prstGeom prst="rect">
                <a:avLst/>
              </a:prstGeom>
              <a:blipFill>
                <a:blip r:embed="rId7"/>
                <a:stretch>
                  <a:fillRect t="-6667" r="-32270" b="-6667"/>
                </a:stretch>
              </a:blipFill>
            </p:spPr>
            <p:txBody>
              <a:bodyPr/>
              <a:lstStyle/>
              <a:p>
                <a:r>
                  <a:rPr lang="en-IN">
                    <a:noFill/>
                  </a:rPr>
                  <a:t> </a:t>
                </a:r>
              </a:p>
            </p:txBody>
          </p:sp>
        </mc:Fallback>
      </mc:AlternateContent>
      <p:pic>
        <p:nvPicPr>
          <p:cNvPr id="51" name="Picture 50">
            <a:extLst>
              <a:ext uri="{FF2B5EF4-FFF2-40B4-BE49-F238E27FC236}">
                <a16:creationId xmlns:a16="http://schemas.microsoft.com/office/drawing/2014/main" id="{EACC504B-3190-E4A7-490D-5C672FC2CD53}"/>
              </a:ext>
            </a:extLst>
          </p:cNvPr>
          <p:cNvPicPr>
            <a:picLocks noChangeAspect="1"/>
          </p:cNvPicPr>
          <p:nvPr/>
        </p:nvPicPr>
        <p:blipFill>
          <a:blip r:embed="rId8"/>
          <a:srcRect b="16226"/>
          <a:stretch>
            <a:fillRect/>
          </a:stretch>
        </p:blipFill>
        <p:spPr>
          <a:xfrm>
            <a:off x="6063174" y="2268210"/>
            <a:ext cx="2058271" cy="412330"/>
          </a:xfrm>
          <a:prstGeom prst="rect">
            <a:avLst/>
          </a:prstGeom>
        </p:spPr>
      </p:pic>
      <p:cxnSp>
        <p:nvCxnSpPr>
          <p:cNvPr id="55" name="Straight Connector 54">
            <a:extLst>
              <a:ext uri="{FF2B5EF4-FFF2-40B4-BE49-F238E27FC236}">
                <a16:creationId xmlns:a16="http://schemas.microsoft.com/office/drawing/2014/main" id="{D511A647-9718-88A4-378B-3DDB00BB5267}"/>
              </a:ext>
            </a:extLst>
          </p:cNvPr>
          <p:cNvCxnSpPr/>
          <p:nvPr/>
        </p:nvCxnSpPr>
        <p:spPr>
          <a:xfrm>
            <a:off x="5525728" y="793238"/>
            <a:ext cx="0" cy="6064762"/>
          </a:xfrm>
          <a:prstGeom prst="line">
            <a:avLst/>
          </a:prstGeom>
        </p:spPr>
        <p:style>
          <a:lnRef idx="2">
            <a:schemeClr val="dk1"/>
          </a:lnRef>
          <a:fillRef idx="0">
            <a:schemeClr val="dk1"/>
          </a:fillRef>
          <a:effectRef idx="1">
            <a:schemeClr val="dk1"/>
          </a:effectRef>
          <a:fontRef idx="minor">
            <a:schemeClr val="tx1"/>
          </a:fontRef>
        </p:style>
      </p:cxnSp>
      <p:pic>
        <p:nvPicPr>
          <p:cNvPr id="57" name="Picture 56">
            <a:extLst>
              <a:ext uri="{FF2B5EF4-FFF2-40B4-BE49-F238E27FC236}">
                <a16:creationId xmlns:a16="http://schemas.microsoft.com/office/drawing/2014/main" id="{A771E747-09F7-71F1-8E64-AF736D226110}"/>
              </a:ext>
            </a:extLst>
          </p:cNvPr>
          <p:cNvPicPr>
            <a:picLocks noChangeAspect="1"/>
          </p:cNvPicPr>
          <p:nvPr/>
        </p:nvPicPr>
        <p:blipFill>
          <a:blip r:embed="rId9"/>
          <a:stretch>
            <a:fillRect/>
          </a:stretch>
        </p:blipFill>
        <p:spPr>
          <a:xfrm>
            <a:off x="7141095" y="4319071"/>
            <a:ext cx="3576182" cy="813466"/>
          </a:xfrm>
          <a:prstGeom prst="rect">
            <a:avLst/>
          </a:prstGeom>
        </p:spPr>
      </p:pic>
      <p:pic>
        <p:nvPicPr>
          <p:cNvPr id="59" name="Picture 58">
            <a:extLst>
              <a:ext uri="{FF2B5EF4-FFF2-40B4-BE49-F238E27FC236}">
                <a16:creationId xmlns:a16="http://schemas.microsoft.com/office/drawing/2014/main" id="{3F00B78B-D5C5-D300-BD2F-E0C5C90D9BC3}"/>
              </a:ext>
            </a:extLst>
          </p:cNvPr>
          <p:cNvPicPr>
            <a:picLocks noChangeAspect="1"/>
          </p:cNvPicPr>
          <p:nvPr/>
        </p:nvPicPr>
        <p:blipFill>
          <a:blip r:embed="rId10"/>
          <a:stretch>
            <a:fillRect/>
          </a:stretch>
        </p:blipFill>
        <p:spPr>
          <a:xfrm>
            <a:off x="7203863" y="5488243"/>
            <a:ext cx="3607850" cy="719748"/>
          </a:xfrm>
          <a:prstGeom prst="rect">
            <a:avLst/>
          </a:prstGeom>
        </p:spPr>
      </p:pic>
      <p:pic>
        <p:nvPicPr>
          <p:cNvPr id="60" name="Picture 59">
            <a:extLst>
              <a:ext uri="{FF2B5EF4-FFF2-40B4-BE49-F238E27FC236}">
                <a16:creationId xmlns:a16="http://schemas.microsoft.com/office/drawing/2014/main" id="{BB8C2C9E-72B7-F148-6198-2FFE13C3F340}"/>
              </a:ext>
            </a:extLst>
          </p:cNvPr>
          <p:cNvPicPr>
            <a:picLocks noChangeAspect="1"/>
          </p:cNvPicPr>
          <p:nvPr/>
        </p:nvPicPr>
        <p:blipFill>
          <a:blip r:embed="rId5"/>
          <a:stretch>
            <a:fillRect/>
          </a:stretch>
        </p:blipFill>
        <p:spPr>
          <a:xfrm>
            <a:off x="3847300" y="3017169"/>
            <a:ext cx="74575" cy="310731"/>
          </a:xfrm>
          <a:prstGeom prst="rect">
            <a:avLst/>
          </a:prstGeom>
        </p:spPr>
      </p:pic>
      <p:pic>
        <p:nvPicPr>
          <p:cNvPr id="5" name="Audio 4">
            <a:hlinkClick r:id="" action="ppaction://media"/>
            <a:extLst>
              <a:ext uri="{FF2B5EF4-FFF2-40B4-BE49-F238E27FC236}">
                <a16:creationId xmlns:a16="http://schemas.microsoft.com/office/drawing/2014/main" id="{7261B976-0B9D-5E95-769E-446CC0365953}"/>
              </a:ext>
            </a:extLst>
          </p:cNvPr>
          <p:cNvPicPr>
            <a:picLocks noChangeAspect="1"/>
          </p:cNvPicPr>
          <p:nvPr>
            <a:audioFile r:link="rId2"/>
            <p:extLst>
              <p:ext uri="{DAA4B4D4-6D71-4841-9C94-3DE7FCFB9230}">
                <p14:media xmlns:p14="http://schemas.microsoft.com/office/powerpoint/2010/main" r:embed="rId1"/>
              </p:ext>
            </p:extLst>
          </p:nvPr>
        </p:nvPicPr>
        <p:blipFill>
          <a:blip r:embed="rId11"/>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657902547"/>
      </p:ext>
    </p:extLst>
  </p:cSld>
  <p:clrMapOvr>
    <a:masterClrMapping/>
  </p:clrMapOvr>
  <mc:AlternateContent xmlns:mc="http://schemas.openxmlformats.org/markup-compatibility/2006">
    <mc:Choice xmlns:p14="http://schemas.microsoft.com/office/powerpoint/2010/main" Requires="p14">
      <p:transition spd="slow" p14:dur="2000" advTm="25403"/>
    </mc:Choice>
    <mc:Fallback>
      <p:transition spd="slow" advTm="254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447E-B97F-8478-199A-792033A91574}"/>
              </a:ext>
            </a:extLst>
          </p:cNvPr>
          <p:cNvSpPr>
            <a:spLocks noGrp="1"/>
          </p:cNvSpPr>
          <p:nvPr>
            <p:ph type="title"/>
          </p:nvPr>
        </p:nvSpPr>
        <p:spPr>
          <a:xfrm>
            <a:off x="0" y="227474"/>
            <a:ext cx="12192000" cy="677094"/>
          </a:xfrm>
          <a:solidFill>
            <a:schemeClr val="accent1">
              <a:lumMod val="20000"/>
              <a:lumOff val="80000"/>
            </a:schemeClr>
          </a:solidFill>
        </p:spPr>
        <p:txBody>
          <a:bodyPr>
            <a:normAutofit fontScale="90000"/>
          </a:bodyPr>
          <a:lstStyle/>
          <a:p>
            <a:r>
              <a:rPr lang="en-US" b="1" dirty="0"/>
              <a:t>Extension to Joint Generative Framework</a:t>
            </a:r>
            <a:endParaRPr lang="en-IN" b="1" dirty="0"/>
          </a:p>
        </p:txBody>
      </p:sp>
      <p:sp>
        <p:nvSpPr>
          <p:cNvPr id="3" name="Content Placeholder 2">
            <a:extLst>
              <a:ext uri="{FF2B5EF4-FFF2-40B4-BE49-F238E27FC236}">
                <a16:creationId xmlns:a16="http://schemas.microsoft.com/office/drawing/2014/main" id="{1112D7A9-8989-FEBA-BFF6-962ABAF802B4}"/>
              </a:ext>
            </a:extLst>
          </p:cNvPr>
          <p:cNvSpPr>
            <a:spLocks noGrp="1"/>
          </p:cNvSpPr>
          <p:nvPr>
            <p:ph idx="1"/>
          </p:nvPr>
        </p:nvSpPr>
        <p:spPr>
          <a:xfrm>
            <a:off x="30724" y="1068542"/>
            <a:ext cx="11953569" cy="4351338"/>
          </a:xfrm>
        </p:spPr>
        <p:txBody>
          <a:bodyPr/>
          <a:lstStyle/>
          <a:p>
            <a:pPr marL="514350" indent="-514350">
              <a:buAutoNum type="arabicPeriod"/>
            </a:pPr>
            <a:r>
              <a:rPr lang="en-US" b="1" dirty="0">
                <a:solidFill>
                  <a:srgbClr val="7030A0"/>
                </a:solidFill>
              </a:rPr>
              <a:t>Conditional Joint Models.</a:t>
            </a:r>
          </a:p>
          <a:p>
            <a:pPr algn="just"/>
            <a:r>
              <a:rPr lang="en-US" sz="2400" dirty="0"/>
              <a:t>The existing baseline conditional models use past data to predict </a:t>
            </a:r>
            <a:r>
              <a:rPr lang="en-US" sz="2400" b="1" dirty="0">
                <a:solidFill>
                  <a:srgbClr val="FF0000"/>
                </a:solidFill>
              </a:rPr>
              <a:t>only the single next time step.</a:t>
            </a:r>
          </a:p>
          <a:p>
            <a:pPr algn="just"/>
            <a:r>
              <a:rPr lang="en-US" sz="2400" dirty="0"/>
              <a:t>This extension to the joint generative framework, </a:t>
            </a:r>
            <a:r>
              <a:rPr lang="en-US" sz="2400" b="1" dirty="0">
                <a:solidFill>
                  <a:srgbClr val="7030A0"/>
                </a:solidFill>
              </a:rPr>
              <a:t>conditional joint models</a:t>
            </a:r>
            <a:r>
              <a:rPr lang="en-US" sz="2400" dirty="0"/>
              <a:t> takes past data into the model to generate a full overlapping time window and then selects the</a:t>
            </a:r>
            <a:br>
              <a:rPr lang="en-US" sz="2400" dirty="0"/>
            </a:br>
            <a:r>
              <a:rPr lang="en-US" sz="2400" dirty="0"/>
              <a:t> generated window that best matches our known recent past.</a:t>
            </a:r>
          </a:p>
          <a:p>
            <a:endParaRPr lang="en-IN" b="1" dirty="0">
              <a:solidFill>
                <a:srgbClr val="FF0000"/>
              </a:solidFill>
            </a:endParaRPr>
          </a:p>
        </p:txBody>
      </p:sp>
      <p:pic>
        <p:nvPicPr>
          <p:cNvPr id="5" name="Picture 4">
            <a:extLst>
              <a:ext uri="{FF2B5EF4-FFF2-40B4-BE49-F238E27FC236}">
                <a16:creationId xmlns:a16="http://schemas.microsoft.com/office/drawing/2014/main" id="{77F67ECC-0FD1-3832-0410-3F5FC5170D7B}"/>
              </a:ext>
            </a:extLst>
          </p:cNvPr>
          <p:cNvPicPr>
            <a:picLocks noChangeAspect="1"/>
          </p:cNvPicPr>
          <p:nvPr/>
        </p:nvPicPr>
        <p:blipFill>
          <a:blip r:embed="rId5"/>
          <a:srcRect b="8626"/>
          <a:stretch>
            <a:fillRect/>
          </a:stretch>
        </p:blipFill>
        <p:spPr>
          <a:xfrm>
            <a:off x="221227" y="3523072"/>
            <a:ext cx="11572568" cy="677094"/>
          </a:xfrm>
          <a:prstGeom prst="rect">
            <a:avLst/>
          </a:prstGeom>
        </p:spPr>
      </p:pic>
      <p:sp>
        <p:nvSpPr>
          <p:cNvPr id="4" name="TextBox 3">
            <a:extLst>
              <a:ext uri="{FF2B5EF4-FFF2-40B4-BE49-F238E27FC236}">
                <a16:creationId xmlns:a16="http://schemas.microsoft.com/office/drawing/2014/main" id="{67B6A603-B060-3717-8F39-9BDF80DCBC04}"/>
              </a:ext>
            </a:extLst>
          </p:cNvPr>
          <p:cNvSpPr txBox="1"/>
          <p:nvPr/>
        </p:nvSpPr>
        <p:spPr>
          <a:xfrm>
            <a:off x="30724" y="4589129"/>
            <a:ext cx="11572568"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In this case, the framework uses the observed history </a:t>
            </a:r>
            <a:r>
              <a:rPr lang="en-US" sz="2400" b="1" dirty="0"/>
              <a:t>twice</a:t>
            </a:r>
            <a:r>
              <a:rPr lang="en-US" sz="2400" dirty="0"/>
              <a:t> in this extension</a:t>
            </a:r>
          </a:p>
          <a:p>
            <a:pPr marL="800100" lvl="1" indent="-342900">
              <a:buAutoNum type="arabicPeriod"/>
            </a:pPr>
            <a:r>
              <a:rPr lang="en-IN" sz="2400" b="1" dirty="0"/>
              <a:t>Explicitly:</a:t>
            </a:r>
            <a:r>
              <a:rPr lang="en-IN" sz="2400" dirty="0"/>
              <a:t>  Input as a conditional </a:t>
            </a:r>
          </a:p>
          <a:p>
            <a:pPr marL="800100" lvl="1" indent="-342900">
              <a:buAutoNum type="arabicPeriod"/>
            </a:pPr>
            <a:r>
              <a:rPr lang="en-IN" sz="2400" b="1" dirty="0"/>
              <a:t>Implicitly</a:t>
            </a:r>
            <a:r>
              <a:rPr lang="en-IN" sz="2400" dirty="0"/>
              <a:t>: During sieving - the picking the best forecast</a:t>
            </a:r>
          </a:p>
        </p:txBody>
      </p:sp>
      <p:pic>
        <p:nvPicPr>
          <p:cNvPr id="20" name="Audio 19">
            <a:hlinkClick r:id="" action="ppaction://media"/>
            <a:extLst>
              <a:ext uri="{FF2B5EF4-FFF2-40B4-BE49-F238E27FC236}">
                <a16:creationId xmlns:a16="http://schemas.microsoft.com/office/drawing/2014/main" id="{C5AFEAE1-933C-2DCC-24BF-27E9A09162B7}"/>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61075" t="-161075" r="-161075" b="-1610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37279146"/>
      </p:ext>
    </p:extLst>
  </p:cSld>
  <p:clrMapOvr>
    <a:masterClrMapping/>
  </p:clrMapOvr>
  <mc:AlternateContent xmlns:mc="http://schemas.openxmlformats.org/markup-compatibility/2006">
    <mc:Choice xmlns:p14="http://schemas.microsoft.com/office/powerpoint/2010/main" Requires="p14">
      <p:transition spd="slow" p14:dur="2000" advTm="41823"/>
    </mc:Choice>
    <mc:Fallback>
      <p:transition spd="slow" advTm="418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05BA-EC9C-E41D-2320-9510B713CAFA}"/>
              </a:ext>
            </a:extLst>
          </p:cNvPr>
          <p:cNvSpPr>
            <a:spLocks noGrp="1"/>
          </p:cNvSpPr>
          <p:nvPr>
            <p:ph type="title"/>
          </p:nvPr>
        </p:nvSpPr>
        <p:spPr>
          <a:xfrm>
            <a:off x="-1" y="188146"/>
            <a:ext cx="12368981" cy="667262"/>
          </a:xfrm>
          <a:solidFill>
            <a:schemeClr val="accent1">
              <a:lumMod val="20000"/>
              <a:lumOff val="80000"/>
            </a:schemeClr>
          </a:solidFill>
        </p:spPr>
        <p:txBody>
          <a:bodyPr>
            <a:normAutofit/>
          </a:bodyPr>
          <a:lstStyle/>
          <a:p>
            <a:r>
              <a:rPr lang="en-IN" sz="3600" b="1" dirty="0"/>
              <a:t>Lorenz-63 model</a:t>
            </a:r>
            <a:endParaRPr lang="en-IN" sz="3600" dirty="0"/>
          </a:p>
        </p:txBody>
      </p:sp>
      <p:pic>
        <p:nvPicPr>
          <p:cNvPr id="5" name="Content Placeholder 4">
            <a:extLst>
              <a:ext uri="{FF2B5EF4-FFF2-40B4-BE49-F238E27FC236}">
                <a16:creationId xmlns:a16="http://schemas.microsoft.com/office/drawing/2014/main" id="{69071E8B-0BF5-42D8-6358-856DB90F6ECD}"/>
              </a:ext>
            </a:extLst>
          </p:cNvPr>
          <p:cNvPicPr>
            <a:picLocks noGrp="1" noChangeAspect="1"/>
          </p:cNvPicPr>
          <p:nvPr>
            <p:ph idx="1"/>
          </p:nvPr>
        </p:nvPicPr>
        <p:blipFill>
          <a:blip r:embed="rId2"/>
          <a:stretch>
            <a:fillRect/>
          </a:stretch>
        </p:blipFill>
        <p:spPr>
          <a:xfrm>
            <a:off x="224695" y="1056945"/>
            <a:ext cx="2253034" cy="1710382"/>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716E7A9-B973-FD56-BF8E-3B1F0A000CA3}"/>
                  </a:ext>
                </a:extLst>
              </p:cNvPr>
              <p:cNvSpPr txBox="1"/>
              <p:nvPr/>
            </p:nvSpPr>
            <p:spPr>
              <a:xfrm>
                <a:off x="3349331" y="904144"/>
                <a:ext cx="8400217" cy="1754326"/>
              </a:xfrm>
              <a:prstGeom prst="rect">
                <a:avLst/>
              </a:prstGeom>
              <a:noFill/>
            </p:spPr>
            <p:txBody>
              <a:bodyPr wrap="square" rtlCol="0">
                <a:spAutoFit/>
              </a:bodyPr>
              <a:lstStyle/>
              <a:p>
                <a:r>
                  <a:rPr lang="en-US" dirty="0"/>
                  <a:t>x: The rate of convection </a:t>
                </a:r>
              </a:p>
              <a:p>
                <a:r>
                  <a:rPr lang="en-US" dirty="0"/>
                  <a:t>y: The horizontal temperature variation.</a:t>
                </a:r>
              </a:p>
              <a:p>
                <a:r>
                  <a:rPr lang="en-US" dirty="0"/>
                  <a:t>z: The vertical temperature variation</a:t>
                </a:r>
              </a:p>
              <a:p>
                <a14:m>
                  <m:oMath xmlns:m="http://schemas.openxmlformats.org/officeDocument/2006/math">
                    <m:r>
                      <a:rPr lang="en-US" i="1" dirty="0" smtClean="0">
                        <a:latin typeface="Cambria Math" panose="02040503050406030204" pitchFamily="18" charset="0"/>
                      </a:rPr>
                      <m:t>𝜎</m:t>
                    </m:r>
                  </m:oMath>
                </a14:m>
                <a:r>
                  <a:rPr lang="en-US" dirty="0"/>
                  <a:t>: Prandtl number</a:t>
                </a:r>
              </a:p>
              <a:p>
                <a14:m>
                  <m:oMath xmlns:m="http://schemas.openxmlformats.org/officeDocument/2006/math">
                    <m:r>
                      <a:rPr lang="en-US" i="1" dirty="0" smtClean="0">
                        <a:latin typeface="Cambria Math" panose="02040503050406030204" pitchFamily="18" charset="0"/>
                      </a:rPr>
                      <m:t>𝜌</m:t>
                    </m:r>
                  </m:oMath>
                </a14:m>
                <a:r>
                  <a:rPr lang="en-US" dirty="0"/>
                  <a:t> :Rayleigh number</a:t>
                </a:r>
              </a:p>
              <a:p>
                <a14:m>
                  <m:oMath xmlns:m="http://schemas.openxmlformats.org/officeDocument/2006/math">
                    <m:r>
                      <a:rPr lang="en-US" i="1" dirty="0" smtClean="0">
                        <a:latin typeface="Cambria Math" panose="02040503050406030204" pitchFamily="18" charset="0"/>
                      </a:rPr>
                      <m:t>𝛽</m:t>
                    </m:r>
                  </m:oMath>
                </a14:m>
                <a:r>
                  <a:rPr lang="en-US" dirty="0"/>
                  <a:t>: A geometric factor related to the physical dimensions of the fluid layer</a:t>
                </a:r>
              </a:p>
            </p:txBody>
          </p:sp>
        </mc:Choice>
        <mc:Fallback xmlns="">
          <p:sp>
            <p:nvSpPr>
              <p:cNvPr id="6" name="TextBox 5">
                <a:extLst>
                  <a:ext uri="{FF2B5EF4-FFF2-40B4-BE49-F238E27FC236}">
                    <a16:creationId xmlns:a16="http://schemas.microsoft.com/office/drawing/2014/main" id="{C716E7A9-B973-FD56-BF8E-3B1F0A000CA3}"/>
                  </a:ext>
                </a:extLst>
              </p:cNvPr>
              <p:cNvSpPr txBox="1">
                <a:spLocks noRot="1" noChangeAspect="1" noMove="1" noResize="1" noEditPoints="1" noAdjustHandles="1" noChangeArrowheads="1" noChangeShapeType="1" noTextEdit="1"/>
              </p:cNvSpPr>
              <p:nvPr/>
            </p:nvSpPr>
            <p:spPr>
              <a:xfrm>
                <a:off x="3349331" y="904144"/>
                <a:ext cx="8400217" cy="1754326"/>
              </a:xfrm>
              <a:prstGeom prst="rect">
                <a:avLst/>
              </a:prstGeom>
              <a:blipFill>
                <a:blip r:embed="rId3"/>
                <a:stretch>
                  <a:fillRect l="-581" t="-1389" b="-486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2636BBC-6C00-A9E4-22A7-9B416E9F2A31}"/>
                  </a:ext>
                </a:extLst>
              </p:cNvPr>
              <p:cNvSpPr txBox="1"/>
              <p:nvPr/>
            </p:nvSpPr>
            <p:spPr>
              <a:xfrm>
                <a:off x="1239731" y="3762153"/>
                <a:ext cx="2723248" cy="1631216"/>
              </a:xfrm>
              <a:prstGeom prst="rect">
                <a:avLst/>
              </a:prstGeom>
              <a:noFill/>
            </p:spPr>
            <p:txBody>
              <a:bodyPr wrap="square" rtlCol="0">
                <a:spAutoFit/>
              </a:bodyPr>
              <a:lstStyle/>
              <a:p>
                <a:r>
                  <a:rPr lang="en-US" sz="2000" b="1" dirty="0">
                    <a:latin typeface="Cambria Math" panose="02040503050406030204" pitchFamily="18" charset="0"/>
                  </a:rPr>
                  <a:t>Choice of Parameters</a:t>
                </a:r>
              </a:p>
              <a:p>
                <a14:m>
                  <m:oMath xmlns:m="http://schemas.openxmlformats.org/officeDocument/2006/math">
                    <m:r>
                      <a:rPr lang="en-US" sz="2000" i="1" dirty="0">
                        <a:latin typeface="Cambria Math" panose="02040503050406030204" pitchFamily="18" charset="0"/>
                      </a:rPr>
                      <m:t>𝜎</m:t>
                    </m:r>
                  </m:oMath>
                </a14:m>
                <a:r>
                  <a:rPr lang="en-IN" sz="2000" dirty="0"/>
                  <a:t>= 10</a:t>
                </a:r>
                <a:br>
                  <a:rPr lang="en-IN" sz="2000" dirty="0"/>
                </a:br>
                <a14:m>
                  <m:oMath xmlns:m="http://schemas.openxmlformats.org/officeDocument/2006/math">
                    <m:r>
                      <a:rPr lang="en-US" sz="2000" i="1" dirty="0">
                        <a:latin typeface="Cambria Math" panose="02040503050406030204" pitchFamily="18" charset="0"/>
                      </a:rPr>
                      <m:t>𝜌</m:t>
                    </m:r>
                  </m:oMath>
                </a14:m>
                <a:r>
                  <a:rPr lang="en-IN" sz="2000" dirty="0"/>
                  <a:t> = 28</a:t>
                </a:r>
              </a:p>
              <a:p>
                <a14:m>
                  <m:oMath xmlns:m="http://schemas.openxmlformats.org/officeDocument/2006/math">
                    <m:r>
                      <a:rPr lang="en-US" sz="2000" i="1" dirty="0">
                        <a:latin typeface="Cambria Math" panose="02040503050406030204" pitchFamily="18" charset="0"/>
                      </a:rPr>
                      <m:t>𝛽</m:t>
                    </m:r>
                  </m:oMath>
                </a14:m>
                <a:r>
                  <a:rPr lang="en-IN" sz="2000" dirty="0"/>
                  <a:t> = 8/3</a:t>
                </a:r>
              </a:p>
              <a:p>
                <a:endParaRPr lang="en-IN" sz="2000" dirty="0"/>
              </a:p>
            </p:txBody>
          </p:sp>
        </mc:Choice>
        <mc:Fallback xmlns="">
          <p:sp>
            <p:nvSpPr>
              <p:cNvPr id="12" name="TextBox 11">
                <a:extLst>
                  <a:ext uri="{FF2B5EF4-FFF2-40B4-BE49-F238E27FC236}">
                    <a16:creationId xmlns:a16="http://schemas.microsoft.com/office/drawing/2014/main" id="{62636BBC-6C00-A9E4-22A7-9B416E9F2A31}"/>
                  </a:ext>
                </a:extLst>
              </p:cNvPr>
              <p:cNvSpPr txBox="1">
                <a:spLocks noRot="1" noChangeAspect="1" noMove="1" noResize="1" noEditPoints="1" noAdjustHandles="1" noChangeArrowheads="1" noChangeShapeType="1" noTextEdit="1"/>
              </p:cNvSpPr>
              <p:nvPr/>
            </p:nvSpPr>
            <p:spPr>
              <a:xfrm>
                <a:off x="1239731" y="3762153"/>
                <a:ext cx="2723248" cy="1631216"/>
              </a:xfrm>
              <a:prstGeom prst="rect">
                <a:avLst/>
              </a:prstGeom>
              <a:blipFill>
                <a:blip r:embed="rId4"/>
                <a:stretch>
                  <a:fillRect l="-2237" t="-1866"/>
                </a:stretch>
              </a:blipFill>
            </p:spPr>
            <p:txBody>
              <a:bodyPr/>
              <a:lstStyle/>
              <a:p>
                <a:r>
                  <a:rPr lang="en-IN">
                    <a:noFill/>
                  </a:rPr>
                  <a:t> </a:t>
                </a:r>
              </a:p>
            </p:txBody>
          </p:sp>
        </mc:Fallback>
      </mc:AlternateContent>
      <p:cxnSp>
        <p:nvCxnSpPr>
          <p:cNvPr id="16" name="Straight Connector 15">
            <a:extLst>
              <a:ext uri="{FF2B5EF4-FFF2-40B4-BE49-F238E27FC236}">
                <a16:creationId xmlns:a16="http://schemas.microsoft.com/office/drawing/2014/main" id="{D37EAE34-3E9A-FA81-F767-5A9CE645A6AD}"/>
              </a:ext>
            </a:extLst>
          </p:cNvPr>
          <p:cNvCxnSpPr/>
          <p:nvPr/>
        </p:nvCxnSpPr>
        <p:spPr>
          <a:xfrm>
            <a:off x="-1" y="2774699"/>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4310939-35FA-74E8-82BB-6EC088453E29}"/>
              </a:ext>
            </a:extLst>
          </p:cNvPr>
          <p:cNvSpPr txBox="1"/>
          <p:nvPr/>
        </p:nvSpPr>
        <p:spPr>
          <a:xfrm>
            <a:off x="0" y="2820686"/>
            <a:ext cx="5202711" cy="461665"/>
          </a:xfrm>
          <a:prstGeom prst="rect">
            <a:avLst/>
          </a:prstGeom>
          <a:noFill/>
        </p:spPr>
        <p:txBody>
          <a:bodyPr wrap="square" rtlCol="0">
            <a:spAutoFit/>
          </a:bodyPr>
          <a:lstStyle/>
          <a:p>
            <a:r>
              <a:rPr lang="en-US" sz="2400" b="1" dirty="0">
                <a:solidFill>
                  <a:schemeClr val="accent2">
                    <a:lumMod val="50000"/>
                  </a:schemeClr>
                </a:solidFill>
              </a:rPr>
              <a:t>Generating the Data for Training</a:t>
            </a:r>
            <a:endParaRPr lang="en-IN" sz="2400" b="1" dirty="0">
              <a:solidFill>
                <a:schemeClr val="accent2">
                  <a:lumMod val="50000"/>
                </a:schemeClr>
              </a:solidFill>
            </a:endParaRP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02301DE1-475D-DB02-EB24-C3C51021A1CF}"/>
                  </a:ext>
                </a:extLst>
              </p:cNvPr>
              <p:cNvGraphicFramePr>
                <a:graphicFrameLocks noGrp="1"/>
              </p:cNvGraphicFramePr>
              <p:nvPr>
                <p:extLst>
                  <p:ext uri="{D42A27DB-BD31-4B8C-83A1-F6EECF244321}">
                    <p14:modId xmlns:p14="http://schemas.microsoft.com/office/powerpoint/2010/main" val="4083799362"/>
                  </p:ext>
                </p:extLst>
              </p:nvPr>
            </p:nvGraphicFramePr>
            <p:xfrm>
              <a:off x="4560433" y="3298841"/>
              <a:ext cx="6593236" cy="2865120"/>
            </p:xfrm>
            <a:graphic>
              <a:graphicData uri="http://schemas.openxmlformats.org/drawingml/2006/table">
                <a:tbl>
                  <a:tblPr bandRow="1">
                    <a:tableStyleId>{5C22544A-7EE6-4342-B048-85BDC9FD1C3A}</a:tableStyleId>
                  </a:tblPr>
                  <a:tblGrid>
                    <a:gridCol w="1905000">
                      <a:extLst>
                        <a:ext uri="{9D8B030D-6E8A-4147-A177-3AD203B41FA5}">
                          <a16:colId xmlns:a16="http://schemas.microsoft.com/office/drawing/2014/main" val="988367021"/>
                        </a:ext>
                      </a:extLst>
                    </a:gridCol>
                    <a:gridCol w="2283798">
                      <a:extLst>
                        <a:ext uri="{9D8B030D-6E8A-4147-A177-3AD203B41FA5}">
                          <a16:colId xmlns:a16="http://schemas.microsoft.com/office/drawing/2014/main" val="3896103647"/>
                        </a:ext>
                      </a:extLst>
                    </a:gridCol>
                    <a:gridCol w="2404438">
                      <a:extLst>
                        <a:ext uri="{9D8B030D-6E8A-4147-A177-3AD203B41FA5}">
                          <a16:colId xmlns:a16="http://schemas.microsoft.com/office/drawing/2014/main" val="1168245124"/>
                        </a:ext>
                      </a:extLst>
                    </a:gridCol>
                  </a:tblGrid>
                  <a:tr h="370840">
                    <a:tc>
                      <a:txBody>
                        <a:bodyPr/>
                        <a:lstStyle/>
                        <a:p>
                          <a:endParaRPr lang="en-IN" b="1" dirty="0"/>
                        </a:p>
                      </a:txBody>
                      <a:tcPr/>
                    </a:tc>
                    <a:tc>
                      <a:txBody>
                        <a:bodyPr/>
                        <a:lstStyle/>
                        <a:p>
                          <a:pPr algn="ctr"/>
                          <a:r>
                            <a:rPr lang="en-US" b="1" dirty="0"/>
                            <a:t>Research Paper</a:t>
                          </a:r>
                          <a:endParaRPr lang="en-IN" b="1" dirty="0"/>
                        </a:p>
                      </a:txBody>
                      <a:tcPr anchor="ctr"/>
                    </a:tc>
                    <a:tc>
                      <a:txBody>
                        <a:bodyPr/>
                        <a:lstStyle/>
                        <a:p>
                          <a:pPr algn="ctr"/>
                          <a:r>
                            <a:rPr lang="en-US" b="1" dirty="0"/>
                            <a:t>Current Implementation</a:t>
                          </a:r>
                          <a:endParaRPr lang="en-IN" b="1" dirty="0"/>
                        </a:p>
                      </a:txBody>
                      <a:tcPr/>
                    </a:tc>
                    <a:extLst>
                      <a:ext uri="{0D108BD9-81ED-4DB2-BD59-A6C34878D82A}">
                        <a16:rowId xmlns:a16="http://schemas.microsoft.com/office/drawing/2014/main" val="2044076428"/>
                      </a:ext>
                    </a:extLst>
                  </a:tr>
                  <a:tr h="370840">
                    <a:tc>
                      <a:txBody>
                        <a:bodyPr/>
                        <a:lstStyle/>
                        <a:p>
                          <a:r>
                            <a:rPr lang="en-US" b="1" dirty="0"/>
                            <a:t>Method </a:t>
                          </a:r>
                          <a:endParaRPr lang="en-IN" b="1" dirty="0"/>
                        </a:p>
                      </a:txBody>
                      <a:tcPr/>
                    </a:tc>
                    <a:tc gridSpan="2">
                      <a:txBody>
                        <a:bodyPr/>
                        <a:lstStyle/>
                        <a:p>
                          <a:pPr algn="ctr"/>
                          <a:r>
                            <a:rPr lang="en-US" dirty="0"/>
                            <a:t>RK4</a:t>
                          </a:r>
                          <a:endParaRPr lang="en-IN" dirty="0"/>
                        </a:p>
                      </a:txBody>
                      <a:tcPr/>
                    </a:tc>
                    <a:tc hMerge="1">
                      <a:txBody>
                        <a:bodyPr/>
                        <a:lstStyle/>
                        <a:p>
                          <a:pPr algn="ctr"/>
                          <a:endParaRPr lang="en-IN" dirty="0"/>
                        </a:p>
                      </a:txBody>
                      <a:tcPr/>
                    </a:tc>
                    <a:extLst>
                      <a:ext uri="{0D108BD9-81ED-4DB2-BD59-A6C34878D82A}">
                        <a16:rowId xmlns:a16="http://schemas.microsoft.com/office/drawing/2014/main" val="859948851"/>
                      </a:ext>
                    </a:extLst>
                  </a:tr>
                  <a:tr h="370840">
                    <a:tc>
                      <a:txBody>
                        <a:bodyPr/>
                        <a:lstStyle/>
                        <a:p>
                          <a:r>
                            <a:rPr lang="en-US" b="1" dirty="0"/>
                            <a:t>Time Step </a:t>
                          </a:r>
                          <a:r>
                            <a:rPr lang="el-GR" sz="1800" b="1" i="0" kern="1200" dirty="0">
                              <a:solidFill>
                                <a:schemeClr val="dk1"/>
                              </a:solidFill>
                              <a:effectLst/>
                              <a:latin typeface="+mn-lt"/>
                              <a:ea typeface="+mn-ea"/>
                              <a:cs typeface="+mn-cs"/>
                            </a:rPr>
                            <a:t>Δ</a:t>
                          </a:r>
                          <a:r>
                            <a:rPr lang="en-US" sz="1800" b="1" i="0" kern="1200" dirty="0">
                              <a:solidFill>
                                <a:schemeClr val="dk1"/>
                              </a:solidFill>
                              <a:effectLst/>
                              <a:latin typeface="+mn-lt"/>
                              <a:ea typeface="+mn-ea"/>
                              <a:cs typeface="+mn-cs"/>
                            </a:rPr>
                            <a:t>t</a:t>
                          </a:r>
                          <a:endParaRPr lang="en-IN" b="1" dirty="0"/>
                        </a:p>
                      </a:txBody>
                      <a:tcPr/>
                    </a:tc>
                    <a:tc gridSpan="2">
                      <a:txBody>
                        <a:bodyPr/>
                        <a:lstStyle/>
                        <a:p>
                          <a:pPr algn="ct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2</m:t>
                                </m:r>
                                <m:r>
                                  <a:rPr lang="en-IN" i="1" dirty="0" smtClean="0">
                                    <a:latin typeface="Cambria Math" panose="02040503050406030204" pitchFamily="18" charset="0"/>
                                  </a:rPr>
                                  <m:t>.</m:t>
                                </m:r>
                                <m:r>
                                  <a:rPr lang="en-IN" i="1" dirty="0" smtClean="0">
                                    <a:latin typeface="Cambria Math" panose="02040503050406030204" pitchFamily="18" charset="0"/>
                                  </a:rPr>
                                  <m:t>5</m:t>
                                </m:r>
                                <m:r>
                                  <a:rPr lang="en-IN" i="1" dirty="0" smtClean="0">
                                    <a:latin typeface="Cambria Math" panose="02040503050406030204" pitchFamily="18" charset="0"/>
                                  </a:rPr>
                                  <m:t>×</m:t>
                                </m:r>
                                <m:sSup>
                                  <m:sSupPr>
                                    <m:ctrlPr>
                                      <a:rPr lang="en-IN" i="1" dirty="0" smtClean="0">
                                        <a:latin typeface="Cambria Math" panose="02040503050406030204" pitchFamily="18" charset="0"/>
                                      </a:rPr>
                                    </m:ctrlPr>
                                  </m:sSupPr>
                                  <m:e>
                                    <m:r>
                                      <a:rPr lang="en-IN" i="1" dirty="0" smtClean="0">
                                        <a:latin typeface="Cambria Math" panose="02040503050406030204" pitchFamily="18" charset="0"/>
                                      </a:rPr>
                                      <m:t>10</m:t>
                                    </m:r>
                                  </m:e>
                                  <m:sup>
                                    <m:r>
                                      <a:rPr lang="en-IN" i="1" dirty="0" smtClean="0">
                                        <a:latin typeface="Cambria Math" panose="02040503050406030204" pitchFamily="18" charset="0"/>
                                      </a:rPr>
                                      <m:t>−</m:t>
                                    </m:r>
                                    <m:r>
                                      <a:rPr lang="en-IN" i="1" dirty="0" smtClean="0">
                                        <a:latin typeface="Cambria Math" panose="02040503050406030204" pitchFamily="18" charset="0"/>
                                      </a:rPr>
                                      <m:t>2</m:t>
                                    </m:r>
                                  </m:sup>
                                </m:sSup>
                              </m:oMath>
                            </m:oMathPara>
                          </a14:m>
                          <a:endParaRPr dirty="0"/>
                        </a:p>
                      </a:txBody>
                      <a:tcPr/>
                    </a:tc>
                    <a:tc hMerge="1">
                      <a:txBody>
                        <a:bodyPr/>
                        <a:lstStyle/>
                        <a:p>
                          <a:pPr algn="ctr"/>
                          <a:endParaRPr/>
                        </a:p>
                      </a:txBody>
                      <a:tcPr/>
                    </a:tc>
                    <a:extLst>
                      <a:ext uri="{0D108BD9-81ED-4DB2-BD59-A6C34878D82A}">
                        <a16:rowId xmlns:a16="http://schemas.microsoft.com/office/drawing/2014/main" val="3874790667"/>
                      </a:ext>
                    </a:extLst>
                  </a:tr>
                  <a:tr h="370840">
                    <a:tc>
                      <a:txBody>
                        <a:bodyPr/>
                        <a:lstStyle/>
                        <a:p>
                          <a:r>
                            <a:rPr lang="en-US" b="1" dirty="0"/>
                            <a:t>Steps </a:t>
                          </a:r>
                          <a:endParaRPr lang="en-IN" b="1" dirty="0"/>
                        </a:p>
                      </a:txBody>
                      <a:tcPr/>
                    </a:tc>
                    <a:tc gridSpan="2">
                      <a:txBody>
                        <a:bodyPr/>
                        <a:lstStyle/>
                        <a:p>
                          <a:pPr algn="ct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r>
                                  <a:rPr lang="en-US" b="0" i="1" dirty="0" smtClean="0">
                                    <a:latin typeface="Cambria Math" panose="02040503050406030204" pitchFamily="18" charset="0"/>
                                  </a:rPr>
                                  <m:t> </m:t>
                                </m:r>
                                <m:r>
                                  <m:rPr>
                                    <m:sty m:val="p"/>
                                  </m:rPr>
                                  <a:rPr lang="en-US" b="0" i="1" dirty="0" smtClean="0">
                                    <a:latin typeface="Cambria Math" panose="02040503050406030204" pitchFamily="18" charset="0"/>
                                  </a:rPr>
                                  <m:t>X</m:t>
                                </m:r>
                                <m:r>
                                  <a:rPr lang="en-US" b="0"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10</m:t>
                                    </m:r>
                                  </m:e>
                                  <m:sup>
                                    <m:r>
                                      <a:rPr lang="en-US" b="0" i="1" dirty="0" smtClean="0">
                                        <a:latin typeface="Cambria Math" panose="02040503050406030204" pitchFamily="18" charset="0"/>
                                      </a:rPr>
                                      <m:t>6</m:t>
                                    </m:r>
                                  </m:sup>
                                </m:sSup>
                              </m:oMath>
                            </m:oMathPara>
                          </a14:m>
                          <a:endParaRPr lang="en-US" b="0" dirty="0"/>
                        </a:p>
                      </a:txBody>
                      <a:tcPr/>
                    </a:tc>
                    <a:tc hMerge="1">
                      <a:txBody>
                        <a:bodyPr/>
                        <a:lstStyle/>
                        <a:p>
                          <a:endParaRPr dirty="0"/>
                        </a:p>
                      </a:txBody>
                      <a:tcPr/>
                    </a:tc>
                    <a:extLst>
                      <a:ext uri="{0D108BD9-81ED-4DB2-BD59-A6C34878D82A}">
                        <a16:rowId xmlns:a16="http://schemas.microsoft.com/office/drawing/2014/main" val="3624955452"/>
                      </a:ext>
                    </a:extLst>
                  </a:tr>
                  <a:tr h="370840">
                    <a:tc>
                      <a:txBody>
                        <a:bodyPr/>
                        <a:lstStyle/>
                        <a:p>
                          <a:r>
                            <a:rPr lang="en-US" b="1" dirty="0"/>
                            <a:t>Initial Condition</a:t>
                          </a:r>
                          <a:endParaRPr lang="en-IN" b="1"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x,y,z = </a:t>
                          </a:r>
                          <a:r>
                            <a:rPr lang="en-IN" sz="1800" b="0" kern="1200" dirty="0">
                              <a:solidFill>
                                <a:schemeClr val="dk1"/>
                              </a:solidFill>
                              <a:effectLst/>
                              <a:latin typeface="+mn-lt"/>
                              <a:ea typeface="+mn-ea"/>
                              <a:cs typeface="+mn-cs"/>
                            </a:rPr>
                            <a:t>[1.0, 1.0, 1.0]</a:t>
                          </a:r>
                        </a:p>
                      </a:txBody>
                      <a:tcPr/>
                    </a:tc>
                    <a:tc hMerge="1">
                      <a:txBody>
                        <a:bodyPr/>
                        <a:lstStyle/>
                        <a:p>
                          <a:pPr algn="ctr"/>
                          <a:endParaRPr lang="en-IN" dirty="0"/>
                        </a:p>
                      </a:txBody>
                      <a:tcPr/>
                    </a:tc>
                    <a:extLst>
                      <a:ext uri="{0D108BD9-81ED-4DB2-BD59-A6C34878D82A}">
                        <a16:rowId xmlns:a16="http://schemas.microsoft.com/office/drawing/2014/main" val="621547500"/>
                      </a:ext>
                    </a:extLst>
                  </a:tr>
                  <a:tr h="370840">
                    <a:tc>
                      <a:txBody>
                        <a:bodyPr/>
                        <a:lstStyle/>
                        <a:p>
                          <a:r>
                            <a:rPr lang="en-IN" b="1" dirty="0"/>
                            <a:t>n-step windows</a:t>
                          </a:r>
                        </a:p>
                      </a:txBody>
                      <a:tcPr/>
                    </a:tc>
                    <a:tc gridSpan="2">
                      <a:txBody>
                        <a:bodyPr/>
                        <a:lstStyle/>
                        <a:p>
                          <a:pPr algn="ctr"/>
                          <a:r>
                            <a:rPr lang="en-US" dirty="0"/>
                            <a:t>2</a:t>
                          </a:r>
                          <a:endParaRPr lang="en-IN" dirty="0"/>
                        </a:p>
                      </a:txBody>
                      <a:tcPr/>
                    </a:tc>
                    <a:tc hMerge="1">
                      <a:txBody>
                        <a:bodyPr/>
                        <a:lstStyle/>
                        <a:p>
                          <a:endParaRPr lang="en-IN"/>
                        </a:p>
                      </a:txBody>
                      <a:tcPr/>
                    </a:tc>
                    <a:extLst>
                      <a:ext uri="{0D108BD9-81ED-4DB2-BD59-A6C34878D82A}">
                        <a16:rowId xmlns:a16="http://schemas.microsoft.com/office/drawing/2014/main" val="4152338931"/>
                      </a:ext>
                    </a:extLst>
                  </a:tr>
                  <a:tr h="370840">
                    <a:tc>
                      <a:txBody>
                        <a:bodyPr/>
                        <a:lstStyle/>
                        <a:p>
                          <a:r>
                            <a:rPr lang="en-US" b="1" dirty="0"/>
                            <a:t>Joint Windows</a:t>
                          </a:r>
                          <a:endParaRPr lang="en-IN" b="1" dirty="0"/>
                        </a:p>
                      </a:txBody>
                      <a:tcPr/>
                    </a:tc>
                    <a:tc gridSpan="2">
                      <a:txBody>
                        <a:bodyPr/>
                        <a:lstStyle/>
                        <a:p>
                          <a:pPr algn="ctr"/>
                          <a:r>
                            <a:rPr lang="en-IN" b="0" dirty="0"/>
                            <a:t>999,999 time windows </a:t>
                          </a:r>
                        </a:p>
                      </a:txBody>
                      <a:tcPr/>
                    </a:tc>
                    <a:tc hMerge="1">
                      <a:txBody>
                        <a:bodyPr/>
                        <a:lstStyle/>
                        <a:p>
                          <a:endParaRPr lang="en-IN"/>
                        </a:p>
                      </a:txBody>
                      <a:tcPr/>
                    </a:tc>
                    <a:extLst>
                      <a:ext uri="{0D108BD9-81ED-4DB2-BD59-A6C34878D82A}">
                        <a16:rowId xmlns:a16="http://schemas.microsoft.com/office/drawing/2014/main" val="3282730461"/>
                      </a:ext>
                    </a:extLst>
                  </a:tr>
                </a:tbl>
              </a:graphicData>
            </a:graphic>
          </p:graphicFrame>
        </mc:Choice>
        <mc:Fallback xmlns="">
          <p:graphicFrame>
            <p:nvGraphicFramePr>
              <p:cNvPr id="18" name="Table 17">
                <a:extLst>
                  <a:ext uri="{FF2B5EF4-FFF2-40B4-BE49-F238E27FC236}">
                    <a16:creationId xmlns:a16="http://schemas.microsoft.com/office/drawing/2014/main" id="{02301DE1-475D-DB02-EB24-C3C51021A1CF}"/>
                  </a:ext>
                </a:extLst>
              </p:cNvPr>
              <p:cNvGraphicFramePr>
                <a:graphicFrameLocks noGrp="1"/>
              </p:cNvGraphicFramePr>
              <p:nvPr>
                <p:extLst>
                  <p:ext uri="{D42A27DB-BD31-4B8C-83A1-F6EECF244321}">
                    <p14:modId xmlns:p14="http://schemas.microsoft.com/office/powerpoint/2010/main" val="4083799362"/>
                  </p:ext>
                </p:extLst>
              </p:nvPr>
            </p:nvGraphicFramePr>
            <p:xfrm>
              <a:off x="4560433" y="3298841"/>
              <a:ext cx="6593236" cy="2865120"/>
            </p:xfrm>
            <a:graphic>
              <a:graphicData uri="http://schemas.openxmlformats.org/drawingml/2006/table">
                <a:tbl>
                  <a:tblPr bandRow="1">
                    <a:tableStyleId>{5C22544A-7EE6-4342-B048-85BDC9FD1C3A}</a:tableStyleId>
                  </a:tblPr>
                  <a:tblGrid>
                    <a:gridCol w="1905000">
                      <a:extLst>
                        <a:ext uri="{9D8B030D-6E8A-4147-A177-3AD203B41FA5}">
                          <a16:colId xmlns:a16="http://schemas.microsoft.com/office/drawing/2014/main" val="988367021"/>
                        </a:ext>
                      </a:extLst>
                    </a:gridCol>
                    <a:gridCol w="2283798">
                      <a:extLst>
                        <a:ext uri="{9D8B030D-6E8A-4147-A177-3AD203B41FA5}">
                          <a16:colId xmlns:a16="http://schemas.microsoft.com/office/drawing/2014/main" val="3896103647"/>
                        </a:ext>
                      </a:extLst>
                    </a:gridCol>
                    <a:gridCol w="2404438">
                      <a:extLst>
                        <a:ext uri="{9D8B030D-6E8A-4147-A177-3AD203B41FA5}">
                          <a16:colId xmlns:a16="http://schemas.microsoft.com/office/drawing/2014/main" val="1168245124"/>
                        </a:ext>
                      </a:extLst>
                    </a:gridCol>
                  </a:tblGrid>
                  <a:tr h="640080">
                    <a:tc>
                      <a:txBody>
                        <a:bodyPr/>
                        <a:lstStyle/>
                        <a:p>
                          <a:endParaRPr lang="en-IN" b="1" dirty="0"/>
                        </a:p>
                      </a:txBody>
                      <a:tcPr/>
                    </a:tc>
                    <a:tc>
                      <a:txBody>
                        <a:bodyPr/>
                        <a:lstStyle/>
                        <a:p>
                          <a:pPr algn="ctr"/>
                          <a:r>
                            <a:rPr lang="en-US" b="1" dirty="0"/>
                            <a:t>Research Paper</a:t>
                          </a:r>
                          <a:endParaRPr lang="en-IN" b="1" dirty="0"/>
                        </a:p>
                      </a:txBody>
                      <a:tcPr anchor="ctr"/>
                    </a:tc>
                    <a:tc>
                      <a:txBody>
                        <a:bodyPr/>
                        <a:lstStyle/>
                        <a:p>
                          <a:pPr algn="ctr"/>
                          <a:r>
                            <a:rPr lang="en-US" b="1" dirty="0"/>
                            <a:t>Current Implementation</a:t>
                          </a:r>
                          <a:endParaRPr lang="en-IN" b="1" dirty="0"/>
                        </a:p>
                      </a:txBody>
                      <a:tcPr/>
                    </a:tc>
                    <a:extLst>
                      <a:ext uri="{0D108BD9-81ED-4DB2-BD59-A6C34878D82A}">
                        <a16:rowId xmlns:a16="http://schemas.microsoft.com/office/drawing/2014/main" val="2044076428"/>
                      </a:ext>
                    </a:extLst>
                  </a:tr>
                  <a:tr h="370840">
                    <a:tc>
                      <a:txBody>
                        <a:bodyPr/>
                        <a:lstStyle/>
                        <a:p>
                          <a:r>
                            <a:rPr lang="en-US" b="1" dirty="0"/>
                            <a:t>Method </a:t>
                          </a:r>
                          <a:endParaRPr lang="en-IN" b="1" dirty="0"/>
                        </a:p>
                      </a:txBody>
                      <a:tcPr/>
                    </a:tc>
                    <a:tc gridSpan="2">
                      <a:txBody>
                        <a:bodyPr/>
                        <a:lstStyle/>
                        <a:p>
                          <a:pPr algn="ctr"/>
                          <a:r>
                            <a:rPr lang="en-US" dirty="0"/>
                            <a:t>RK4</a:t>
                          </a:r>
                          <a:endParaRPr lang="en-IN" dirty="0"/>
                        </a:p>
                      </a:txBody>
                      <a:tcPr/>
                    </a:tc>
                    <a:tc hMerge="1">
                      <a:txBody>
                        <a:bodyPr/>
                        <a:lstStyle/>
                        <a:p>
                          <a:pPr algn="ctr"/>
                          <a:endParaRPr lang="en-IN" dirty="0"/>
                        </a:p>
                      </a:txBody>
                      <a:tcPr/>
                    </a:tc>
                    <a:extLst>
                      <a:ext uri="{0D108BD9-81ED-4DB2-BD59-A6C34878D82A}">
                        <a16:rowId xmlns:a16="http://schemas.microsoft.com/office/drawing/2014/main" val="859948851"/>
                      </a:ext>
                    </a:extLst>
                  </a:tr>
                  <a:tr h="370840">
                    <a:tc>
                      <a:txBody>
                        <a:bodyPr/>
                        <a:lstStyle/>
                        <a:p>
                          <a:r>
                            <a:rPr lang="en-US" b="1" dirty="0"/>
                            <a:t>Time Step </a:t>
                          </a:r>
                          <a:r>
                            <a:rPr lang="el-GR" sz="1800" b="1" i="0" kern="1200" dirty="0">
                              <a:solidFill>
                                <a:schemeClr val="dk1"/>
                              </a:solidFill>
                              <a:effectLst/>
                              <a:latin typeface="+mn-lt"/>
                              <a:ea typeface="+mn-ea"/>
                              <a:cs typeface="+mn-cs"/>
                            </a:rPr>
                            <a:t>Δ</a:t>
                          </a:r>
                          <a:r>
                            <a:rPr lang="en-US" sz="1800" b="1" i="0" kern="1200" dirty="0">
                              <a:solidFill>
                                <a:schemeClr val="dk1"/>
                              </a:solidFill>
                              <a:effectLst/>
                              <a:latin typeface="+mn-lt"/>
                              <a:ea typeface="+mn-ea"/>
                              <a:cs typeface="+mn-cs"/>
                            </a:rPr>
                            <a:t>t</a:t>
                          </a:r>
                          <a:endParaRPr lang="en-IN" b="1" dirty="0"/>
                        </a:p>
                      </a:txBody>
                      <a:tcPr/>
                    </a:tc>
                    <a:tc gridSpan="2">
                      <a:txBody>
                        <a:bodyPr/>
                        <a:lstStyle/>
                        <a:p>
                          <a:endParaRPr lang="en-US"/>
                        </a:p>
                      </a:txBody>
                      <a:tcPr>
                        <a:blipFill>
                          <a:blip r:embed="rId5"/>
                          <a:stretch>
                            <a:fillRect l="-40832" t="-278689" r="-260" b="-424590"/>
                          </a:stretch>
                        </a:blipFill>
                      </a:tcPr>
                    </a:tc>
                    <a:tc hMerge="1">
                      <a:txBody>
                        <a:bodyPr/>
                        <a:lstStyle/>
                        <a:p>
                          <a:pPr algn="ctr"/>
                          <a:endParaRPr/>
                        </a:p>
                      </a:txBody>
                      <a:tcPr/>
                    </a:tc>
                    <a:extLst>
                      <a:ext uri="{0D108BD9-81ED-4DB2-BD59-A6C34878D82A}">
                        <a16:rowId xmlns:a16="http://schemas.microsoft.com/office/drawing/2014/main" val="3874790667"/>
                      </a:ext>
                    </a:extLst>
                  </a:tr>
                  <a:tr h="370840">
                    <a:tc>
                      <a:txBody>
                        <a:bodyPr/>
                        <a:lstStyle/>
                        <a:p>
                          <a:r>
                            <a:rPr lang="en-US" b="1" dirty="0"/>
                            <a:t>Steps </a:t>
                          </a:r>
                          <a:endParaRPr lang="en-IN" b="1" dirty="0"/>
                        </a:p>
                      </a:txBody>
                      <a:tcPr/>
                    </a:tc>
                    <a:tc gridSpan="2">
                      <a:txBody>
                        <a:bodyPr/>
                        <a:lstStyle/>
                        <a:p>
                          <a:endParaRPr lang="en-US"/>
                        </a:p>
                      </a:txBody>
                      <a:tcPr>
                        <a:blipFill>
                          <a:blip r:embed="rId5"/>
                          <a:stretch>
                            <a:fillRect l="-40832" t="-378689" r="-260" b="-324590"/>
                          </a:stretch>
                        </a:blipFill>
                      </a:tcPr>
                    </a:tc>
                    <a:tc hMerge="1">
                      <a:txBody>
                        <a:bodyPr/>
                        <a:lstStyle/>
                        <a:p>
                          <a:endParaRPr dirty="0"/>
                        </a:p>
                      </a:txBody>
                      <a:tcPr/>
                    </a:tc>
                    <a:extLst>
                      <a:ext uri="{0D108BD9-81ED-4DB2-BD59-A6C34878D82A}">
                        <a16:rowId xmlns:a16="http://schemas.microsoft.com/office/drawing/2014/main" val="3624955452"/>
                      </a:ext>
                    </a:extLst>
                  </a:tr>
                  <a:tr h="370840">
                    <a:tc>
                      <a:txBody>
                        <a:bodyPr/>
                        <a:lstStyle/>
                        <a:p>
                          <a:r>
                            <a:rPr lang="en-US" b="1" dirty="0"/>
                            <a:t>Initial Condition</a:t>
                          </a:r>
                          <a:endParaRPr lang="en-IN" b="1" dirty="0"/>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x,y,z = </a:t>
                          </a:r>
                          <a:r>
                            <a:rPr lang="en-IN" sz="1800" b="0" kern="1200" dirty="0">
                              <a:solidFill>
                                <a:schemeClr val="dk1"/>
                              </a:solidFill>
                              <a:effectLst/>
                              <a:latin typeface="+mn-lt"/>
                              <a:ea typeface="+mn-ea"/>
                              <a:cs typeface="+mn-cs"/>
                            </a:rPr>
                            <a:t>[1.0, 1.0, 1.0]</a:t>
                          </a:r>
                        </a:p>
                      </a:txBody>
                      <a:tcPr/>
                    </a:tc>
                    <a:tc hMerge="1">
                      <a:txBody>
                        <a:bodyPr/>
                        <a:lstStyle/>
                        <a:p>
                          <a:pPr algn="ctr"/>
                          <a:endParaRPr lang="en-IN" dirty="0"/>
                        </a:p>
                      </a:txBody>
                      <a:tcPr/>
                    </a:tc>
                    <a:extLst>
                      <a:ext uri="{0D108BD9-81ED-4DB2-BD59-A6C34878D82A}">
                        <a16:rowId xmlns:a16="http://schemas.microsoft.com/office/drawing/2014/main" val="621547500"/>
                      </a:ext>
                    </a:extLst>
                  </a:tr>
                  <a:tr h="370840">
                    <a:tc>
                      <a:txBody>
                        <a:bodyPr/>
                        <a:lstStyle/>
                        <a:p>
                          <a:r>
                            <a:rPr lang="en-IN" b="1" dirty="0"/>
                            <a:t>n-step windows</a:t>
                          </a:r>
                        </a:p>
                      </a:txBody>
                      <a:tcPr/>
                    </a:tc>
                    <a:tc gridSpan="2">
                      <a:txBody>
                        <a:bodyPr/>
                        <a:lstStyle/>
                        <a:p>
                          <a:pPr algn="ctr"/>
                          <a:r>
                            <a:rPr lang="en-US" dirty="0"/>
                            <a:t>2</a:t>
                          </a:r>
                          <a:endParaRPr lang="en-IN" dirty="0"/>
                        </a:p>
                      </a:txBody>
                      <a:tcPr/>
                    </a:tc>
                    <a:tc hMerge="1">
                      <a:txBody>
                        <a:bodyPr/>
                        <a:lstStyle/>
                        <a:p>
                          <a:endParaRPr lang="en-IN"/>
                        </a:p>
                      </a:txBody>
                      <a:tcPr/>
                    </a:tc>
                    <a:extLst>
                      <a:ext uri="{0D108BD9-81ED-4DB2-BD59-A6C34878D82A}">
                        <a16:rowId xmlns:a16="http://schemas.microsoft.com/office/drawing/2014/main" val="4152338931"/>
                      </a:ext>
                    </a:extLst>
                  </a:tr>
                  <a:tr h="370840">
                    <a:tc>
                      <a:txBody>
                        <a:bodyPr/>
                        <a:lstStyle/>
                        <a:p>
                          <a:r>
                            <a:rPr lang="en-US" b="1" dirty="0"/>
                            <a:t>Joint Windows</a:t>
                          </a:r>
                          <a:endParaRPr lang="en-IN" b="1" dirty="0"/>
                        </a:p>
                      </a:txBody>
                      <a:tcPr/>
                    </a:tc>
                    <a:tc gridSpan="2">
                      <a:txBody>
                        <a:bodyPr/>
                        <a:lstStyle/>
                        <a:p>
                          <a:pPr algn="ctr"/>
                          <a:r>
                            <a:rPr lang="en-IN" b="0" dirty="0"/>
                            <a:t>999,999 time windows </a:t>
                          </a:r>
                        </a:p>
                      </a:txBody>
                      <a:tcPr/>
                    </a:tc>
                    <a:tc hMerge="1">
                      <a:txBody>
                        <a:bodyPr/>
                        <a:lstStyle/>
                        <a:p>
                          <a:endParaRPr lang="en-IN"/>
                        </a:p>
                      </a:txBody>
                      <a:tcPr/>
                    </a:tc>
                    <a:extLst>
                      <a:ext uri="{0D108BD9-81ED-4DB2-BD59-A6C34878D82A}">
                        <a16:rowId xmlns:a16="http://schemas.microsoft.com/office/drawing/2014/main" val="3282730461"/>
                      </a:ext>
                    </a:extLst>
                  </a:tr>
                </a:tbl>
              </a:graphicData>
            </a:graphic>
          </p:graphicFrame>
        </mc:Fallback>
      </mc:AlternateContent>
    </p:spTree>
    <p:extLst>
      <p:ext uri="{BB962C8B-B14F-4D97-AF65-F5344CB8AC3E}">
        <p14:creationId xmlns:p14="http://schemas.microsoft.com/office/powerpoint/2010/main" val="3777471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ABD56-95E9-BB76-3D2B-2A85B3ACEA6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D880238-BF87-BEA3-2F81-4360AC7AC9FE}"/>
              </a:ext>
            </a:extLst>
          </p:cNvPr>
          <p:cNvPicPr>
            <a:picLocks noChangeAspect="1"/>
          </p:cNvPicPr>
          <p:nvPr/>
        </p:nvPicPr>
        <p:blipFill>
          <a:blip r:embed="rId2"/>
          <a:srcRect r="5357"/>
          <a:stretch>
            <a:fillRect/>
          </a:stretch>
        </p:blipFill>
        <p:spPr>
          <a:xfrm>
            <a:off x="1111478" y="5137908"/>
            <a:ext cx="3747325" cy="1145492"/>
          </a:xfrm>
          <a:prstGeom prst="rect">
            <a:avLst/>
          </a:prstGeom>
        </p:spPr>
      </p:pic>
      <p:sp>
        <p:nvSpPr>
          <p:cNvPr id="2" name="Title 1">
            <a:extLst>
              <a:ext uri="{FF2B5EF4-FFF2-40B4-BE49-F238E27FC236}">
                <a16:creationId xmlns:a16="http://schemas.microsoft.com/office/drawing/2014/main" id="{C4757021-3EF1-7311-BD0C-FAD7CC3AF574}"/>
              </a:ext>
            </a:extLst>
          </p:cNvPr>
          <p:cNvSpPr>
            <a:spLocks noGrp="1"/>
          </p:cNvSpPr>
          <p:nvPr>
            <p:ph type="title"/>
          </p:nvPr>
        </p:nvSpPr>
        <p:spPr>
          <a:xfrm>
            <a:off x="-1" y="188146"/>
            <a:ext cx="12368981" cy="667262"/>
          </a:xfrm>
          <a:solidFill>
            <a:schemeClr val="accent1">
              <a:lumMod val="20000"/>
              <a:lumOff val="80000"/>
            </a:schemeClr>
          </a:solidFill>
        </p:spPr>
        <p:txBody>
          <a:bodyPr>
            <a:normAutofit/>
          </a:bodyPr>
          <a:lstStyle/>
          <a:p>
            <a:r>
              <a:rPr lang="en-IN" sz="3600" b="1" dirty="0"/>
              <a:t>Lorenz-63 model</a:t>
            </a:r>
            <a:endParaRPr lang="en-IN" sz="3600" dirty="0"/>
          </a:p>
        </p:txBody>
      </p:sp>
      <p:pic>
        <p:nvPicPr>
          <p:cNvPr id="10" name="Content Placeholder 9">
            <a:extLst>
              <a:ext uri="{FF2B5EF4-FFF2-40B4-BE49-F238E27FC236}">
                <a16:creationId xmlns:a16="http://schemas.microsoft.com/office/drawing/2014/main" id="{DE51E52E-AA4F-3C10-8271-1017794E1993}"/>
              </a:ext>
            </a:extLst>
          </p:cNvPr>
          <p:cNvPicPr>
            <a:picLocks noGrp="1" noChangeAspect="1"/>
          </p:cNvPicPr>
          <p:nvPr>
            <p:ph idx="1"/>
          </p:nvPr>
        </p:nvPicPr>
        <p:blipFill>
          <a:blip r:embed="rId3"/>
          <a:stretch>
            <a:fillRect/>
          </a:stretch>
        </p:blipFill>
        <p:spPr>
          <a:xfrm>
            <a:off x="137652" y="855408"/>
            <a:ext cx="11739717" cy="3863304"/>
          </a:xfrm>
          <a:prstGeom prst="rect">
            <a:avLst/>
          </a:prstGeom>
        </p:spPr>
      </p:pic>
      <p:sp>
        <p:nvSpPr>
          <p:cNvPr id="11" name="Left Brace 10">
            <a:extLst>
              <a:ext uri="{FF2B5EF4-FFF2-40B4-BE49-F238E27FC236}">
                <a16:creationId xmlns:a16="http://schemas.microsoft.com/office/drawing/2014/main" id="{EEE7D657-F3BD-CA82-ADC3-6BC62EBCF657}"/>
              </a:ext>
            </a:extLst>
          </p:cNvPr>
          <p:cNvSpPr/>
          <p:nvPr/>
        </p:nvSpPr>
        <p:spPr>
          <a:xfrm>
            <a:off x="1117690" y="4887869"/>
            <a:ext cx="108154" cy="164557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IN"/>
          </a:p>
        </p:txBody>
      </p:sp>
      <p:sp>
        <p:nvSpPr>
          <p:cNvPr id="13" name="TextBox 12">
            <a:extLst>
              <a:ext uri="{FF2B5EF4-FFF2-40B4-BE49-F238E27FC236}">
                <a16:creationId xmlns:a16="http://schemas.microsoft.com/office/drawing/2014/main" id="{40C3B7BF-D380-C9FF-B9E9-0AE19F78138F}"/>
              </a:ext>
            </a:extLst>
          </p:cNvPr>
          <p:cNvSpPr txBox="1"/>
          <p:nvPr/>
        </p:nvSpPr>
        <p:spPr>
          <a:xfrm>
            <a:off x="-40170" y="5476826"/>
            <a:ext cx="3500284" cy="369332"/>
          </a:xfrm>
          <a:prstGeom prst="rect">
            <a:avLst/>
          </a:prstGeom>
          <a:noFill/>
        </p:spPr>
        <p:txBody>
          <a:bodyPr wrap="square" rtlCol="0">
            <a:spAutoFit/>
          </a:bodyPr>
          <a:lstStyle/>
          <a:p>
            <a:r>
              <a:rPr lang="en-US" b="1" dirty="0"/>
              <a:t>Trajectory</a:t>
            </a:r>
            <a:endParaRPr lang="en-IN" b="1" dirty="0"/>
          </a:p>
        </p:txBody>
      </p:sp>
      <p:sp>
        <p:nvSpPr>
          <p:cNvPr id="23" name="Left Brace 22">
            <a:extLst>
              <a:ext uri="{FF2B5EF4-FFF2-40B4-BE49-F238E27FC236}">
                <a16:creationId xmlns:a16="http://schemas.microsoft.com/office/drawing/2014/main" id="{90EFCFC8-6521-7256-0201-71D6BE2C8F6B}"/>
              </a:ext>
            </a:extLst>
          </p:cNvPr>
          <p:cNvSpPr/>
          <p:nvPr/>
        </p:nvSpPr>
        <p:spPr>
          <a:xfrm>
            <a:off x="6652768" y="4520658"/>
            <a:ext cx="108154" cy="2149196"/>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IN"/>
          </a:p>
        </p:txBody>
      </p:sp>
      <p:sp>
        <p:nvSpPr>
          <p:cNvPr id="25" name="TextBox 24">
            <a:extLst>
              <a:ext uri="{FF2B5EF4-FFF2-40B4-BE49-F238E27FC236}">
                <a16:creationId xmlns:a16="http://schemas.microsoft.com/office/drawing/2014/main" id="{C79B8142-B76F-4C87-0985-1020236CC597}"/>
              </a:ext>
            </a:extLst>
          </p:cNvPr>
          <p:cNvSpPr txBox="1"/>
          <p:nvPr/>
        </p:nvSpPr>
        <p:spPr>
          <a:xfrm>
            <a:off x="5010780" y="5410590"/>
            <a:ext cx="3500284" cy="369332"/>
          </a:xfrm>
          <a:prstGeom prst="rect">
            <a:avLst/>
          </a:prstGeom>
          <a:noFill/>
        </p:spPr>
        <p:txBody>
          <a:bodyPr wrap="square" rtlCol="0">
            <a:spAutoFit/>
          </a:bodyPr>
          <a:lstStyle/>
          <a:p>
            <a:r>
              <a:rPr lang="en-US" b="1" dirty="0"/>
              <a:t>Joint Windows</a:t>
            </a:r>
            <a:endParaRPr lang="en-IN" b="1" dirty="0"/>
          </a:p>
        </p:txBody>
      </p:sp>
      <p:pic>
        <p:nvPicPr>
          <p:cNvPr id="9" name="Picture 8">
            <a:extLst>
              <a:ext uri="{FF2B5EF4-FFF2-40B4-BE49-F238E27FC236}">
                <a16:creationId xmlns:a16="http://schemas.microsoft.com/office/drawing/2014/main" id="{D33820D1-29E5-ECD0-3421-76C8366C13C9}"/>
              </a:ext>
            </a:extLst>
          </p:cNvPr>
          <p:cNvPicPr>
            <a:picLocks noChangeAspect="1"/>
          </p:cNvPicPr>
          <p:nvPr/>
        </p:nvPicPr>
        <p:blipFill>
          <a:blip r:embed="rId4"/>
          <a:stretch>
            <a:fillRect/>
          </a:stretch>
        </p:blipFill>
        <p:spPr>
          <a:xfrm>
            <a:off x="6734939" y="4980697"/>
            <a:ext cx="5452907" cy="1090581"/>
          </a:xfrm>
          <a:prstGeom prst="rect">
            <a:avLst/>
          </a:prstGeom>
        </p:spPr>
      </p:pic>
      <p:sp>
        <p:nvSpPr>
          <p:cNvPr id="12" name="Rectangle 11">
            <a:extLst>
              <a:ext uri="{FF2B5EF4-FFF2-40B4-BE49-F238E27FC236}">
                <a16:creationId xmlns:a16="http://schemas.microsoft.com/office/drawing/2014/main" id="{D0D7BF93-1A45-AF68-B40B-A58C366F6288}"/>
              </a:ext>
            </a:extLst>
          </p:cNvPr>
          <p:cNvSpPr/>
          <p:nvPr/>
        </p:nvSpPr>
        <p:spPr>
          <a:xfrm>
            <a:off x="9442704" y="5014453"/>
            <a:ext cx="2651760" cy="2159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0A3522E9-A252-171A-0D81-0064139A6DB4}"/>
              </a:ext>
            </a:extLst>
          </p:cNvPr>
          <p:cNvSpPr/>
          <p:nvPr/>
        </p:nvSpPr>
        <p:spPr>
          <a:xfrm>
            <a:off x="6843093" y="5230369"/>
            <a:ext cx="2563034" cy="2159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89336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37306-D62D-4797-0D1B-8766929E4B32}"/>
              </a:ext>
            </a:extLst>
          </p:cNvPr>
          <p:cNvSpPr>
            <a:spLocks noGrp="1"/>
          </p:cNvSpPr>
          <p:nvPr>
            <p:ph type="title"/>
          </p:nvPr>
        </p:nvSpPr>
        <p:spPr>
          <a:xfrm>
            <a:off x="0" y="293328"/>
            <a:ext cx="12192000" cy="775417"/>
          </a:xfrm>
          <a:solidFill>
            <a:schemeClr val="tx2">
              <a:lumMod val="10000"/>
              <a:lumOff val="90000"/>
            </a:schemeClr>
          </a:solidFill>
        </p:spPr>
        <p:txBody>
          <a:bodyPr>
            <a:normAutofit/>
          </a:bodyPr>
          <a:lstStyle/>
          <a:p>
            <a:r>
              <a:rPr lang="en-US" sz="4000" dirty="0"/>
              <a:t>NADE Implementation to Forecast Lorenz System</a:t>
            </a:r>
            <a:endParaRPr lang="en-IN" sz="4000" dirty="0"/>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D2333CD-7240-0D20-9391-57E7F04D9A94}"/>
                  </a:ext>
                </a:extLst>
              </p:cNvPr>
              <p:cNvSpPr txBox="1"/>
              <p:nvPr/>
            </p:nvSpPr>
            <p:spPr>
              <a:xfrm>
                <a:off x="81280" y="1168400"/>
                <a:ext cx="4693920" cy="923330"/>
              </a:xfrm>
              <a:prstGeom prst="rect">
                <a:avLst/>
              </a:prstGeom>
              <a:noFill/>
              <a:ln>
                <a:solidFill>
                  <a:schemeClr val="tx1"/>
                </a:solidFill>
              </a:ln>
            </p:spPr>
            <p:txBody>
              <a:bodyPr wrap="square" rtlCol="0">
                <a:spAutoFit/>
              </a:bodyPr>
              <a:lstStyle/>
              <a:p>
                <a:pPr algn="ctr"/>
                <a:r>
                  <a:rPr lang="en-US" b="1" dirty="0"/>
                  <a:t>Data</a:t>
                </a:r>
              </a:p>
              <a:p>
                <a:r>
                  <a:rPr lang="en-US" dirty="0"/>
                  <a:t>Number of Datapoints (Time Windows)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oMath>
                </a14:m>
                <a:endParaRPr lang="en-US" dirty="0"/>
              </a:p>
              <a:p>
                <a:endParaRPr lang="en-IN" dirty="0"/>
              </a:p>
            </p:txBody>
          </p:sp>
        </mc:Choice>
        <mc:Fallback xmlns="">
          <p:sp>
            <p:nvSpPr>
              <p:cNvPr id="48" name="TextBox 47">
                <a:extLst>
                  <a:ext uri="{FF2B5EF4-FFF2-40B4-BE49-F238E27FC236}">
                    <a16:creationId xmlns:a16="http://schemas.microsoft.com/office/drawing/2014/main" id="{ED2333CD-7240-0D20-9391-57E7F04D9A94}"/>
                  </a:ext>
                </a:extLst>
              </p:cNvPr>
              <p:cNvSpPr txBox="1">
                <a:spLocks noRot="1" noChangeAspect="1" noMove="1" noResize="1" noEditPoints="1" noAdjustHandles="1" noChangeArrowheads="1" noChangeShapeType="1" noTextEdit="1"/>
              </p:cNvSpPr>
              <p:nvPr/>
            </p:nvSpPr>
            <p:spPr>
              <a:xfrm>
                <a:off x="81280" y="1168400"/>
                <a:ext cx="4693920" cy="923330"/>
              </a:xfrm>
              <a:prstGeom prst="rect">
                <a:avLst/>
              </a:prstGeom>
              <a:blipFill>
                <a:blip r:embed="rId2"/>
                <a:stretch>
                  <a:fillRect l="-907" t="-2614"/>
                </a:stretch>
              </a:blipFill>
              <a:ln>
                <a:solidFill>
                  <a:schemeClr val="tx1"/>
                </a:solidFill>
              </a:ln>
            </p:spPr>
            <p:txBody>
              <a:bodyPr/>
              <a:lstStyle/>
              <a:p>
                <a:r>
                  <a:rPr lang="en-IN">
                    <a:noFill/>
                  </a:rPr>
                  <a:t> </a:t>
                </a:r>
              </a:p>
            </p:txBody>
          </p:sp>
        </mc:Fallback>
      </mc:AlternateContent>
      <p:sp>
        <p:nvSpPr>
          <p:cNvPr id="49" name="TextBox 48">
            <a:extLst>
              <a:ext uri="{FF2B5EF4-FFF2-40B4-BE49-F238E27FC236}">
                <a16:creationId xmlns:a16="http://schemas.microsoft.com/office/drawing/2014/main" id="{F678C4F1-ADA6-4FCA-9E0C-C5D0A2B8A550}"/>
              </a:ext>
            </a:extLst>
          </p:cNvPr>
          <p:cNvSpPr txBox="1"/>
          <p:nvPr/>
        </p:nvSpPr>
        <p:spPr>
          <a:xfrm>
            <a:off x="81280" y="2191385"/>
            <a:ext cx="4693920" cy="923330"/>
          </a:xfrm>
          <a:prstGeom prst="rect">
            <a:avLst/>
          </a:prstGeom>
          <a:noFill/>
          <a:ln>
            <a:solidFill>
              <a:schemeClr val="tx1"/>
            </a:solidFill>
          </a:ln>
        </p:spPr>
        <p:txBody>
          <a:bodyPr wrap="square" rtlCol="0">
            <a:spAutoFit/>
          </a:bodyPr>
          <a:lstStyle/>
          <a:p>
            <a:pPr algn="ctr"/>
            <a:r>
              <a:rPr lang="en-US" b="1" dirty="0"/>
              <a:t>NADE Architecture</a:t>
            </a:r>
          </a:p>
          <a:p>
            <a:pPr algn="ctr"/>
            <a:r>
              <a:rPr lang="en-US" dirty="0"/>
              <a:t>Hidden Layer Dimension = 1000</a:t>
            </a:r>
          </a:p>
          <a:p>
            <a:endParaRPr lang="en-IN" dirty="0"/>
          </a:p>
        </p:txBody>
      </p:sp>
      <p:sp>
        <p:nvSpPr>
          <p:cNvPr id="50" name="TextBox 49">
            <a:extLst>
              <a:ext uri="{FF2B5EF4-FFF2-40B4-BE49-F238E27FC236}">
                <a16:creationId xmlns:a16="http://schemas.microsoft.com/office/drawing/2014/main" id="{D1D2A741-FAC3-CB4A-23B9-4B2978C6648D}"/>
              </a:ext>
            </a:extLst>
          </p:cNvPr>
          <p:cNvSpPr txBox="1"/>
          <p:nvPr/>
        </p:nvSpPr>
        <p:spPr>
          <a:xfrm>
            <a:off x="81280" y="3214370"/>
            <a:ext cx="4693920" cy="2031325"/>
          </a:xfrm>
          <a:prstGeom prst="rect">
            <a:avLst/>
          </a:prstGeom>
          <a:noFill/>
          <a:ln>
            <a:solidFill>
              <a:schemeClr val="tx1"/>
            </a:solidFill>
          </a:ln>
        </p:spPr>
        <p:txBody>
          <a:bodyPr wrap="square" rtlCol="0">
            <a:spAutoFit/>
          </a:bodyPr>
          <a:lstStyle/>
          <a:p>
            <a:pPr algn="ctr"/>
            <a:r>
              <a:rPr lang="en-US" b="1" dirty="0"/>
              <a:t>Training</a:t>
            </a:r>
          </a:p>
          <a:p>
            <a:pPr marL="285750" indent="-285750" algn="just">
              <a:buFont typeface="Arial" panose="020B0604020202020204" pitchFamily="34" charset="0"/>
              <a:buChar char="•"/>
            </a:pPr>
            <a:r>
              <a:rPr lang="en-US" dirty="0"/>
              <a:t>Batch Size = 500</a:t>
            </a:r>
          </a:p>
          <a:p>
            <a:pPr marL="285750" indent="-285750" algn="just">
              <a:buFont typeface="Arial" panose="020B0604020202020204" pitchFamily="34" charset="0"/>
              <a:buChar char="•"/>
            </a:pPr>
            <a:r>
              <a:rPr lang="en-US" dirty="0"/>
              <a:t>Loss Function: Gaussian Negative Log Likelihood</a:t>
            </a:r>
          </a:p>
          <a:p>
            <a:pPr marL="285750" indent="-285750" algn="just">
              <a:buFont typeface="Arial" panose="020B0604020202020204" pitchFamily="34" charset="0"/>
              <a:buChar char="•"/>
            </a:pPr>
            <a:r>
              <a:rPr lang="en-US" dirty="0"/>
              <a:t>Adam Optimizer with Learning Rate = 0.001</a:t>
            </a:r>
          </a:p>
          <a:p>
            <a:pPr marL="285750" indent="-285750" algn="just">
              <a:buFont typeface="Arial" panose="020B0604020202020204" pitchFamily="34" charset="0"/>
              <a:buChar char="•"/>
            </a:pPr>
            <a:r>
              <a:rPr lang="en-US" dirty="0"/>
              <a:t>Epochs = 50</a:t>
            </a:r>
          </a:p>
          <a:p>
            <a:endParaRPr lang="en-IN" dirty="0"/>
          </a:p>
        </p:txBody>
      </p:sp>
      <p:pic>
        <p:nvPicPr>
          <p:cNvPr id="52" name="Picture 51">
            <a:extLst>
              <a:ext uri="{FF2B5EF4-FFF2-40B4-BE49-F238E27FC236}">
                <a16:creationId xmlns:a16="http://schemas.microsoft.com/office/drawing/2014/main" id="{10352186-86F5-B9F1-F06F-FFBD09AEA7E0}"/>
              </a:ext>
            </a:extLst>
          </p:cNvPr>
          <p:cNvPicPr>
            <a:picLocks noChangeAspect="1"/>
          </p:cNvPicPr>
          <p:nvPr/>
        </p:nvPicPr>
        <p:blipFill>
          <a:blip r:embed="rId3"/>
          <a:stretch>
            <a:fillRect/>
          </a:stretch>
        </p:blipFill>
        <p:spPr>
          <a:xfrm>
            <a:off x="6194197" y="1068745"/>
            <a:ext cx="5560288" cy="4500880"/>
          </a:xfrm>
          <a:prstGeom prst="rect">
            <a:avLst/>
          </a:prstGeom>
        </p:spPr>
      </p:pic>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C6FF00C-1317-AC19-918F-8E93133C36D8}"/>
                  </a:ext>
                </a:extLst>
              </p:cNvPr>
              <p:cNvSpPr txBox="1"/>
              <p:nvPr/>
            </p:nvSpPr>
            <p:spPr>
              <a:xfrm>
                <a:off x="81280" y="5397462"/>
                <a:ext cx="4693920" cy="1200329"/>
              </a:xfrm>
              <a:prstGeom prst="rect">
                <a:avLst/>
              </a:prstGeom>
              <a:noFill/>
              <a:ln>
                <a:solidFill>
                  <a:schemeClr val="tx1"/>
                </a:solidFill>
              </a:ln>
            </p:spPr>
            <p:txBody>
              <a:bodyPr wrap="square" rtlCol="0">
                <a:spAutoFit/>
              </a:bodyPr>
              <a:lstStyle/>
              <a:p>
                <a:pPr algn="ctr"/>
                <a:r>
                  <a:rPr lang="en-US" b="1" dirty="0"/>
                  <a:t>Data Generation</a:t>
                </a:r>
              </a:p>
              <a:p>
                <a:pPr algn="ctr"/>
                <a:r>
                  <a:rPr lang="en-US" dirty="0"/>
                  <a:t>Total Data Points Generated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oMath>
                </a14:m>
                <a:endParaRPr lang="en-US" b="1" dirty="0"/>
              </a:p>
              <a:p>
                <a:pPr algn="ctr"/>
                <a:r>
                  <a:rPr lang="en-US" b="1" dirty="0"/>
                  <a:t>(Only Once) </a:t>
                </a:r>
              </a:p>
              <a:p>
                <a:endParaRPr lang="en-IN" dirty="0"/>
              </a:p>
            </p:txBody>
          </p:sp>
        </mc:Choice>
        <mc:Fallback xmlns="">
          <p:sp>
            <p:nvSpPr>
              <p:cNvPr id="53" name="TextBox 52">
                <a:extLst>
                  <a:ext uri="{FF2B5EF4-FFF2-40B4-BE49-F238E27FC236}">
                    <a16:creationId xmlns:a16="http://schemas.microsoft.com/office/drawing/2014/main" id="{CC6FF00C-1317-AC19-918F-8E93133C36D8}"/>
                  </a:ext>
                </a:extLst>
              </p:cNvPr>
              <p:cNvSpPr txBox="1">
                <a:spLocks noRot="1" noChangeAspect="1" noMove="1" noResize="1" noEditPoints="1" noAdjustHandles="1" noChangeArrowheads="1" noChangeShapeType="1" noTextEdit="1"/>
              </p:cNvSpPr>
              <p:nvPr/>
            </p:nvSpPr>
            <p:spPr>
              <a:xfrm>
                <a:off x="81280" y="5397462"/>
                <a:ext cx="4693920" cy="1200329"/>
              </a:xfrm>
              <a:prstGeom prst="rect">
                <a:avLst/>
              </a:prstGeom>
              <a:blipFill>
                <a:blip r:embed="rId4"/>
                <a:stretch>
                  <a:fillRect t="-1508"/>
                </a:stretch>
              </a:blipFill>
              <a:ln>
                <a:solidFill>
                  <a:schemeClr val="tx1"/>
                </a:solidFill>
              </a:ln>
            </p:spPr>
            <p:txBody>
              <a:bodyPr/>
              <a:lstStyle/>
              <a:p>
                <a:r>
                  <a:rPr lang="en-IN">
                    <a:noFill/>
                  </a:rPr>
                  <a:t> </a:t>
                </a:r>
              </a:p>
            </p:txBody>
          </p:sp>
        </mc:Fallback>
      </mc:AlternateContent>
    </p:spTree>
    <p:extLst>
      <p:ext uri="{BB962C8B-B14F-4D97-AF65-F5344CB8AC3E}">
        <p14:creationId xmlns:p14="http://schemas.microsoft.com/office/powerpoint/2010/main" val="487510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B240B-6932-5521-6C45-B3B6BAAD8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92D23-F07B-9CA9-F2EB-FC0652CA42D8}"/>
              </a:ext>
            </a:extLst>
          </p:cNvPr>
          <p:cNvSpPr>
            <a:spLocks noGrp="1"/>
          </p:cNvSpPr>
          <p:nvPr>
            <p:ph type="title"/>
          </p:nvPr>
        </p:nvSpPr>
        <p:spPr>
          <a:xfrm>
            <a:off x="0" y="293328"/>
            <a:ext cx="12192000" cy="775417"/>
          </a:xfrm>
          <a:solidFill>
            <a:schemeClr val="tx2">
              <a:lumMod val="10000"/>
              <a:lumOff val="90000"/>
            </a:schemeClr>
          </a:solidFill>
        </p:spPr>
        <p:txBody>
          <a:bodyPr>
            <a:normAutofit/>
          </a:bodyPr>
          <a:lstStyle/>
          <a:p>
            <a:r>
              <a:rPr lang="en-US" sz="4000" dirty="0"/>
              <a:t>NADE Implementation to Forecast Lorenz System</a:t>
            </a:r>
            <a:endParaRPr lang="en-IN" sz="40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35CCA56-3736-4359-271C-0BE03C7D514E}"/>
                  </a:ext>
                </a:extLst>
              </p:cNvPr>
              <p:cNvSpPr txBox="1"/>
              <p:nvPr/>
            </p:nvSpPr>
            <p:spPr>
              <a:xfrm>
                <a:off x="2057400" y="1271788"/>
                <a:ext cx="8077200" cy="369332"/>
              </a:xfrm>
              <a:prstGeom prst="rect">
                <a:avLst/>
              </a:prstGeom>
              <a:noFill/>
            </p:spPr>
            <p:txBody>
              <a:bodyPr wrap="square" rtlCol="0">
                <a:spAutoFit/>
              </a:bodyPr>
              <a:lstStyle/>
              <a:p>
                <a:r>
                  <a:rPr lang="en-US" dirty="0">
                    <a:solidFill>
                      <a:srgbClr val="7030A0"/>
                    </a:solidFill>
                  </a:rPr>
                  <a:t>Trained on (</a:t>
                </a:r>
                <a14:m>
                  <m:oMath xmlns:m="http://schemas.openxmlformats.org/officeDocument/2006/math">
                    <m:sSup>
                      <m:sSupPr>
                        <m:ctrlPr>
                          <a:rPr lang="en-US" i="1" smtClean="0">
                            <a:solidFill>
                              <a:srgbClr val="7030A0"/>
                            </a:solidFill>
                            <a:latin typeface="Cambria Math" panose="02040503050406030204" pitchFamily="18" charset="0"/>
                          </a:rPr>
                        </m:ctrlPr>
                      </m:sSupPr>
                      <m:e>
                        <m:r>
                          <a:rPr lang="en-US" b="0" i="1" smtClean="0">
                            <a:solidFill>
                              <a:srgbClr val="7030A0"/>
                            </a:solidFill>
                            <a:latin typeface="Cambria Math" panose="02040503050406030204" pitchFamily="18" charset="0"/>
                          </a:rPr>
                          <m:t>10</m:t>
                        </m:r>
                      </m:e>
                      <m:sup>
                        <m:r>
                          <a:rPr lang="en-US" b="0" i="1" smtClean="0">
                            <a:solidFill>
                              <a:srgbClr val="7030A0"/>
                            </a:solidFill>
                            <a:latin typeface="Cambria Math" panose="02040503050406030204" pitchFamily="18" charset="0"/>
                          </a:rPr>
                          <m:t>6</m:t>
                        </m:r>
                      </m:sup>
                    </m:sSup>
                    <m:r>
                      <a:rPr lang="en-US" b="0" i="1" smtClean="0">
                        <a:solidFill>
                          <a:srgbClr val="7030A0"/>
                        </a:solidFill>
                        <a:latin typeface="Cambria Math" panose="02040503050406030204" pitchFamily="18" charset="0"/>
                      </a:rPr>
                      <m:t>)</m:t>
                    </m:r>
                  </m:oMath>
                </a14:m>
                <a:r>
                  <a:rPr lang="en-IN" dirty="0">
                    <a:solidFill>
                      <a:srgbClr val="7030A0"/>
                    </a:solidFill>
                  </a:rPr>
                  <a:t> time steps and forecasted from  </a:t>
                </a:r>
                <a:r>
                  <a:rPr lang="en-US" dirty="0">
                    <a:solidFill>
                      <a:srgbClr val="7030A0"/>
                    </a:solidFill>
                  </a:rPr>
                  <a:t>(</a:t>
                </a:r>
                <a14:m>
                  <m:oMath xmlns:m="http://schemas.openxmlformats.org/officeDocument/2006/math">
                    <m:sSup>
                      <m:sSupPr>
                        <m:ctrlPr>
                          <a:rPr lang="en-US" i="1">
                            <a:solidFill>
                              <a:srgbClr val="7030A0"/>
                            </a:solidFill>
                            <a:latin typeface="Cambria Math" panose="02040503050406030204" pitchFamily="18" charset="0"/>
                          </a:rPr>
                        </m:ctrlPr>
                      </m:sSupPr>
                      <m:e>
                        <m:r>
                          <a:rPr lang="en-US" i="1">
                            <a:solidFill>
                              <a:srgbClr val="7030A0"/>
                            </a:solidFill>
                            <a:latin typeface="Cambria Math" panose="02040503050406030204" pitchFamily="18" charset="0"/>
                          </a:rPr>
                          <m:t>10</m:t>
                        </m:r>
                      </m:e>
                      <m:sup>
                        <m:r>
                          <a:rPr lang="en-US" i="1">
                            <a:solidFill>
                              <a:srgbClr val="7030A0"/>
                            </a:solidFill>
                            <a:latin typeface="Cambria Math" panose="02040503050406030204" pitchFamily="18" charset="0"/>
                          </a:rPr>
                          <m:t>6</m:t>
                        </m:r>
                      </m:sup>
                    </m:sSup>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1</m:t>
                    </m:r>
                    <m:r>
                      <a:rPr lang="en-US" b="0" i="1" smtClean="0">
                        <a:solidFill>
                          <a:srgbClr val="7030A0"/>
                        </a:solidFill>
                        <a:latin typeface="Cambria Math" panose="02040503050406030204" pitchFamily="18" charset="0"/>
                      </a:rPr>
                      <m:t>)</m:t>
                    </m:r>
                  </m:oMath>
                </a14:m>
                <a:r>
                  <a:rPr lang="en-IN" dirty="0">
                    <a:solidFill>
                      <a:srgbClr val="7030A0"/>
                    </a:solidFill>
                  </a:rPr>
                  <a:t> for 50000 steps</a:t>
                </a:r>
              </a:p>
            </p:txBody>
          </p:sp>
        </mc:Choice>
        <mc:Fallback xmlns="">
          <p:sp>
            <p:nvSpPr>
              <p:cNvPr id="5" name="TextBox 4">
                <a:extLst>
                  <a:ext uri="{FF2B5EF4-FFF2-40B4-BE49-F238E27FC236}">
                    <a16:creationId xmlns:a16="http://schemas.microsoft.com/office/drawing/2014/main" id="{735CCA56-3736-4359-271C-0BE03C7D514E}"/>
                  </a:ext>
                </a:extLst>
              </p:cNvPr>
              <p:cNvSpPr txBox="1">
                <a:spLocks noRot="1" noChangeAspect="1" noMove="1" noResize="1" noEditPoints="1" noAdjustHandles="1" noChangeArrowheads="1" noChangeShapeType="1" noTextEdit="1"/>
              </p:cNvSpPr>
              <p:nvPr/>
            </p:nvSpPr>
            <p:spPr>
              <a:xfrm>
                <a:off x="2057400" y="1271788"/>
                <a:ext cx="8077200" cy="369332"/>
              </a:xfrm>
              <a:prstGeom prst="rect">
                <a:avLst/>
              </a:prstGeom>
              <a:blipFill>
                <a:blip r:embed="rId2"/>
                <a:stretch>
                  <a:fillRect l="-679" t="-8333" b="-28333"/>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7A108631-CE7F-12B5-9D86-0F84008483F3}"/>
              </a:ext>
            </a:extLst>
          </p:cNvPr>
          <p:cNvPicPr>
            <a:picLocks noChangeAspect="1"/>
          </p:cNvPicPr>
          <p:nvPr/>
        </p:nvPicPr>
        <p:blipFill>
          <a:blip r:embed="rId3"/>
          <a:stretch>
            <a:fillRect/>
          </a:stretch>
        </p:blipFill>
        <p:spPr>
          <a:xfrm>
            <a:off x="174989" y="1844163"/>
            <a:ext cx="11842022" cy="3725776"/>
          </a:xfrm>
          <a:prstGeom prst="rect">
            <a:avLst/>
          </a:prstGeom>
        </p:spPr>
      </p:pic>
    </p:spTree>
    <p:extLst>
      <p:ext uri="{BB962C8B-B14F-4D97-AF65-F5344CB8AC3E}">
        <p14:creationId xmlns:p14="http://schemas.microsoft.com/office/powerpoint/2010/main" val="68145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6A40D-DADF-4F4D-BEB4-4B20A4F3D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B10B4-DBDE-6314-3491-C4A85453FA85}"/>
              </a:ext>
            </a:extLst>
          </p:cNvPr>
          <p:cNvSpPr>
            <a:spLocks noGrp="1"/>
          </p:cNvSpPr>
          <p:nvPr>
            <p:ph type="title"/>
          </p:nvPr>
        </p:nvSpPr>
        <p:spPr>
          <a:xfrm>
            <a:off x="0" y="151088"/>
            <a:ext cx="12192000" cy="590751"/>
          </a:xfrm>
          <a:solidFill>
            <a:schemeClr val="tx2">
              <a:lumMod val="10000"/>
              <a:lumOff val="90000"/>
            </a:schemeClr>
          </a:solidFill>
        </p:spPr>
        <p:txBody>
          <a:bodyPr>
            <a:normAutofit fontScale="90000"/>
          </a:bodyPr>
          <a:lstStyle/>
          <a:p>
            <a:r>
              <a:rPr lang="en-US" sz="4000" b="1" dirty="0"/>
              <a:t>Testing</a:t>
            </a:r>
            <a:endParaRPr lang="en-IN" sz="4000" b="1" dirty="0"/>
          </a:p>
        </p:txBody>
      </p:sp>
      <p:graphicFrame>
        <p:nvGraphicFramePr>
          <p:cNvPr id="6" name="Table 5">
            <a:extLst>
              <a:ext uri="{FF2B5EF4-FFF2-40B4-BE49-F238E27FC236}">
                <a16:creationId xmlns:a16="http://schemas.microsoft.com/office/drawing/2014/main" id="{D8FC2C88-78A5-CB49-B645-09368A7B8E4E}"/>
              </a:ext>
            </a:extLst>
          </p:cNvPr>
          <p:cNvGraphicFramePr>
            <a:graphicFrameLocks noGrp="1"/>
          </p:cNvGraphicFramePr>
          <p:nvPr>
            <p:extLst>
              <p:ext uri="{D42A27DB-BD31-4B8C-83A1-F6EECF244321}">
                <p14:modId xmlns:p14="http://schemas.microsoft.com/office/powerpoint/2010/main" val="1322122757"/>
              </p:ext>
            </p:extLst>
          </p:nvPr>
        </p:nvGraphicFramePr>
        <p:xfrm>
          <a:off x="2061497" y="2619254"/>
          <a:ext cx="8128000" cy="590751"/>
        </p:xfrm>
        <a:graphic>
          <a:graphicData uri="http://schemas.openxmlformats.org/drawingml/2006/table">
            <a:tbl>
              <a:tblPr firstRow="1" bandRow="1">
                <a:tableStyleId>{5C22544A-7EE6-4342-B048-85BDC9FD1C3A}</a:tableStyleId>
              </a:tblPr>
              <a:tblGrid>
                <a:gridCol w="2235200">
                  <a:extLst>
                    <a:ext uri="{9D8B030D-6E8A-4147-A177-3AD203B41FA5}">
                      <a16:colId xmlns:a16="http://schemas.microsoft.com/office/drawing/2014/main" val="4287831519"/>
                    </a:ext>
                  </a:extLst>
                </a:gridCol>
                <a:gridCol w="5892800">
                  <a:extLst>
                    <a:ext uri="{9D8B030D-6E8A-4147-A177-3AD203B41FA5}">
                      <a16:colId xmlns:a16="http://schemas.microsoft.com/office/drawing/2014/main" val="505640463"/>
                    </a:ext>
                  </a:extLst>
                </a:gridCol>
              </a:tblGrid>
              <a:tr h="590751">
                <a:tc>
                  <a:txBody>
                    <a:bodyPr/>
                    <a:lstStyle/>
                    <a:p>
                      <a:endParaRPr lang="en-IN" dirty="0"/>
                    </a:p>
                  </a:txBody>
                  <a:tcPr>
                    <a:solidFill>
                      <a:schemeClr val="bg1">
                        <a:lumMod val="75000"/>
                      </a:schemeClr>
                    </a:solidFill>
                  </a:tcPr>
                </a:tc>
                <a:tc>
                  <a:txBody>
                    <a:bodyPr/>
                    <a:lstStyle/>
                    <a:p>
                      <a:endParaRPr lang="en-IN" dirty="0"/>
                    </a:p>
                  </a:txBody>
                  <a:tcPr>
                    <a:solidFill>
                      <a:schemeClr val="tx2">
                        <a:lumMod val="25000"/>
                        <a:lumOff val="75000"/>
                      </a:schemeClr>
                    </a:solidFill>
                  </a:tcPr>
                </a:tc>
                <a:extLst>
                  <a:ext uri="{0D108BD9-81ED-4DB2-BD59-A6C34878D82A}">
                    <a16:rowId xmlns:a16="http://schemas.microsoft.com/office/drawing/2014/main" val="350339359"/>
                  </a:ext>
                </a:extLst>
              </a:tr>
            </a:tbl>
          </a:graphicData>
        </a:graphic>
      </p:graphicFrame>
      <p:sp>
        <p:nvSpPr>
          <p:cNvPr id="8" name="Left Brace 7">
            <a:extLst>
              <a:ext uri="{FF2B5EF4-FFF2-40B4-BE49-F238E27FC236}">
                <a16:creationId xmlns:a16="http://schemas.microsoft.com/office/drawing/2014/main" id="{317BA5CD-5EDD-4A2F-A377-9459F5B4E650}"/>
              </a:ext>
            </a:extLst>
          </p:cNvPr>
          <p:cNvSpPr/>
          <p:nvPr/>
        </p:nvSpPr>
        <p:spPr>
          <a:xfrm rot="5400000">
            <a:off x="5940078" y="-1717996"/>
            <a:ext cx="370839" cy="8127999"/>
          </a:xfrm>
          <a:prstGeom prst="lef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5371535-49E2-6BC9-A67C-B8FEF6DACEC8}"/>
                  </a:ext>
                </a:extLst>
              </p:cNvPr>
              <p:cNvSpPr txBox="1"/>
              <p:nvPr/>
            </p:nvSpPr>
            <p:spPr>
              <a:xfrm>
                <a:off x="2526890" y="1857063"/>
                <a:ext cx="6794092" cy="375552"/>
              </a:xfrm>
              <a:prstGeom prst="rect">
                <a:avLst/>
              </a:prstGeom>
              <a:noFill/>
            </p:spPr>
            <p:txBody>
              <a:bodyPr wrap="square" rtlCol="0">
                <a:spAutoFit/>
              </a:bodyPr>
              <a:lstStyle/>
              <a:p>
                <a:r>
                  <a:rPr lang="en-US" b="1" dirty="0"/>
                  <a:t>Total Generated 4 x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𝟏𝟎</m:t>
                        </m:r>
                      </m:e>
                      <m:sup>
                        <m:r>
                          <a:rPr lang="en-US" b="1" i="1" smtClean="0">
                            <a:latin typeface="Cambria Math" panose="02040503050406030204" pitchFamily="18" charset="0"/>
                          </a:rPr>
                          <m:t>𝟔</m:t>
                        </m:r>
                      </m:sup>
                    </m:sSup>
                  </m:oMath>
                </a14:m>
                <a:r>
                  <a:rPr lang="en-IN" b="1" dirty="0"/>
                  <a:t> timesteps/datapoints (Not randomized)</a:t>
                </a:r>
              </a:p>
            </p:txBody>
          </p:sp>
        </mc:Choice>
        <mc:Fallback xmlns="">
          <p:sp>
            <p:nvSpPr>
              <p:cNvPr id="9" name="TextBox 8">
                <a:extLst>
                  <a:ext uri="{FF2B5EF4-FFF2-40B4-BE49-F238E27FC236}">
                    <a16:creationId xmlns:a16="http://schemas.microsoft.com/office/drawing/2014/main" id="{65371535-49E2-6BC9-A67C-B8FEF6DACEC8}"/>
                  </a:ext>
                </a:extLst>
              </p:cNvPr>
              <p:cNvSpPr txBox="1">
                <a:spLocks noRot="1" noChangeAspect="1" noMove="1" noResize="1" noEditPoints="1" noAdjustHandles="1" noChangeArrowheads="1" noChangeShapeType="1" noTextEdit="1"/>
              </p:cNvSpPr>
              <p:nvPr/>
            </p:nvSpPr>
            <p:spPr>
              <a:xfrm>
                <a:off x="2526890" y="1857063"/>
                <a:ext cx="6794092" cy="375552"/>
              </a:xfrm>
              <a:prstGeom prst="rect">
                <a:avLst/>
              </a:prstGeom>
              <a:blipFill>
                <a:blip r:embed="rId3"/>
                <a:stretch>
                  <a:fillRect l="-808" t="-6557" b="-2786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768E761-FF80-D519-C680-CFD56C9B820B}"/>
                  </a:ext>
                </a:extLst>
              </p:cNvPr>
              <p:cNvSpPr txBox="1"/>
              <p:nvPr/>
            </p:nvSpPr>
            <p:spPr>
              <a:xfrm>
                <a:off x="1888777" y="2625230"/>
                <a:ext cx="2509520" cy="584775"/>
              </a:xfrm>
              <a:prstGeom prst="rect">
                <a:avLst/>
              </a:prstGeom>
              <a:noFill/>
            </p:spPr>
            <p:txBody>
              <a:bodyPr wrap="square" rtlCol="0">
                <a:spAutoFit/>
              </a:bodyPr>
              <a:lstStyle/>
              <a:p>
                <a:pPr algn="ctr"/>
                <a14:m>
                  <m:oMath xmlns:m="http://schemas.openxmlformats.org/officeDocument/2006/math">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rPr>
                          <m:t>𝟏𝟎</m:t>
                        </m:r>
                      </m:e>
                      <m:sup>
                        <m:r>
                          <a:rPr lang="en-US" sz="1600" b="1" i="1" smtClean="0">
                            <a:latin typeface="Cambria Math" panose="02040503050406030204" pitchFamily="18" charset="0"/>
                          </a:rPr>
                          <m:t>𝟔</m:t>
                        </m:r>
                      </m:sup>
                    </m:sSup>
                  </m:oMath>
                </a14:m>
                <a:r>
                  <a:rPr lang="en-IN" sz="1600" b="1" dirty="0"/>
                  <a:t> datapoints </a:t>
                </a:r>
                <a:br>
                  <a:rPr lang="en-IN" sz="1600" b="1" dirty="0"/>
                </a:br>
                <a:r>
                  <a:rPr lang="en-IN" sz="1600" b="1" dirty="0"/>
                  <a:t>for Training</a:t>
                </a:r>
              </a:p>
            </p:txBody>
          </p:sp>
        </mc:Choice>
        <mc:Fallback xmlns="">
          <p:sp>
            <p:nvSpPr>
              <p:cNvPr id="11" name="TextBox 10">
                <a:extLst>
                  <a:ext uri="{FF2B5EF4-FFF2-40B4-BE49-F238E27FC236}">
                    <a16:creationId xmlns:a16="http://schemas.microsoft.com/office/drawing/2014/main" id="{9768E761-FF80-D519-C680-CFD56C9B820B}"/>
                  </a:ext>
                </a:extLst>
              </p:cNvPr>
              <p:cNvSpPr txBox="1">
                <a:spLocks noRot="1" noChangeAspect="1" noMove="1" noResize="1" noEditPoints="1" noAdjustHandles="1" noChangeArrowheads="1" noChangeShapeType="1" noTextEdit="1"/>
              </p:cNvSpPr>
              <p:nvPr/>
            </p:nvSpPr>
            <p:spPr>
              <a:xfrm>
                <a:off x="1888777" y="2625230"/>
                <a:ext cx="2509520" cy="584775"/>
              </a:xfrm>
              <a:prstGeom prst="rect">
                <a:avLst/>
              </a:prstGeom>
              <a:blipFill>
                <a:blip r:embed="rId4"/>
                <a:stretch>
                  <a:fillRect t="-2083" b="-1354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2F3A561-6D0D-1FC9-400B-CC2F2D89D405}"/>
                  </a:ext>
                </a:extLst>
              </p:cNvPr>
              <p:cNvSpPr txBox="1"/>
              <p:nvPr/>
            </p:nvSpPr>
            <p:spPr>
              <a:xfrm>
                <a:off x="6450617" y="2554026"/>
                <a:ext cx="3312160" cy="369332"/>
              </a:xfrm>
              <a:prstGeom prst="rect">
                <a:avLst/>
              </a:prstGeom>
              <a:noFill/>
            </p:spPr>
            <p:txBody>
              <a:bodyPr wrap="square" rtlCol="0">
                <a:spAutoFit/>
              </a:bodyPr>
              <a:lstStyle/>
              <a:p>
                <a:r>
                  <a:rPr lang="en-US" dirty="0"/>
                  <a:t>3 x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oMath>
                </a14:m>
                <a:r>
                  <a:rPr lang="en-IN" dirty="0"/>
                  <a:t> </a:t>
                </a:r>
              </a:p>
            </p:txBody>
          </p:sp>
        </mc:Choice>
        <mc:Fallback xmlns="">
          <p:sp>
            <p:nvSpPr>
              <p:cNvPr id="12" name="TextBox 11">
                <a:extLst>
                  <a:ext uri="{FF2B5EF4-FFF2-40B4-BE49-F238E27FC236}">
                    <a16:creationId xmlns:a16="http://schemas.microsoft.com/office/drawing/2014/main" id="{62F3A561-6D0D-1FC9-400B-CC2F2D89D405}"/>
                  </a:ext>
                </a:extLst>
              </p:cNvPr>
              <p:cNvSpPr txBox="1">
                <a:spLocks noRot="1" noChangeAspect="1" noMove="1" noResize="1" noEditPoints="1" noAdjustHandles="1" noChangeArrowheads="1" noChangeShapeType="1" noTextEdit="1"/>
              </p:cNvSpPr>
              <p:nvPr/>
            </p:nvSpPr>
            <p:spPr>
              <a:xfrm>
                <a:off x="6450617" y="2554026"/>
                <a:ext cx="3312160" cy="369332"/>
              </a:xfrm>
              <a:prstGeom prst="rect">
                <a:avLst/>
              </a:prstGeom>
              <a:blipFill>
                <a:blip r:embed="rId5"/>
                <a:stretch>
                  <a:fillRect l="-1471" t="-8197" b="-26230"/>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652C7532-2D29-1B5B-32FA-52EC3F11B89B}"/>
              </a:ext>
            </a:extLst>
          </p:cNvPr>
          <p:cNvSpPr/>
          <p:nvPr/>
        </p:nvSpPr>
        <p:spPr>
          <a:xfrm>
            <a:off x="4360833" y="2863194"/>
            <a:ext cx="1391920" cy="2571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400 Steps</a:t>
            </a:r>
            <a:endParaRPr lang="en-IN" dirty="0"/>
          </a:p>
        </p:txBody>
      </p:sp>
      <p:sp>
        <p:nvSpPr>
          <p:cNvPr id="14" name="Rectangle 13">
            <a:extLst>
              <a:ext uri="{FF2B5EF4-FFF2-40B4-BE49-F238E27FC236}">
                <a16:creationId xmlns:a16="http://schemas.microsoft.com/office/drawing/2014/main" id="{1CB490F9-169B-A632-7569-BF761EA393EA}"/>
              </a:ext>
            </a:extLst>
          </p:cNvPr>
          <p:cNvSpPr/>
          <p:nvPr/>
        </p:nvSpPr>
        <p:spPr>
          <a:xfrm>
            <a:off x="5920709" y="2876377"/>
            <a:ext cx="1391920" cy="2571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400 Steps</a:t>
            </a:r>
            <a:endParaRPr lang="en-IN" dirty="0"/>
          </a:p>
        </p:txBody>
      </p:sp>
      <p:sp>
        <p:nvSpPr>
          <p:cNvPr id="15" name="Rectangle 14">
            <a:extLst>
              <a:ext uri="{FF2B5EF4-FFF2-40B4-BE49-F238E27FC236}">
                <a16:creationId xmlns:a16="http://schemas.microsoft.com/office/drawing/2014/main" id="{78D64433-85DA-395A-F5D2-D9CEB0B1E57E}"/>
              </a:ext>
            </a:extLst>
          </p:cNvPr>
          <p:cNvSpPr/>
          <p:nvPr/>
        </p:nvSpPr>
        <p:spPr>
          <a:xfrm>
            <a:off x="8668989" y="2876377"/>
            <a:ext cx="1391920" cy="2571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400 Steps</a:t>
            </a:r>
            <a:endParaRPr lang="en-IN" dirty="0"/>
          </a:p>
        </p:txBody>
      </p:sp>
      <p:pic>
        <p:nvPicPr>
          <p:cNvPr id="2050" name="Picture 2" descr="Three-Dots Icons - Free SVG &amp; PNG Three-Dots Images - Noun ...">
            <a:extLst>
              <a:ext uri="{FF2B5EF4-FFF2-40B4-BE49-F238E27FC236}">
                <a16:creationId xmlns:a16="http://schemas.microsoft.com/office/drawing/2014/main" id="{A61A51C5-7011-3CC3-8EB2-ACDAC494D9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74800" y="2797607"/>
            <a:ext cx="515339" cy="486156"/>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BC863420-150F-E751-A803-AD3C72FD64DB}"/>
              </a:ext>
            </a:extLst>
          </p:cNvPr>
          <p:cNvSpPr txBox="1"/>
          <p:nvPr/>
        </p:nvSpPr>
        <p:spPr>
          <a:xfrm>
            <a:off x="4933735" y="3180277"/>
            <a:ext cx="570271" cy="369332"/>
          </a:xfrm>
          <a:prstGeom prst="rect">
            <a:avLst/>
          </a:prstGeom>
          <a:noFill/>
        </p:spPr>
        <p:txBody>
          <a:bodyPr wrap="square" rtlCol="0">
            <a:spAutoFit/>
          </a:bodyPr>
          <a:lstStyle/>
          <a:p>
            <a:r>
              <a:rPr lang="en-US" dirty="0"/>
              <a:t>1</a:t>
            </a:r>
            <a:endParaRPr lang="en-IN" dirty="0"/>
          </a:p>
        </p:txBody>
      </p:sp>
      <p:sp>
        <p:nvSpPr>
          <p:cNvPr id="17" name="TextBox 16">
            <a:extLst>
              <a:ext uri="{FF2B5EF4-FFF2-40B4-BE49-F238E27FC236}">
                <a16:creationId xmlns:a16="http://schemas.microsoft.com/office/drawing/2014/main" id="{FF13F9DF-59F1-3852-C53D-37457B96AE4B}"/>
              </a:ext>
            </a:extLst>
          </p:cNvPr>
          <p:cNvSpPr txBox="1"/>
          <p:nvPr/>
        </p:nvSpPr>
        <p:spPr>
          <a:xfrm>
            <a:off x="6492438" y="3201480"/>
            <a:ext cx="570271" cy="369332"/>
          </a:xfrm>
          <a:prstGeom prst="rect">
            <a:avLst/>
          </a:prstGeom>
          <a:noFill/>
        </p:spPr>
        <p:txBody>
          <a:bodyPr wrap="square" rtlCol="0">
            <a:spAutoFit/>
          </a:bodyPr>
          <a:lstStyle/>
          <a:p>
            <a:r>
              <a:rPr lang="en-US" dirty="0"/>
              <a:t>2</a:t>
            </a:r>
            <a:endParaRPr lang="en-IN" dirty="0"/>
          </a:p>
        </p:txBody>
      </p:sp>
      <p:sp>
        <p:nvSpPr>
          <p:cNvPr id="18" name="TextBox 17">
            <a:extLst>
              <a:ext uri="{FF2B5EF4-FFF2-40B4-BE49-F238E27FC236}">
                <a16:creationId xmlns:a16="http://schemas.microsoft.com/office/drawing/2014/main" id="{FB0F4DFC-589B-6AFB-A740-CDE946459072}"/>
              </a:ext>
            </a:extLst>
          </p:cNvPr>
          <p:cNvSpPr txBox="1"/>
          <p:nvPr/>
        </p:nvSpPr>
        <p:spPr>
          <a:xfrm>
            <a:off x="9192506" y="3205985"/>
            <a:ext cx="570271" cy="369332"/>
          </a:xfrm>
          <a:prstGeom prst="rect">
            <a:avLst/>
          </a:prstGeom>
          <a:noFill/>
        </p:spPr>
        <p:txBody>
          <a:bodyPr wrap="square" rtlCol="0">
            <a:spAutoFit/>
          </a:bodyPr>
          <a:lstStyle/>
          <a:p>
            <a:r>
              <a:rPr lang="en-US" dirty="0"/>
              <a:t>500</a:t>
            </a:r>
            <a:endParaRPr lang="en-IN" dirty="0"/>
          </a:p>
        </p:txBody>
      </p:sp>
      <p:sp>
        <p:nvSpPr>
          <p:cNvPr id="19" name="TextBox 18">
            <a:extLst>
              <a:ext uri="{FF2B5EF4-FFF2-40B4-BE49-F238E27FC236}">
                <a16:creationId xmlns:a16="http://schemas.microsoft.com/office/drawing/2014/main" id="{2AFC324E-F5C8-91FE-C016-5AB3AE0780E6}"/>
              </a:ext>
            </a:extLst>
          </p:cNvPr>
          <p:cNvSpPr txBox="1"/>
          <p:nvPr/>
        </p:nvSpPr>
        <p:spPr>
          <a:xfrm>
            <a:off x="25462" y="828521"/>
            <a:ext cx="12264053" cy="646331"/>
          </a:xfrm>
          <a:prstGeom prst="rect">
            <a:avLst/>
          </a:prstGeom>
          <a:noFill/>
        </p:spPr>
        <p:txBody>
          <a:bodyPr wrap="square" rtlCol="0">
            <a:spAutoFit/>
          </a:bodyPr>
          <a:lstStyle/>
          <a:p>
            <a:pPr marL="285750" indent="-285750">
              <a:buFont typeface="Arial" panose="020B0604020202020204" pitchFamily="34" charset="0"/>
              <a:buChar char="•"/>
            </a:pPr>
            <a:r>
              <a:rPr lang="en-US" dirty="0"/>
              <a:t>For testing, we consider 500 unseen initial conditions drawn uniformly forming </a:t>
            </a:r>
            <a:r>
              <a:rPr lang="en-US" b="1" dirty="0"/>
              <a:t>nonoverlapping trajectories.</a:t>
            </a:r>
          </a:p>
          <a:p>
            <a:pPr marL="285750" indent="-285750">
              <a:buFont typeface="Arial" panose="020B0604020202020204" pitchFamily="34" charset="0"/>
              <a:buChar char="•"/>
            </a:pPr>
            <a:r>
              <a:rPr lang="en-US" dirty="0"/>
              <a:t>Each initial state is forecasted for 400 steps.</a:t>
            </a:r>
            <a:endParaRPr lang="en-IN" dirty="0"/>
          </a:p>
        </p:txBody>
      </p:sp>
      <p:sp>
        <p:nvSpPr>
          <p:cNvPr id="22" name="Rectangle 21">
            <a:extLst>
              <a:ext uri="{FF2B5EF4-FFF2-40B4-BE49-F238E27FC236}">
                <a16:creationId xmlns:a16="http://schemas.microsoft.com/office/drawing/2014/main" id="{CD623FE5-BB75-55EC-EE9D-5510B9F30FD3}"/>
              </a:ext>
            </a:extLst>
          </p:cNvPr>
          <p:cNvSpPr/>
          <p:nvPr/>
        </p:nvSpPr>
        <p:spPr>
          <a:xfrm>
            <a:off x="2526891" y="3768819"/>
            <a:ext cx="1546942" cy="369332"/>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Model</a:t>
            </a:r>
            <a:endParaRPr lang="en-IN" dirty="0">
              <a:solidFill>
                <a:schemeClr val="tx1"/>
              </a:solidFill>
            </a:endParaRPr>
          </a:p>
        </p:txBody>
      </p:sp>
      <p:cxnSp>
        <p:nvCxnSpPr>
          <p:cNvPr id="24" name="Straight Connector 23">
            <a:extLst>
              <a:ext uri="{FF2B5EF4-FFF2-40B4-BE49-F238E27FC236}">
                <a16:creationId xmlns:a16="http://schemas.microsoft.com/office/drawing/2014/main" id="{00DEB369-D0E6-41C1-8C1B-A1C9292DD9DD}"/>
              </a:ext>
            </a:extLst>
          </p:cNvPr>
          <p:cNvCxnSpPr>
            <a:cxnSpLocks/>
          </p:cNvCxnSpPr>
          <p:nvPr/>
        </p:nvCxnSpPr>
        <p:spPr>
          <a:xfrm>
            <a:off x="4380497" y="2991770"/>
            <a:ext cx="0" cy="400891"/>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DC35556-A45F-2BAF-1E61-707014DA87ED}"/>
              </a:ext>
            </a:extLst>
          </p:cNvPr>
          <p:cNvCxnSpPr>
            <a:cxnSpLocks/>
          </p:cNvCxnSpPr>
          <p:nvPr/>
        </p:nvCxnSpPr>
        <p:spPr>
          <a:xfrm flipH="1">
            <a:off x="2526889" y="3386146"/>
            <a:ext cx="187140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E495DF2-19AA-F8EF-AB69-E6B9C23D7734}"/>
              </a:ext>
            </a:extLst>
          </p:cNvPr>
          <p:cNvCxnSpPr/>
          <p:nvPr/>
        </p:nvCxnSpPr>
        <p:spPr>
          <a:xfrm>
            <a:off x="2526889" y="3386146"/>
            <a:ext cx="0" cy="3694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718C4A87-A09F-C98F-EFC6-3F442B77BC13}"/>
              </a:ext>
            </a:extLst>
          </p:cNvPr>
          <p:cNvSpPr txBox="1"/>
          <p:nvPr/>
        </p:nvSpPr>
        <p:spPr>
          <a:xfrm>
            <a:off x="766215" y="3343764"/>
            <a:ext cx="1849528" cy="369332"/>
          </a:xfrm>
          <a:prstGeom prst="rect">
            <a:avLst/>
          </a:prstGeom>
          <a:noFill/>
        </p:spPr>
        <p:txBody>
          <a:bodyPr wrap="square" rtlCol="0">
            <a:spAutoFit/>
          </a:bodyPr>
          <a:lstStyle/>
          <a:p>
            <a:r>
              <a:rPr lang="en-US" dirty="0"/>
              <a:t>Initial Condition</a:t>
            </a:r>
            <a:endParaRPr lang="en-IN" dirty="0"/>
          </a:p>
        </p:txBody>
      </p:sp>
      <p:cxnSp>
        <p:nvCxnSpPr>
          <p:cNvPr id="36" name="Straight Arrow Connector 35">
            <a:extLst>
              <a:ext uri="{FF2B5EF4-FFF2-40B4-BE49-F238E27FC236}">
                <a16:creationId xmlns:a16="http://schemas.microsoft.com/office/drawing/2014/main" id="{8DCA1671-B893-A716-DB92-61510F667E4F}"/>
              </a:ext>
            </a:extLst>
          </p:cNvPr>
          <p:cNvCxnSpPr>
            <a:cxnSpLocks/>
          </p:cNvCxnSpPr>
          <p:nvPr/>
        </p:nvCxnSpPr>
        <p:spPr>
          <a:xfrm>
            <a:off x="4070555" y="3962401"/>
            <a:ext cx="3277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22A24D37-A798-AB6F-119A-995B8468952D}"/>
              </a:ext>
            </a:extLst>
          </p:cNvPr>
          <p:cNvSpPr/>
          <p:nvPr/>
        </p:nvSpPr>
        <p:spPr>
          <a:xfrm>
            <a:off x="4398297" y="3667026"/>
            <a:ext cx="1354456" cy="5907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Forecasted 400 Steps</a:t>
            </a:r>
            <a:endParaRPr lang="en-IN" dirty="0"/>
          </a:p>
        </p:txBody>
      </p:sp>
      <p:cxnSp>
        <p:nvCxnSpPr>
          <p:cNvPr id="40" name="Straight Arrow Connector 39">
            <a:extLst>
              <a:ext uri="{FF2B5EF4-FFF2-40B4-BE49-F238E27FC236}">
                <a16:creationId xmlns:a16="http://schemas.microsoft.com/office/drawing/2014/main" id="{E9578739-5AA4-5D81-6AF7-73BFE0AF8FE0}"/>
              </a:ext>
            </a:extLst>
          </p:cNvPr>
          <p:cNvCxnSpPr/>
          <p:nvPr/>
        </p:nvCxnSpPr>
        <p:spPr>
          <a:xfrm>
            <a:off x="5504006" y="3120345"/>
            <a:ext cx="0" cy="54668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20835FE2-89D1-FD9D-2735-3CCFA6C1EF36}"/>
              </a:ext>
            </a:extLst>
          </p:cNvPr>
          <p:cNvCxnSpPr>
            <a:cxnSpLocks/>
          </p:cNvCxnSpPr>
          <p:nvPr/>
        </p:nvCxnSpPr>
        <p:spPr>
          <a:xfrm>
            <a:off x="5504006" y="3411583"/>
            <a:ext cx="248747" cy="0"/>
          </a:xfrm>
          <a:prstGeom prst="line">
            <a:avLst/>
          </a:prstGeom>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968531CF-93E8-70EC-9FDB-B181B5849A31}"/>
              </a:ext>
            </a:extLst>
          </p:cNvPr>
          <p:cNvSpPr txBox="1"/>
          <p:nvPr/>
        </p:nvSpPr>
        <p:spPr>
          <a:xfrm>
            <a:off x="5695862" y="3235642"/>
            <a:ext cx="1697703" cy="369332"/>
          </a:xfrm>
          <a:prstGeom prst="rect">
            <a:avLst/>
          </a:prstGeom>
          <a:noFill/>
        </p:spPr>
        <p:txBody>
          <a:bodyPr wrap="square" rtlCol="0">
            <a:spAutoFit/>
          </a:bodyPr>
          <a:lstStyle/>
          <a:p>
            <a:r>
              <a:rPr lang="en-US" b="1" dirty="0"/>
              <a:t>AE</a:t>
            </a:r>
            <a:endParaRPr lang="en-IN" b="1" dirty="0"/>
          </a:p>
        </p:txBody>
      </p:sp>
      <p:sp>
        <p:nvSpPr>
          <p:cNvPr id="47" name="TextBox 46">
            <a:extLst>
              <a:ext uri="{FF2B5EF4-FFF2-40B4-BE49-F238E27FC236}">
                <a16:creationId xmlns:a16="http://schemas.microsoft.com/office/drawing/2014/main" id="{58C66D17-147C-D5B4-5DCF-669163412114}"/>
              </a:ext>
            </a:extLst>
          </p:cNvPr>
          <p:cNvSpPr txBox="1"/>
          <p:nvPr/>
        </p:nvSpPr>
        <p:spPr>
          <a:xfrm>
            <a:off x="71724" y="4679274"/>
            <a:ext cx="12048551" cy="646331"/>
          </a:xfrm>
          <a:prstGeom prst="rect">
            <a:avLst/>
          </a:prstGeom>
          <a:noFill/>
        </p:spPr>
        <p:txBody>
          <a:bodyPr wrap="square" rtlCol="0">
            <a:spAutoFit/>
          </a:bodyPr>
          <a:lstStyle/>
          <a:p>
            <a:pPr marL="285750" indent="-285750">
              <a:buFont typeface="Arial" panose="020B0604020202020204" pitchFamily="34" charset="0"/>
              <a:buChar char="•"/>
            </a:pPr>
            <a:r>
              <a:rPr lang="en-US" dirty="0"/>
              <a:t>Mean absolute error (MAE) across an </a:t>
            </a:r>
            <a:r>
              <a:rPr lang="en-US" b="1" dirty="0"/>
              <a:t>ensemble of 500 test initial conditions </a:t>
            </a:r>
            <a:r>
              <a:rPr lang="en-US" dirty="0"/>
              <a:t>drawn from the attractor but not used for training.</a:t>
            </a:r>
            <a:endParaRPr lang="en-IN" dirty="0"/>
          </a:p>
        </p:txBody>
      </p:sp>
    </p:spTree>
    <p:extLst>
      <p:ext uri="{BB962C8B-B14F-4D97-AF65-F5344CB8AC3E}">
        <p14:creationId xmlns:p14="http://schemas.microsoft.com/office/powerpoint/2010/main" val="4165433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79248-6497-4107-747C-C9491E61D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40A7B-C11C-ABD4-0A3B-72E4CCA1F22F}"/>
              </a:ext>
            </a:extLst>
          </p:cNvPr>
          <p:cNvSpPr>
            <a:spLocks noGrp="1"/>
          </p:cNvSpPr>
          <p:nvPr>
            <p:ph type="title"/>
          </p:nvPr>
        </p:nvSpPr>
        <p:spPr>
          <a:xfrm>
            <a:off x="0" y="151088"/>
            <a:ext cx="12192000" cy="590751"/>
          </a:xfrm>
          <a:solidFill>
            <a:schemeClr val="tx2">
              <a:lumMod val="10000"/>
              <a:lumOff val="90000"/>
            </a:schemeClr>
          </a:solidFill>
        </p:spPr>
        <p:txBody>
          <a:bodyPr>
            <a:normAutofit fontScale="90000"/>
          </a:bodyPr>
          <a:lstStyle/>
          <a:p>
            <a:r>
              <a:rPr lang="en-US" sz="4000" b="1" dirty="0"/>
              <a:t>Testing</a:t>
            </a:r>
            <a:endParaRPr lang="en-IN" sz="4000" b="1" dirty="0"/>
          </a:p>
        </p:txBody>
      </p:sp>
      <p:pic>
        <p:nvPicPr>
          <p:cNvPr id="4" name="Picture 3">
            <a:extLst>
              <a:ext uri="{FF2B5EF4-FFF2-40B4-BE49-F238E27FC236}">
                <a16:creationId xmlns:a16="http://schemas.microsoft.com/office/drawing/2014/main" id="{53DC2B9D-3520-EBCC-1532-0FE055CDF370}"/>
              </a:ext>
            </a:extLst>
          </p:cNvPr>
          <p:cNvPicPr>
            <a:picLocks noChangeAspect="1"/>
          </p:cNvPicPr>
          <p:nvPr/>
        </p:nvPicPr>
        <p:blipFill>
          <a:blip r:embed="rId2"/>
          <a:srcRect l="8117" t="1476"/>
          <a:stretch>
            <a:fillRect/>
          </a:stretch>
        </p:blipFill>
        <p:spPr>
          <a:xfrm>
            <a:off x="61237" y="1523751"/>
            <a:ext cx="2943852" cy="4552335"/>
          </a:xfrm>
          <a:prstGeom prst="rect">
            <a:avLst/>
          </a:prstGeom>
        </p:spPr>
      </p:pic>
      <p:sp>
        <p:nvSpPr>
          <p:cNvPr id="5" name="TextBox 4">
            <a:extLst>
              <a:ext uri="{FF2B5EF4-FFF2-40B4-BE49-F238E27FC236}">
                <a16:creationId xmlns:a16="http://schemas.microsoft.com/office/drawing/2014/main" id="{F07D8A15-8E0D-906A-D859-8DCC180A9D8A}"/>
              </a:ext>
            </a:extLst>
          </p:cNvPr>
          <p:cNvSpPr txBox="1"/>
          <p:nvPr/>
        </p:nvSpPr>
        <p:spPr>
          <a:xfrm>
            <a:off x="505452" y="1056471"/>
            <a:ext cx="2438400" cy="369332"/>
          </a:xfrm>
          <a:prstGeom prst="rect">
            <a:avLst/>
          </a:prstGeom>
          <a:noFill/>
        </p:spPr>
        <p:txBody>
          <a:bodyPr wrap="square" rtlCol="0">
            <a:spAutoFit/>
          </a:bodyPr>
          <a:lstStyle/>
          <a:p>
            <a:r>
              <a:rPr lang="en-US" b="1" dirty="0"/>
              <a:t>Research Paper Plots</a:t>
            </a:r>
            <a:endParaRPr lang="en-IN" b="1" dirty="0"/>
          </a:p>
        </p:txBody>
      </p:sp>
      <p:cxnSp>
        <p:nvCxnSpPr>
          <p:cNvPr id="21" name="Straight Connector 20">
            <a:extLst>
              <a:ext uri="{FF2B5EF4-FFF2-40B4-BE49-F238E27FC236}">
                <a16:creationId xmlns:a16="http://schemas.microsoft.com/office/drawing/2014/main" id="{7083483A-B9DF-2EC3-50D8-31EB72F918CF}"/>
              </a:ext>
            </a:extLst>
          </p:cNvPr>
          <p:cNvCxnSpPr/>
          <p:nvPr/>
        </p:nvCxnSpPr>
        <p:spPr>
          <a:xfrm>
            <a:off x="3126659" y="741839"/>
            <a:ext cx="0" cy="6116161"/>
          </a:xfrm>
          <a:prstGeom prst="line">
            <a:avLst/>
          </a:prstGeom>
        </p:spPr>
        <p:style>
          <a:lnRef idx="2">
            <a:schemeClr val="dk1"/>
          </a:lnRef>
          <a:fillRef idx="0">
            <a:schemeClr val="dk1"/>
          </a:fillRef>
          <a:effectRef idx="1">
            <a:schemeClr val="dk1"/>
          </a:effectRef>
          <a:fontRef idx="minor">
            <a:schemeClr val="tx1"/>
          </a:fontRef>
        </p:style>
      </p:cxnSp>
      <p:pic>
        <p:nvPicPr>
          <p:cNvPr id="25" name="Picture 24">
            <a:extLst>
              <a:ext uri="{FF2B5EF4-FFF2-40B4-BE49-F238E27FC236}">
                <a16:creationId xmlns:a16="http://schemas.microsoft.com/office/drawing/2014/main" id="{FB3B0073-7D6E-3EC8-33D4-05B7D93592A9}"/>
              </a:ext>
            </a:extLst>
          </p:cNvPr>
          <p:cNvPicPr>
            <a:picLocks noChangeAspect="1"/>
          </p:cNvPicPr>
          <p:nvPr/>
        </p:nvPicPr>
        <p:blipFill>
          <a:blip r:embed="rId3"/>
          <a:stretch>
            <a:fillRect/>
          </a:stretch>
        </p:blipFill>
        <p:spPr>
          <a:xfrm>
            <a:off x="3268938" y="876575"/>
            <a:ext cx="4203576" cy="2770425"/>
          </a:xfrm>
          <a:prstGeom prst="rect">
            <a:avLst/>
          </a:prstGeom>
        </p:spPr>
      </p:pic>
      <p:pic>
        <p:nvPicPr>
          <p:cNvPr id="28" name="Picture 27">
            <a:extLst>
              <a:ext uri="{FF2B5EF4-FFF2-40B4-BE49-F238E27FC236}">
                <a16:creationId xmlns:a16="http://schemas.microsoft.com/office/drawing/2014/main" id="{847F2FD2-2A78-206D-0518-7A68489745AE}"/>
              </a:ext>
            </a:extLst>
          </p:cNvPr>
          <p:cNvPicPr>
            <a:picLocks noChangeAspect="1"/>
          </p:cNvPicPr>
          <p:nvPr/>
        </p:nvPicPr>
        <p:blipFill>
          <a:blip r:embed="rId4"/>
          <a:stretch>
            <a:fillRect/>
          </a:stretch>
        </p:blipFill>
        <p:spPr>
          <a:xfrm>
            <a:off x="7714788" y="902937"/>
            <a:ext cx="4203565" cy="2744063"/>
          </a:xfrm>
          <a:prstGeom prst="rect">
            <a:avLst/>
          </a:prstGeom>
        </p:spPr>
      </p:pic>
      <p:pic>
        <p:nvPicPr>
          <p:cNvPr id="32" name="Picture 31">
            <a:extLst>
              <a:ext uri="{FF2B5EF4-FFF2-40B4-BE49-F238E27FC236}">
                <a16:creationId xmlns:a16="http://schemas.microsoft.com/office/drawing/2014/main" id="{3650C79E-B9C0-91FC-ACF5-6EFE7B9AC4A1}"/>
              </a:ext>
            </a:extLst>
          </p:cNvPr>
          <p:cNvPicPr>
            <a:picLocks noChangeAspect="1"/>
          </p:cNvPicPr>
          <p:nvPr/>
        </p:nvPicPr>
        <p:blipFill>
          <a:blip r:embed="rId5"/>
          <a:stretch>
            <a:fillRect/>
          </a:stretch>
        </p:blipFill>
        <p:spPr>
          <a:xfrm>
            <a:off x="3309467" y="3909826"/>
            <a:ext cx="4309173" cy="2840019"/>
          </a:xfrm>
          <a:prstGeom prst="rect">
            <a:avLst/>
          </a:prstGeom>
        </p:spPr>
      </p:pic>
      <p:pic>
        <p:nvPicPr>
          <p:cNvPr id="34" name="Picture 33">
            <a:extLst>
              <a:ext uri="{FF2B5EF4-FFF2-40B4-BE49-F238E27FC236}">
                <a16:creationId xmlns:a16="http://schemas.microsoft.com/office/drawing/2014/main" id="{02E9797E-B7CB-9CAE-BE95-DC4D835DBAF5}"/>
              </a:ext>
            </a:extLst>
          </p:cNvPr>
          <p:cNvPicPr>
            <a:picLocks noChangeAspect="1"/>
          </p:cNvPicPr>
          <p:nvPr/>
        </p:nvPicPr>
        <p:blipFill>
          <a:blip r:embed="rId6"/>
          <a:stretch>
            <a:fillRect/>
          </a:stretch>
        </p:blipFill>
        <p:spPr>
          <a:xfrm>
            <a:off x="7861780" y="4017981"/>
            <a:ext cx="4119109" cy="2688931"/>
          </a:xfrm>
          <a:prstGeom prst="rect">
            <a:avLst/>
          </a:prstGeom>
        </p:spPr>
      </p:pic>
    </p:spTree>
    <p:extLst>
      <p:ext uri="{BB962C8B-B14F-4D97-AF65-F5344CB8AC3E}">
        <p14:creationId xmlns:p14="http://schemas.microsoft.com/office/powerpoint/2010/main" val="1692366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1E21D-E43E-00D8-DB30-FEA9EAD66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C5E66-DFAD-1E82-0F81-E1C57D73CC3E}"/>
              </a:ext>
            </a:extLst>
          </p:cNvPr>
          <p:cNvSpPr>
            <a:spLocks noGrp="1"/>
          </p:cNvSpPr>
          <p:nvPr>
            <p:ph type="title"/>
          </p:nvPr>
        </p:nvSpPr>
        <p:spPr>
          <a:xfrm>
            <a:off x="0" y="141256"/>
            <a:ext cx="12192000" cy="590751"/>
          </a:xfrm>
          <a:solidFill>
            <a:schemeClr val="tx2">
              <a:lumMod val="10000"/>
              <a:lumOff val="90000"/>
            </a:schemeClr>
          </a:solidFill>
        </p:spPr>
        <p:txBody>
          <a:bodyPr>
            <a:normAutofit fontScale="90000"/>
          </a:bodyPr>
          <a:lstStyle/>
          <a:p>
            <a:r>
              <a:rPr lang="en-US" sz="4000" b="1" dirty="0"/>
              <a:t>Distribution adherence test</a:t>
            </a:r>
          </a:p>
        </p:txBody>
      </p:sp>
      <p:sp>
        <p:nvSpPr>
          <p:cNvPr id="3" name="TextBox 2">
            <a:extLst>
              <a:ext uri="{FF2B5EF4-FFF2-40B4-BE49-F238E27FC236}">
                <a16:creationId xmlns:a16="http://schemas.microsoft.com/office/drawing/2014/main" id="{E94BD819-E9D4-232E-CCB0-059D8ED59556}"/>
              </a:ext>
            </a:extLst>
          </p:cNvPr>
          <p:cNvSpPr txBox="1"/>
          <p:nvPr/>
        </p:nvSpPr>
        <p:spPr>
          <a:xfrm>
            <a:off x="29963" y="692533"/>
            <a:ext cx="12191999"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t>NADE was trained with 40000-time windows.</a:t>
            </a:r>
          </a:p>
          <a:p>
            <a:pPr marL="285750" indent="-285750">
              <a:buFont typeface="Arial" panose="020B0604020202020204" pitchFamily="34" charset="0"/>
              <a:buChar char="•"/>
            </a:pPr>
            <a:r>
              <a:rPr lang="en-US" sz="1600" dirty="0"/>
              <a:t>Forecasted for 20000 steps from 40000 to 60000.</a:t>
            </a:r>
            <a:endParaRPr lang="en-IN" sz="1600" dirty="0"/>
          </a:p>
        </p:txBody>
      </p:sp>
      <p:pic>
        <p:nvPicPr>
          <p:cNvPr id="6" name="Picture 5">
            <a:extLst>
              <a:ext uri="{FF2B5EF4-FFF2-40B4-BE49-F238E27FC236}">
                <a16:creationId xmlns:a16="http://schemas.microsoft.com/office/drawing/2014/main" id="{09222E49-3E26-A374-4F05-15016BD65CC4}"/>
              </a:ext>
            </a:extLst>
          </p:cNvPr>
          <p:cNvPicPr>
            <a:picLocks noChangeAspect="1"/>
          </p:cNvPicPr>
          <p:nvPr/>
        </p:nvPicPr>
        <p:blipFill>
          <a:blip r:embed="rId3"/>
          <a:stretch>
            <a:fillRect/>
          </a:stretch>
        </p:blipFill>
        <p:spPr>
          <a:xfrm>
            <a:off x="1111042" y="1328791"/>
            <a:ext cx="9792929" cy="3082139"/>
          </a:xfrm>
          <a:prstGeom prst="rect">
            <a:avLst/>
          </a:prstGeom>
        </p:spPr>
      </p:pic>
      <p:pic>
        <p:nvPicPr>
          <p:cNvPr id="9" name="Picture 8">
            <a:extLst>
              <a:ext uri="{FF2B5EF4-FFF2-40B4-BE49-F238E27FC236}">
                <a16:creationId xmlns:a16="http://schemas.microsoft.com/office/drawing/2014/main" id="{B8B55664-EB70-C53B-1E9B-50A7B3835E7A}"/>
              </a:ext>
            </a:extLst>
          </p:cNvPr>
          <p:cNvPicPr>
            <a:picLocks noChangeAspect="1"/>
          </p:cNvPicPr>
          <p:nvPr/>
        </p:nvPicPr>
        <p:blipFill>
          <a:blip r:embed="rId4"/>
          <a:srcRect b="63728"/>
          <a:stretch>
            <a:fillRect/>
          </a:stretch>
        </p:blipFill>
        <p:spPr>
          <a:xfrm>
            <a:off x="0" y="4527697"/>
            <a:ext cx="4057605" cy="1740450"/>
          </a:xfrm>
          <a:prstGeom prst="rect">
            <a:avLst/>
          </a:prstGeom>
        </p:spPr>
      </p:pic>
      <p:pic>
        <p:nvPicPr>
          <p:cNvPr id="11" name="Picture 10">
            <a:extLst>
              <a:ext uri="{FF2B5EF4-FFF2-40B4-BE49-F238E27FC236}">
                <a16:creationId xmlns:a16="http://schemas.microsoft.com/office/drawing/2014/main" id="{DB784C7B-AE1A-6C24-3D22-82184577D0A1}"/>
              </a:ext>
            </a:extLst>
          </p:cNvPr>
          <p:cNvPicPr>
            <a:picLocks noChangeAspect="1"/>
          </p:cNvPicPr>
          <p:nvPr/>
        </p:nvPicPr>
        <p:blipFill>
          <a:blip r:embed="rId4"/>
          <a:srcRect t="37132" b="31613"/>
          <a:stretch>
            <a:fillRect/>
          </a:stretch>
        </p:blipFill>
        <p:spPr>
          <a:xfrm>
            <a:off x="4057605" y="4761231"/>
            <a:ext cx="4136717" cy="1528917"/>
          </a:xfrm>
          <a:prstGeom prst="rect">
            <a:avLst/>
          </a:prstGeom>
        </p:spPr>
      </p:pic>
      <p:pic>
        <p:nvPicPr>
          <p:cNvPr id="13" name="Picture 12">
            <a:extLst>
              <a:ext uri="{FF2B5EF4-FFF2-40B4-BE49-F238E27FC236}">
                <a16:creationId xmlns:a16="http://schemas.microsoft.com/office/drawing/2014/main" id="{8B8D25B6-36AC-17F8-45C5-651EF0E862DF}"/>
              </a:ext>
            </a:extLst>
          </p:cNvPr>
          <p:cNvPicPr>
            <a:picLocks noChangeAspect="1"/>
          </p:cNvPicPr>
          <p:nvPr/>
        </p:nvPicPr>
        <p:blipFill>
          <a:blip r:embed="rId4"/>
          <a:srcRect t="68244"/>
          <a:stretch>
            <a:fillRect/>
          </a:stretch>
        </p:blipFill>
        <p:spPr>
          <a:xfrm>
            <a:off x="8248052" y="4761231"/>
            <a:ext cx="3855455" cy="1447841"/>
          </a:xfrm>
          <a:prstGeom prst="rect">
            <a:avLst/>
          </a:prstGeom>
        </p:spPr>
      </p:pic>
    </p:spTree>
    <p:extLst>
      <p:ext uri="{BB962C8B-B14F-4D97-AF65-F5344CB8AC3E}">
        <p14:creationId xmlns:p14="http://schemas.microsoft.com/office/powerpoint/2010/main" val="2166034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495C9-29BF-BDE3-D966-DAEE6E34B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3D25D-547C-3249-ADF8-BF715EA9E133}"/>
              </a:ext>
            </a:extLst>
          </p:cNvPr>
          <p:cNvSpPr>
            <a:spLocks noGrp="1"/>
          </p:cNvSpPr>
          <p:nvPr>
            <p:ph type="title"/>
          </p:nvPr>
        </p:nvSpPr>
        <p:spPr>
          <a:xfrm>
            <a:off x="0" y="141256"/>
            <a:ext cx="12192000" cy="590751"/>
          </a:xfrm>
          <a:solidFill>
            <a:schemeClr val="tx2">
              <a:lumMod val="10000"/>
              <a:lumOff val="90000"/>
            </a:schemeClr>
          </a:solidFill>
        </p:spPr>
        <p:txBody>
          <a:bodyPr>
            <a:normAutofit fontScale="90000"/>
          </a:bodyPr>
          <a:lstStyle/>
          <a:p>
            <a:r>
              <a:rPr lang="en-US" sz="4000" b="1" dirty="0"/>
              <a:t>Estimation UQ metrics</a:t>
            </a:r>
          </a:p>
        </p:txBody>
      </p:sp>
      <p:sp>
        <p:nvSpPr>
          <p:cNvPr id="3" name="TextBox 2">
            <a:extLst>
              <a:ext uri="{FF2B5EF4-FFF2-40B4-BE49-F238E27FC236}">
                <a16:creationId xmlns:a16="http://schemas.microsoft.com/office/drawing/2014/main" id="{07E7F089-79E5-3D82-04EB-1782054F09A7}"/>
              </a:ext>
            </a:extLst>
          </p:cNvPr>
          <p:cNvSpPr txBox="1"/>
          <p:nvPr/>
        </p:nvSpPr>
        <p:spPr>
          <a:xfrm>
            <a:off x="78654" y="732007"/>
            <a:ext cx="12191999"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NADE was trained with 1e6 time windows.</a:t>
            </a:r>
          </a:p>
          <a:p>
            <a:pPr marL="285750" indent="-285750">
              <a:buFont typeface="Arial" panose="020B0604020202020204" pitchFamily="34" charset="0"/>
              <a:buChar char="•"/>
            </a:pPr>
            <a:r>
              <a:rPr lang="en-US" sz="1600" dirty="0"/>
              <a:t>For testing, we consider 500 unseen initial conditions drawn uniformly forming </a:t>
            </a:r>
            <a:r>
              <a:rPr lang="en-US" sz="1600" b="1" dirty="0"/>
              <a:t>nonoverlapping trajectories. </a:t>
            </a:r>
            <a:r>
              <a:rPr lang="en-US" sz="1600" dirty="0"/>
              <a:t>Each initial state is forecasted for 400 steps.</a:t>
            </a:r>
            <a:endParaRPr lang="en-IN" sz="1600" dirty="0"/>
          </a:p>
          <a:p>
            <a:endParaRPr lang="en-IN" sz="1600" dirty="0"/>
          </a:p>
        </p:txBody>
      </p:sp>
      <p:pic>
        <p:nvPicPr>
          <p:cNvPr id="26" name="Picture 25">
            <a:extLst>
              <a:ext uri="{FF2B5EF4-FFF2-40B4-BE49-F238E27FC236}">
                <a16:creationId xmlns:a16="http://schemas.microsoft.com/office/drawing/2014/main" id="{1CDDD3E5-800F-37A4-B8E3-A7858DF87B8A}"/>
              </a:ext>
            </a:extLst>
          </p:cNvPr>
          <p:cNvPicPr>
            <a:picLocks noChangeAspect="1"/>
          </p:cNvPicPr>
          <p:nvPr/>
        </p:nvPicPr>
        <p:blipFill>
          <a:blip r:embed="rId2"/>
          <a:stretch>
            <a:fillRect/>
          </a:stretch>
        </p:blipFill>
        <p:spPr>
          <a:xfrm>
            <a:off x="365941" y="1624562"/>
            <a:ext cx="2875100" cy="3039915"/>
          </a:xfrm>
          <a:prstGeom prst="rect">
            <a:avLst/>
          </a:prstGeom>
          <a:ln>
            <a:solidFill>
              <a:schemeClr val="accent1"/>
            </a:solidFill>
          </a:ln>
        </p:spPr>
      </p:pic>
      <p:pic>
        <p:nvPicPr>
          <p:cNvPr id="28" name="Picture 27">
            <a:extLst>
              <a:ext uri="{FF2B5EF4-FFF2-40B4-BE49-F238E27FC236}">
                <a16:creationId xmlns:a16="http://schemas.microsoft.com/office/drawing/2014/main" id="{FBF3B6BF-EE13-F9F8-D4AF-069AA155B7B8}"/>
              </a:ext>
            </a:extLst>
          </p:cNvPr>
          <p:cNvPicPr>
            <a:picLocks noChangeAspect="1"/>
          </p:cNvPicPr>
          <p:nvPr/>
        </p:nvPicPr>
        <p:blipFill>
          <a:blip r:embed="rId3"/>
          <a:srcRect r="7578"/>
          <a:stretch>
            <a:fillRect/>
          </a:stretch>
        </p:blipFill>
        <p:spPr>
          <a:xfrm>
            <a:off x="3398349" y="1624562"/>
            <a:ext cx="3737932" cy="4278398"/>
          </a:xfrm>
          <a:prstGeom prst="rect">
            <a:avLst/>
          </a:prstGeom>
          <a:ln>
            <a:solidFill>
              <a:schemeClr val="accent1"/>
            </a:solidFill>
          </a:ln>
        </p:spPr>
      </p:pic>
      <p:pic>
        <p:nvPicPr>
          <p:cNvPr id="30" name="Picture 29">
            <a:extLst>
              <a:ext uri="{FF2B5EF4-FFF2-40B4-BE49-F238E27FC236}">
                <a16:creationId xmlns:a16="http://schemas.microsoft.com/office/drawing/2014/main" id="{9C4CDA6B-B46A-3F29-EE3F-FF04EB020788}"/>
              </a:ext>
            </a:extLst>
          </p:cNvPr>
          <p:cNvPicPr>
            <a:picLocks noChangeAspect="1"/>
          </p:cNvPicPr>
          <p:nvPr/>
        </p:nvPicPr>
        <p:blipFill>
          <a:blip r:embed="rId4"/>
          <a:stretch>
            <a:fillRect/>
          </a:stretch>
        </p:blipFill>
        <p:spPr>
          <a:xfrm>
            <a:off x="7136281" y="1657743"/>
            <a:ext cx="5030187" cy="4396700"/>
          </a:xfrm>
          <a:prstGeom prst="rect">
            <a:avLst/>
          </a:prstGeom>
          <a:ln>
            <a:solidFill>
              <a:schemeClr val="accent1"/>
            </a:solidFill>
          </a:ln>
        </p:spPr>
      </p:pic>
    </p:spTree>
    <p:extLst>
      <p:ext uri="{BB962C8B-B14F-4D97-AF65-F5344CB8AC3E}">
        <p14:creationId xmlns:p14="http://schemas.microsoft.com/office/powerpoint/2010/main" val="3474409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46F1E-F505-917D-72B5-D5D762001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72522-D02C-8D62-C50A-4CB60246019A}"/>
              </a:ext>
            </a:extLst>
          </p:cNvPr>
          <p:cNvSpPr>
            <a:spLocks noGrp="1"/>
          </p:cNvSpPr>
          <p:nvPr>
            <p:ph type="title"/>
          </p:nvPr>
        </p:nvSpPr>
        <p:spPr>
          <a:xfrm>
            <a:off x="0" y="141256"/>
            <a:ext cx="12192000" cy="590751"/>
          </a:xfrm>
          <a:solidFill>
            <a:schemeClr val="tx2">
              <a:lumMod val="10000"/>
              <a:lumOff val="90000"/>
            </a:schemeClr>
          </a:solidFill>
        </p:spPr>
        <p:txBody>
          <a:bodyPr>
            <a:normAutofit fontScale="90000"/>
          </a:bodyPr>
          <a:lstStyle/>
          <a:p>
            <a:r>
              <a:rPr lang="en-US" sz="4000" b="1" dirty="0"/>
              <a:t>Estimation UQ metrics</a:t>
            </a:r>
          </a:p>
        </p:txBody>
      </p:sp>
      <p:sp>
        <p:nvSpPr>
          <p:cNvPr id="3" name="TextBox 2">
            <a:extLst>
              <a:ext uri="{FF2B5EF4-FFF2-40B4-BE49-F238E27FC236}">
                <a16:creationId xmlns:a16="http://schemas.microsoft.com/office/drawing/2014/main" id="{E6FE6810-0444-4B48-C9EA-92E8E12968B8}"/>
              </a:ext>
            </a:extLst>
          </p:cNvPr>
          <p:cNvSpPr txBox="1"/>
          <p:nvPr/>
        </p:nvSpPr>
        <p:spPr>
          <a:xfrm>
            <a:off x="78654" y="732007"/>
            <a:ext cx="12191999"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t>Ensemble Variance, Autocorrelation and Wasserstein Drift has been calculated for 500X400 grid. </a:t>
            </a:r>
          </a:p>
          <a:p>
            <a:pPr marL="285750" indent="-285750">
              <a:buFont typeface="Arial" panose="020B0604020202020204" pitchFamily="34" charset="0"/>
              <a:buChar char="•"/>
            </a:pPr>
            <a:r>
              <a:rPr lang="en-US" sz="2000" dirty="0"/>
              <a:t>From Ground Truth MAE is also calculated for this 500X400 grid.  </a:t>
            </a:r>
          </a:p>
          <a:p>
            <a:pPr marL="285750" indent="-285750">
              <a:buFont typeface="Arial" panose="020B0604020202020204" pitchFamily="34" charset="0"/>
              <a:buChar char="•"/>
            </a:pPr>
            <a:r>
              <a:rPr lang="en-US" sz="2000" dirty="0"/>
              <a:t> Performed linear regression on the 500 X 400 grid to map UQ metrics directly to the Mean Absolute Error (MAE).</a:t>
            </a:r>
          </a:p>
          <a:p>
            <a:pPr marL="285750" indent="-285750">
              <a:buFont typeface="Arial" panose="020B0604020202020204" pitchFamily="34" charset="0"/>
              <a:buChar char="•"/>
            </a:pPr>
            <a:r>
              <a:rPr lang="en-US" sz="2000" dirty="0"/>
              <a:t>Applied linear regression to model </a:t>
            </a:r>
            <a:r>
              <a:rPr lang="en-US" sz="2000" b="1" dirty="0"/>
              <a:t>MAE (response variable) </a:t>
            </a:r>
            <a:r>
              <a:rPr lang="en-US" sz="2000" dirty="0"/>
              <a:t>using the three UQ metrics (regressors). </a:t>
            </a:r>
          </a:p>
          <a:p>
            <a:pPr marL="285750" indent="-285750">
              <a:buFont typeface="Arial" panose="020B0604020202020204" pitchFamily="34" charset="0"/>
              <a:buChar char="•"/>
            </a:pPr>
            <a:r>
              <a:rPr lang="en-US" sz="2000" dirty="0"/>
              <a:t>Configured four regression models per trajectory: one for each individual metric, and one multiple regression combining all three.</a:t>
            </a:r>
          </a:p>
          <a:p>
            <a:pPr marL="285750" indent="-285750">
              <a:buFont typeface="Arial" panose="020B0604020202020204" pitchFamily="34" charset="0"/>
              <a:buChar char="•"/>
            </a:pPr>
            <a:r>
              <a:rPr lang="en-US" sz="2000" dirty="0"/>
              <a:t>Extracted the Pearson correlation coefficient per trajectory.</a:t>
            </a:r>
          </a:p>
          <a:p>
            <a:pPr marL="285750" indent="-285750">
              <a:buFont typeface="Arial" panose="020B0604020202020204" pitchFamily="34" charset="0"/>
              <a:buChar char="•"/>
            </a:pPr>
            <a:endParaRPr lang="en-US" sz="2000" dirty="0"/>
          </a:p>
        </p:txBody>
      </p:sp>
      <p:pic>
        <p:nvPicPr>
          <p:cNvPr id="6" name="Picture 5">
            <a:extLst>
              <a:ext uri="{FF2B5EF4-FFF2-40B4-BE49-F238E27FC236}">
                <a16:creationId xmlns:a16="http://schemas.microsoft.com/office/drawing/2014/main" id="{B57E5B81-DCC5-E867-B82C-3BF08768E582}"/>
              </a:ext>
            </a:extLst>
          </p:cNvPr>
          <p:cNvPicPr>
            <a:picLocks noChangeAspect="1"/>
          </p:cNvPicPr>
          <p:nvPr/>
        </p:nvPicPr>
        <p:blipFill>
          <a:blip r:embed="rId3"/>
          <a:srcRect b="73620"/>
          <a:stretch>
            <a:fillRect/>
          </a:stretch>
        </p:blipFill>
        <p:spPr>
          <a:xfrm>
            <a:off x="1371860" y="3205316"/>
            <a:ext cx="4802429" cy="1806677"/>
          </a:xfrm>
          <a:prstGeom prst="rect">
            <a:avLst/>
          </a:prstGeom>
        </p:spPr>
      </p:pic>
      <p:pic>
        <p:nvPicPr>
          <p:cNvPr id="8" name="Picture 7">
            <a:extLst>
              <a:ext uri="{FF2B5EF4-FFF2-40B4-BE49-F238E27FC236}">
                <a16:creationId xmlns:a16="http://schemas.microsoft.com/office/drawing/2014/main" id="{68183ACE-1CDF-72B2-77E8-B24EDAC3A8E6}"/>
              </a:ext>
            </a:extLst>
          </p:cNvPr>
          <p:cNvPicPr>
            <a:picLocks noChangeAspect="1"/>
          </p:cNvPicPr>
          <p:nvPr/>
        </p:nvPicPr>
        <p:blipFill>
          <a:blip r:embed="rId3"/>
          <a:srcRect l="112" t="25806" b="51295"/>
          <a:stretch>
            <a:fillRect/>
          </a:stretch>
        </p:blipFill>
        <p:spPr>
          <a:xfrm>
            <a:off x="6302477" y="3293807"/>
            <a:ext cx="4803552" cy="1570370"/>
          </a:xfrm>
          <a:prstGeom prst="rect">
            <a:avLst/>
          </a:prstGeom>
        </p:spPr>
      </p:pic>
      <p:pic>
        <p:nvPicPr>
          <p:cNvPr id="10" name="Picture 9">
            <a:extLst>
              <a:ext uri="{FF2B5EF4-FFF2-40B4-BE49-F238E27FC236}">
                <a16:creationId xmlns:a16="http://schemas.microsoft.com/office/drawing/2014/main" id="{822DC520-9A03-96FF-36F1-FAA3B0DD0D72}"/>
              </a:ext>
            </a:extLst>
          </p:cNvPr>
          <p:cNvPicPr>
            <a:picLocks noChangeAspect="1"/>
          </p:cNvPicPr>
          <p:nvPr/>
        </p:nvPicPr>
        <p:blipFill>
          <a:blip r:embed="rId3"/>
          <a:srcRect t="50000" r="112" b="27972"/>
          <a:stretch>
            <a:fillRect/>
          </a:stretch>
        </p:blipFill>
        <p:spPr>
          <a:xfrm>
            <a:off x="1370737" y="5121721"/>
            <a:ext cx="4803552" cy="1510727"/>
          </a:xfrm>
          <a:prstGeom prst="rect">
            <a:avLst/>
          </a:prstGeom>
        </p:spPr>
      </p:pic>
      <p:pic>
        <p:nvPicPr>
          <p:cNvPr id="12" name="Picture 11">
            <a:extLst>
              <a:ext uri="{FF2B5EF4-FFF2-40B4-BE49-F238E27FC236}">
                <a16:creationId xmlns:a16="http://schemas.microsoft.com/office/drawing/2014/main" id="{21AFFCCC-DB08-FA5F-38A9-43E552BFE377}"/>
              </a:ext>
            </a:extLst>
          </p:cNvPr>
          <p:cNvPicPr>
            <a:picLocks noChangeAspect="1"/>
          </p:cNvPicPr>
          <p:nvPr/>
        </p:nvPicPr>
        <p:blipFill>
          <a:blip r:embed="rId3"/>
          <a:srcRect t="73082" r="136"/>
          <a:stretch>
            <a:fillRect/>
          </a:stretch>
        </p:blipFill>
        <p:spPr>
          <a:xfrm>
            <a:off x="6472817" y="5093441"/>
            <a:ext cx="4590540" cy="1764559"/>
          </a:xfrm>
          <a:prstGeom prst="rect">
            <a:avLst/>
          </a:prstGeom>
        </p:spPr>
      </p:pic>
      <p:pic>
        <p:nvPicPr>
          <p:cNvPr id="16" name="Picture 15">
            <a:extLst>
              <a:ext uri="{FF2B5EF4-FFF2-40B4-BE49-F238E27FC236}">
                <a16:creationId xmlns:a16="http://schemas.microsoft.com/office/drawing/2014/main" id="{C10DBABE-35AA-9576-1E7B-DAC73763F2B1}"/>
              </a:ext>
            </a:extLst>
          </p:cNvPr>
          <p:cNvPicPr>
            <a:picLocks noChangeAspect="1"/>
          </p:cNvPicPr>
          <p:nvPr/>
        </p:nvPicPr>
        <p:blipFill>
          <a:blip r:embed="rId4"/>
          <a:stretch>
            <a:fillRect/>
          </a:stretch>
        </p:blipFill>
        <p:spPr>
          <a:xfrm>
            <a:off x="3163457" y="6582363"/>
            <a:ext cx="957439" cy="224004"/>
          </a:xfrm>
          <a:prstGeom prst="rect">
            <a:avLst/>
          </a:prstGeom>
        </p:spPr>
      </p:pic>
      <p:pic>
        <p:nvPicPr>
          <p:cNvPr id="18" name="Picture 17">
            <a:extLst>
              <a:ext uri="{FF2B5EF4-FFF2-40B4-BE49-F238E27FC236}">
                <a16:creationId xmlns:a16="http://schemas.microsoft.com/office/drawing/2014/main" id="{75C89A72-08DB-CDB1-EF39-44BDDE90A9E9}"/>
              </a:ext>
            </a:extLst>
          </p:cNvPr>
          <p:cNvPicPr>
            <a:picLocks noChangeAspect="1"/>
          </p:cNvPicPr>
          <p:nvPr/>
        </p:nvPicPr>
        <p:blipFill>
          <a:blip r:embed="rId4"/>
          <a:stretch>
            <a:fillRect/>
          </a:stretch>
        </p:blipFill>
        <p:spPr>
          <a:xfrm>
            <a:off x="8637665" y="4864177"/>
            <a:ext cx="865999" cy="202611"/>
          </a:xfrm>
          <a:prstGeom prst="rect">
            <a:avLst/>
          </a:prstGeom>
        </p:spPr>
      </p:pic>
      <p:pic>
        <p:nvPicPr>
          <p:cNvPr id="20" name="Picture 19">
            <a:extLst>
              <a:ext uri="{FF2B5EF4-FFF2-40B4-BE49-F238E27FC236}">
                <a16:creationId xmlns:a16="http://schemas.microsoft.com/office/drawing/2014/main" id="{5B5AFCA6-1A42-FBAB-D75B-B0D071594165}"/>
              </a:ext>
            </a:extLst>
          </p:cNvPr>
          <p:cNvPicPr>
            <a:picLocks noChangeAspect="1"/>
          </p:cNvPicPr>
          <p:nvPr/>
        </p:nvPicPr>
        <p:blipFill>
          <a:blip r:embed="rId4"/>
          <a:stretch>
            <a:fillRect/>
          </a:stretch>
        </p:blipFill>
        <p:spPr>
          <a:xfrm>
            <a:off x="3510929" y="4947802"/>
            <a:ext cx="786751" cy="184070"/>
          </a:xfrm>
          <a:prstGeom prst="rect">
            <a:avLst/>
          </a:prstGeom>
        </p:spPr>
      </p:pic>
    </p:spTree>
    <p:extLst>
      <p:ext uri="{BB962C8B-B14F-4D97-AF65-F5344CB8AC3E}">
        <p14:creationId xmlns:p14="http://schemas.microsoft.com/office/powerpoint/2010/main" val="1372093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3F912-68DE-A48D-EDDC-C9591C856416}"/>
              </a:ext>
            </a:extLst>
          </p:cNvPr>
          <p:cNvSpPr>
            <a:spLocks noGrp="1"/>
          </p:cNvSpPr>
          <p:nvPr>
            <p:ph type="title"/>
          </p:nvPr>
        </p:nvSpPr>
        <p:spPr>
          <a:xfrm>
            <a:off x="0" y="180258"/>
            <a:ext cx="12192000" cy="785248"/>
          </a:xfrm>
          <a:solidFill>
            <a:schemeClr val="tx2">
              <a:lumMod val="10000"/>
              <a:lumOff val="90000"/>
            </a:schemeClr>
          </a:solidFill>
        </p:spPr>
        <p:txBody>
          <a:bodyPr>
            <a:normAutofit/>
          </a:bodyPr>
          <a:lstStyle/>
          <a:p>
            <a:r>
              <a:rPr lang="en-IN" sz="4000" b="1" dirty="0"/>
              <a:t>Implementation of Conditional Joint Model </a:t>
            </a:r>
            <a:endParaRPr lang="en-IN" sz="40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8A47F30-8750-9ACD-97FE-A70B07C1F8D3}"/>
                  </a:ext>
                </a:extLst>
              </p:cNvPr>
              <p:cNvSpPr txBox="1"/>
              <p:nvPr/>
            </p:nvSpPr>
            <p:spPr>
              <a:xfrm>
                <a:off x="81280" y="1168400"/>
                <a:ext cx="4693920" cy="923330"/>
              </a:xfrm>
              <a:prstGeom prst="rect">
                <a:avLst/>
              </a:prstGeom>
              <a:noFill/>
              <a:ln>
                <a:solidFill>
                  <a:schemeClr val="tx1"/>
                </a:solidFill>
              </a:ln>
            </p:spPr>
            <p:txBody>
              <a:bodyPr wrap="square" rtlCol="0">
                <a:spAutoFit/>
              </a:bodyPr>
              <a:lstStyle/>
              <a:p>
                <a:pPr algn="ctr"/>
                <a:r>
                  <a:rPr lang="en-US" b="1" dirty="0"/>
                  <a:t>Data</a:t>
                </a:r>
              </a:p>
              <a:p>
                <a:r>
                  <a:rPr lang="en-US" dirty="0"/>
                  <a:t>Number of Datapoints (Time Windows)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oMath>
                </a14:m>
                <a:endParaRPr lang="en-US" dirty="0"/>
              </a:p>
              <a:p>
                <a:endParaRPr lang="en-IN" dirty="0"/>
              </a:p>
            </p:txBody>
          </p:sp>
        </mc:Choice>
        <mc:Fallback xmlns="">
          <p:sp>
            <p:nvSpPr>
              <p:cNvPr id="4" name="TextBox 3">
                <a:extLst>
                  <a:ext uri="{FF2B5EF4-FFF2-40B4-BE49-F238E27FC236}">
                    <a16:creationId xmlns:a16="http://schemas.microsoft.com/office/drawing/2014/main" id="{18A47F30-8750-9ACD-97FE-A70B07C1F8D3}"/>
                  </a:ext>
                </a:extLst>
              </p:cNvPr>
              <p:cNvSpPr txBox="1">
                <a:spLocks noRot="1" noChangeAspect="1" noMove="1" noResize="1" noEditPoints="1" noAdjustHandles="1" noChangeArrowheads="1" noChangeShapeType="1" noTextEdit="1"/>
              </p:cNvSpPr>
              <p:nvPr/>
            </p:nvSpPr>
            <p:spPr>
              <a:xfrm>
                <a:off x="81280" y="1168400"/>
                <a:ext cx="4693920" cy="923330"/>
              </a:xfrm>
              <a:prstGeom prst="rect">
                <a:avLst/>
              </a:prstGeom>
              <a:blipFill>
                <a:blip r:embed="rId3"/>
                <a:stretch>
                  <a:fillRect l="-907" t="-2614"/>
                </a:stretch>
              </a:blipFill>
              <a:ln>
                <a:solidFill>
                  <a:schemeClr val="tx1"/>
                </a:solidFill>
              </a:ln>
            </p:spPr>
            <p:txBody>
              <a:bodyPr/>
              <a:lstStyle/>
              <a:p>
                <a:r>
                  <a:rPr lang="en-IN">
                    <a:noFill/>
                  </a:rPr>
                  <a:t> </a:t>
                </a:r>
              </a:p>
            </p:txBody>
          </p:sp>
        </mc:Fallback>
      </mc:AlternateContent>
      <p:sp>
        <p:nvSpPr>
          <p:cNvPr id="5" name="TextBox 4">
            <a:extLst>
              <a:ext uri="{FF2B5EF4-FFF2-40B4-BE49-F238E27FC236}">
                <a16:creationId xmlns:a16="http://schemas.microsoft.com/office/drawing/2014/main" id="{758E8197-B562-E8AC-836B-8D3A19B7121D}"/>
              </a:ext>
            </a:extLst>
          </p:cNvPr>
          <p:cNvSpPr txBox="1"/>
          <p:nvPr/>
        </p:nvSpPr>
        <p:spPr>
          <a:xfrm>
            <a:off x="81280" y="2191385"/>
            <a:ext cx="4693920" cy="923330"/>
          </a:xfrm>
          <a:prstGeom prst="rect">
            <a:avLst/>
          </a:prstGeom>
          <a:noFill/>
          <a:ln>
            <a:solidFill>
              <a:schemeClr val="tx1"/>
            </a:solidFill>
          </a:ln>
        </p:spPr>
        <p:txBody>
          <a:bodyPr wrap="square" rtlCol="0">
            <a:spAutoFit/>
          </a:bodyPr>
          <a:lstStyle/>
          <a:p>
            <a:pPr algn="ctr"/>
            <a:r>
              <a:rPr lang="en-US" b="1" dirty="0"/>
              <a:t>NADE Architecture</a:t>
            </a:r>
          </a:p>
          <a:p>
            <a:pPr algn="ctr"/>
            <a:r>
              <a:rPr lang="en-US" dirty="0"/>
              <a:t>Hidden Layer Dimension = 1000</a:t>
            </a:r>
          </a:p>
          <a:p>
            <a:endParaRPr lang="en-IN" dirty="0"/>
          </a:p>
        </p:txBody>
      </p:sp>
      <p:sp>
        <p:nvSpPr>
          <p:cNvPr id="6" name="TextBox 5">
            <a:extLst>
              <a:ext uri="{FF2B5EF4-FFF2-40B4-BE49-F238E27FC236}">
                <a16:creationId xmlns:a16="http://schemas.microsoft.com/office/drawing/2014/main" id="{DD490CFE-3483-6ADD-0464-4457D5469E35}"/>
              </a:ext>
            </a:extLst>
          </p:cNvPr>
          <p:cNvSpPr txBox="1"/>
          <p:nvPr/>
        </p:nvSpPr>
        <p:spPr>
          <a:xfrm>
            <a:off x="81280" y="3214370"/>
            <a:ext cx="4693920" cy="2031325"/>
          </a:xfrm>
          <a:prstGeom prst="rect">
            <a:avLst/>
          </a:prstGeom>
          <a:noFill/>
          <a:ln>
            <a:solidFill>
              <a:schemeClr val="tx1"/>
            </a:solidFill>
          </a:ln>
        </p:spPr>
        <p:txBody>
          <a:bodyPr wrap="square" rtlCol="0">
            <a:spAutoFit/>
          </a:bodyPr>
          <a:lstStyle/>
          <a:p>
            <a:pPr algn="ctr"/>
            <a:r>
              <a:rPr lang="en-US" b="1" dirty="0"/>
              <a:t>Training</a:t>
            </a:r>
          </a:p>
          <a:p>
            <a:pPr marL="285750" indent="-285750" algn="just">
              <a:buFont typeface="Arial" panose="020B0604020202020204" pitchFamily="34" charset="0"/>
              <a:buChar char="•"/>
            </a:pPr>
            <a:r>
              <a:rPr lang="en-US" dirty="0"/>
              <a:t>Batch Size = 500</a:t>
            </a:r>
          </a:p>
          <a:p>
            <a:pPr marL="285750" indent="-285750" algn="just">
              <a:buFont typeface="Arial" panose="020B0604020202020204" pitchFamily="34" charset="0"/>
              <a:buChar char="•"/>
            </a:pPr>
            <a:r>
              <a:rPr lang="en-US" dirty="0"/>
              <a:t>Loss Function: Gaussian Negative Log Likelihood</a:t>
            </a:r>
          </a:p>
          <a:p>
            <a:pPr marL="285750" indent="-285750" algn="just">
              <a:buFont typeface="Arial" panose="020B0604020202020204" pitchFamily="34" charset="0"/>
              <a:buChar char="•"/>
            </a:pPr>
            <a:r>
              <a:rPr lang="en-US" dirty="0"/>
              <a:t>Adam Optimizer with Learning Rate = 0.001</a:t>
            </a:r>
          </a:p>
          <a:p>
            <a:pPr marL="285750" indent="-285750" algn="just">
              <a:buFont typeface="Arial" panose="020B0604020202020204" pitchFamily="34" charset="0"/>
              <a:buChar char="•"/>
            </a:pPr>
            <a:r>
              <a:rPr lang="en-US" dirty="0"/>
              <a:t>Epochs = 50</a:t>
            </a:r>
          </a:p>
          <a:p>
            <a:endParaRPr lang="en-IN" dirty="0"/>
          </a:p>
        </p:txBody>
      </p:sp>
      <p:sp>
        <p:nvSpPr>
          <p:cNvPr id="7" name="TextBox 6">
            <a:extLst>
              <a:ext uri="{FF2B5EF4-FFF2-40B4-BE49-F238E27FC236}">
                <a16:creationId xmlns:a16="http://schemas.microsoft.com/office/drawing/2014/main" id="{873BCD7D-A515-4644-16AA-34A63F1B2F10}"/>
              </a:ext>
            </a:extLst>
          </p:cNvPr>
          <p:cNvSpPr txBox="1"/>
          <p:nvPr/>
        </p:nvSpPr>
        <p:spPr>
          <a:xfrm>
            <a:off x="81280" y="5397462"/>
            <a:ext cx="4693920" cy="1200329"/>
          </a:xfrm>
          <a:prstGeom prst="rect">
            <a:avLst/>
          </a:prstGeom>
          <a:noFill/>
          <a:ln>
            <a:solidFill>
              <a:schemeClr val="tx1"/>
            </a:solidFill>
          </a:ln>
        </p:spPr>
        <p:txBody>
          <a:bodyPr wrap="square" rtlCol="0">
            <a:spAutoFit/>
          </a:bodyPr>
          <a:lstStyle/>
          <a:p>
            <a:pPr algn="ctr"/>
            <a:r>
              <a:rPr lang="en-US" b="1" dirty="0"/>
              <a:t>Data Generation</a:t>
            </a:r>
          </a:p>
          <a:p>
            <a:pPr algn="ctr"/>
            <a:r>
              <a:rPr lang="en-US" dirty="0"/>
              <a:t>Total Data Points Generated = </a:t>
            </a:r>
            <a:r>
              <a:rPr lang="en-IN" dirty="0"/>
              <a:t> 1000 per  forecast step</a:t>
            </a:r>
          </a:p>
          <a:p>
            <a:endParaRPr lang="en-IN" dirty="0"/>
          </a:p>
        </p:txBody>
      </p:sp>
      <p:pic>
        <p:nvPicPr>
          <p:cNvPr id="14" name="Picture 13">
            <a:extLst>
              <a:ext uri="{FF2B5EF4-FFF2-40B4-BE49-F238E27FC236}">
                <a16:creationId xmlns:a16="http://schemas.microsoft.com/office/drawing/2014/main" id="{7DF7DA59-2761-069C-E2F9-6262D0EC1A50}"/>
              </a:ext>
            </a:extLst>
          </p:cNvPr>
          <p:cNvPicPr>
            <a:picLocks noChangeAspect="1"/>
          </p:cNvPicPr>
          <p:nvPr/>
        </p:nvPicPr>
        <p:blipFill>
          <a:blip r:embed="rId4"/>
          <a:stretch>
            <a:fillRect/>
          </a:stretch>
        </p:blipFill>
        <p:spPr>
          <a:xfrm>
            <a:off x="4985099" y="1168400"/>
            <a:ext cx="6744641" cy="5258534"/>
          </a:xfrm>
          <a:prstGeom prst="rect">
            <a:avLst/>
          </a:prstGeom>
          <a:ln>
            <a:solidFill>
              <a:schemeClr val="accent1"/>
            </a:solidFill>
          </a:ln>
        </p:spPr>
      </p:pic>
    </p:spTree>
    <p:extLst>
      <p:ext uri="{BB962C8B-B14F-4D97-AF65-F5344CB8AC3E}">
        <p14:creationId xmlns:p14="http://schemas.microsoft.com/office/powerpoint/2010/main" val="3654256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13016-BF4D-3D32-32ED-AD1213C59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E204F-5858-A063-47FB-33223F3878FD}"/>
              </a:ext>
            </a:extLst>
          </p:cNvPr>
          <p:cNvSpPr>
            <a:spLocks noGrp="1"/>
          </p:cNvSpPr>
          <p:nvPr>
            <p:ph type="title"/>
          </p:nvPr>
        </p:nvSpPr>
        <p:spPr>
          <a:xfrm>
            <a:off x="0" y="180258"/>
            <a:ext cx="12192000" cy="785248"/>
          </a:xfrm>
          <a:solidFill>
            <a:schemeClr val="tx2">
              <a:lumMod val="10000"/>
              <a:lumOff val="90000"/>
            </a:schemeClr>
          </a:solidFill>
        </p:spPr>
        <p:txBody>
          <a:bodyPr>
            <a:normAutofit/>
          </a:bodyPr>
          <a:lstStyle/>
          <a:p>
            <a:r>
              <a:rPr lang="en-IN" sz="4000" b="1" dirty="0"/>
              <a:t>Implementation of Conditional Joint Model </a:t>
            </a:r>
            <a:endParaRPr lang="en-IN" sz="4000" dirty="0"/>
          </a:p>
        </p:txBody>
      </p:sp>
      <p:pic>
        <p:nvPicPr>
          <p:cNvPr id="8" name="Picture 7">
            <a:extLst>
              <a:ext uri="{FF2B5EF4-FFF2-40B4-BE49-F238E27FC236}">
                <a16:creationId xmlns:a16="http://schemas.microsoft.com/office/drawing/2014/main" id="{EC21A634-12FA-5583-A77E-94215695FAC1}"/>
              </a:ext>
            </a:extLst>
          </p:cNvPr>
          <p:cNvPicPr>
            <a:picLocks noChangeAspect="1"/>
          </p:cNvPicPr>
          <p:nvPr/>
        </p:nvPicPr>
        <p:blipFill>
          <a:blip r:embed="rId2"/>
          <a:stretch>
            <a:fillRect/>
          </a:stretch>
        </p:blipFill>
        <p:spPr>
          <a:xfrm>
            <a:off x="2281084" y="965039"/>
            <a:ext cx="6951406" cy="5712703"/>
          </a:xfrm>
          <a:prstGeom prst="rect">
            <a:avLst/>
          </a:prstGeom>
        </p:spPr>
      </p:pic>
    </p:spTree>
    <p:extLst>
      <p:ext uri="{BB962C8B-B14F-4D97-AF65-F5344CB8AC3E}">
        <p14:creationId xmlns:p14="http://schemas.microsoft.com/office/powerpoint/2010/main" val="3750935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4BEB4-5FE3-7B1A-4F42-DDB201698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41C43-B9EA-78E2-D70F-1AFE06226457}"/>
              </a:ext>
            </a:extLst>
          </p:cNvPr>
          <p:cNvSpPr>
            <a:spLocks noGrp="1"/>
          </p:cNvSpPr>
          <p:nvPr>
            <p:ph type="title"/>
          </p:nvPr>
        </p:nvSpPr>
        <p:spPr>
          <a:xfrm>
            <a:off x="0" y="180258"/>
            <a:ext cx="12192000" cy="785248"/>
          </a:xfrm>
          <a:solidFill>
            <a:schemeClr val="tx2">
              <a:lumMod val="10000"/>
              <a:lumOff val="90000"/>
            </a:schemeClr>
          </a:solidFill>
        </p:spPr>
        <p:txBody>
          <a:bodyPr>
            <a:normAutofit/>
          </a:bodyPr>
          <a:lstStyle/>
          <a:p>
            <a:r>
              <a:rPr lang="en-IN" sz="4000" b="1" dirty="0"/>
              <a:t>Implementation of Conditional Joint Model </a:t>
            </a:r>
            <a:endParaRPr lang="en-IN" sz="4000" dirty="0"/>
          </a:p>
        </p:txBody>
      </p:sp>
      <p:pic>
        <p:nvPicPr>
          <p:cNvPr id="3" name="Picture 2">
            <a:extLst>
              <a:ext uri="{FF2B5EF4-FFF2-40B4-BE49-F238E27FC236}">
                <a16:creationId xmlns:a16="http://schemas.microsoft.com/office/drawing/2014/main" id="{85B67724-0345-C2F8-EE41-99650D47E688}"/>
              </a:ext>
            </a:extLst>
          </p:cNvPr>
          <p:cNvPicPr>
            <a:picLocks noChangeAspect="1"/>
          </p:cNvPicPr>
          <p:nvPr/>
        </p:nvPicPr>
        <p:blipFill>
          <a:blip r:embed="rId2"/>
          <a:stretch>
            <a:fillRect/>
          </a:stretch>
        </p:blipFill>
        <p:spPr>
          <a:xfrm>
            <a:off x="2064772" y="1060853"/>
            <a:ext cx="8544233" cy="2688214"/>
          </a:xfrm>
          <a:prstGeom prst="rect">
            <a:avLst/>
          </a:prstGeom>
        </p:spPr>
      </p:pic>
      <p:sp>
        <p:nvSpPr>
          <p:cNvPr id="4" name="TextBox 3">
            <a:extLst>
              <a:ext uri="{FF2B5EF4-FFF2-40B4-BE49-F238E27FC236}">
                <a16:creationId xmlns:a16="http://schemas.microsoft.com/office/drawing/2014/main" id="{9B725331-8ABC-ECFE-1E1E-BB20F51DE36A}"/>
              </a:ext>
            </a:extLst>
          </p:cNvPr>
          <p:cNvSpPr txBox="1"/>
          <p:nvPr/>
        </p:nvSpPr>
        <p:spPr>
          <a:xfrm>
            <a:off x="13041" y="1918715"/>
            <a:ext cx="2215671" cy="646331"/>
          </a:xfrm>
          <a:prstGeom prst="rect">
            <a:avLst/>
          </a:prstGeom>
          <a:solidFill>
            <a:schemeClr val="bg1">
              <a:lumMod val="95000"/>
            </a:schemeClr>
          </a:solidFill>
        </p:spPr>
        <p:txBody>
          <a:bodyPr wrap="none" rtlCol="0">
            <a:spAutoFit/>
          </a:bodyPr>
          <a:lstStyle/>
          <a:p>
            <a:pPr algn="ctr"/>
            <a:r>
              <a:rPr lang="en-US" b="1" dirty="0"/>
              <a:t>Unconditional Joint</a:t>
            </a:r>
            <a:br>
              <a:rPr lang="en-US" b="1" dirty="0"/>
            </a:br>
            <a:r>
              <a:rPr lang="en-US" b="1" dirty="0"/>
              <a:t>Generative Model</a:t>
            </a:r>
            <a:endParaRPr lang="en-IN" b="1" dirty="0"/>
          </a:p>
        </p:txBody>
      </p:sp>
      <p:cxnSp>
        <p:nvCxnSpPr>
          <p:cNvPr id="6" name="Straight Connector 5">
            <a:extLst>
              <a:ext uri="{FF2B5EF4-FFF2-40B4-BE49-F238E27FC236}">
                <a16:creationId xmlns:a16="http://schemas.microsoft.com/office/drawing/2014/main" id="{71F00201-06C9-B4AA-B96B-A4C636A660C7}"/>
              </a:ext>
            </a:extLst>
          </p:cNvPr>
          <p:cNvCxnSpPr/>
          <p:nvPr/>
        </p:nvCxnSpPr>
        <p:spPr>
          <a:xfrm>
            <a:off x="0" y="3844415"/>
            <a:ext cx="12280490" cy="0"/>
          </a:xfrm>
          <a:prstGeom prst="line">
            <a:avLst/>
          </a:prstGeom>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26F22CDB-24FB-7666-3C1D-B08215B89DCD}"/>
              </a:ext>
            </a:extLst>
          </p:cNvPr>
          <p:cNvPicPr>
            <a:picLocks noChangeAspect="1"/>
          </p:cNvPicPr>
          <p:nvPr/>
        </p:nvPicPr>
        <p:blipFill>
          <a:blip r:embed="rId3"/>
          <a:stretch>
            <a:fillRect/>
          </a:stretch>
        </p:blipFill>
        <p:spPr>
          <a:xfrm>
            <a:off x="2228712" y="3911590"/>
            <a:ext cx="8544233" cy="2811735"/>
          </a:xfrm>
          <a:prstGeom prst="rect">
            <a:avLst/>
          </a:prstGeom>
        </p:spPr>
      </p:pic>
      <p:sp>
        <p:nvSpPr>
          <p:cNvPr id="10" name="TextBox 9">
            <a:extLst>
              <a:ext uri="{FF2B5EF4-FFF2-40B4-BE49-F238E27FC236}">
                <a16:creationId xmlns:a16="http://schemas.microsoft.com/office/drawing/2014/main" id="{160697E2-B827-F78D-27B6-6E217F727904}"/>
              </a:ext>
            </a:extLst>
          </p:cNvPr>
          <p:cNvSpPr txBox="1"/>
          <p:nvPr/>
        </p:nvSpPr>
        <p:spPr>
          <a:xfrm>
            <a:off x="107298" y="5038268"/>
            <a:ext cx="2027158" cy="646331"/>
          </a:xfrm>
          <a:prstGeom prst="rect">
            <a:avLst/>
          </a:prstGeom>
          <a:solidFill>
            <a:schemeClr val="bg1">
              <a:lumMod val="95000"/>
            </a:schemeClr>
          </a:solidFill>
        </p:spPr>
        <p:txBody>
          <a:bodyPr wrap="none" rtlCol="0">
            <a:spAutoFit/>
          </a:bodyPr>
          <a:lstStyle/>
          <a:p>
            <a:pPr algn="ctr"/>
            <a:r>
              <a:rPr lang="en-US" b="1" dirty="0"/>
              <a:t>Conditional Joint </a:t>
            </a:r>
            <a:br>
              <a:rPr lang="en-US" b="1" dirty="0"/>
            </a:br>
            <a:r>
              <a:rPr lang="en-US" b="1" dirty="0"/>
              <a:t>Generative Model</a:t>
            </a:r>
            <a:endParaRPr lang="en-IN" b="1" dirty="0"/>
          </a:p>
        </p:txBody>
      </p:sp>
    </p:spTree>
    <p:extLst>
      <p:ext uri="{BB962C8B-B14F-4D97-AF65-F5344CB8AC3E}">
        <p14:creationId xmlns:p14="http://schemas.microsoft.com/office/powerpoint/2010/main" val="3433279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8C649-756E-6626-3BEC-26BF2051F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72435-9B38-6AA6-4B7B-1C082C510DBE}"/>
              </a:ext>
            </a:extLst>
          </p:cNvPr>
          <p:cNvSpPr>
            <a:spLocks noGrp="1"/>
          </p:cNvSpPr>
          <p:nvPr>
            <p:ph type="title"/>
          </p:nvPr>
        </p:nvSpPr>
        <p:spPr>
          <a:xfrm>
            <a:off x="0" y="180258"/>
            <a:ext cx="12192000" cy="785248"/>
          </a:xfrm>
          <a:solidFill>
            <a:schemeClr val="tx2">
              <a:lumMod val="10000"/>
              <a:lumOff val="90000"/>
            </a:schemeClr>
          </a:solidFill>
        </p:spPr>
        <p:txBody>
          <a:bodyPr>
            <a:normAutofit/>
          </a:bodyPr>
          <a:lstStyle/>
          <a:p>
            <a:r>
              <a:rPr lang="en-US" sz="4000" b="1" dirty="0"/>
              <a:t>Distribution adherence test</a:t>
            </a:r>
            <a:endParaRPr lang="en-IN" sz="4000" dirty="0"/>
          </a:p>
        </p:txBody>
      </p:sp>
      <p:pic>
        <p:nvPicPr>
          <p:cNvPr id="4" name="Picture 3">
            <a:extLst>
              <a:ext uri="{FF2B5EF4-FFF2-40B4-BE49-F238E27FC236}">
                <a16:creationId xmlns:a16="http://schemas.microsoft.com/office/drawing/2014/main" id="{F2B7C4A6-76EF-CAFC-C287-E273071D0046}"/>
              </a:ext>
            </a:extLst>
          </p:cNvPr>
          <p:cNvPicPr>
            <a:picLocks noChangeAspect="1"/>
          </p:cNvPicPr>
          <p:nvPr/>
        </p:nvPicPr>
        <p:blipFill>
          <a:blip r:embed="rId3"/>
          <a:stretch>
            <a:fillRect/>
          </a:stretch>
        </p:blipFill>
        <p:spPr>
          <a:xfrm>
            <a:off x="825910" y="965506"/>
            <a:ext cx="10294374" cy="3239959"/>
          </a:xfrm>
          <a:prstGeom prst="rect">
            <a:avLst/>
          </a:prstGeom>
        </p:spPr>
      </p:pic>
      <p:pic>
        <p:nvPicPr>
          <p:cNvPr id="6" name="Picture 5">
            <a:extLst>
              <a:ext uri="{FF2B5EF4-FFF2-40B4-BE49-F238E27FC236}">
                <a16:creationId xmlns:a16="http://schemas.microsoft.com/office/drawing/2014/main" id="{04767BDC-8CC9-2ACF-D4B7-E7B03FEEF324}"/>
              </a:ext>
            </a:extLst>
          </p:cNvPr>
          <p:cNvPicPr>
            <a:picLocks noChangeAspect="1"/>
          </p:cNvPicPr>
          <p:nvPr/>
        </p:nvPicPr>
        <p:blipFill>
          <a:blip r:embed="rId4"/>
          <a:stretch>
            <a:fillRect/>
          </a:stretch>
        </p:blipFill>
        <p:spPr>
          <a:xfrm>
            <a:off x="-30057" y="4617893"/>
            <a:ext cx="4014122" cy="1428391"/>
          </a:xfrm>
          <a:prstGeom prst="rect">
            <a:avLst/>
          </a:prstGeom>
        </p:spPr>
      </p:pic>
      <p:pic>
        <p:nvPicPr>
          <p:cNvPr id="9" name="Picture 8">
            <a:extLst>
              <a:ext uri="{FF2B5EF4-FFF2-40B4-BE49-F238E27FC236}">
                <a16:creationId xmlns:a16="http://schemas.microsoft.com/office/drawing/2014/main" id="{A4172846-627F-EDEA-6439-8AAA1EE33B14}"/>
              </a:ext>
            </a:extLst>
          </p:cNvPr>
          <p:cNvPicPr>
            <a:picLocks noChangeAspect="1"/>
          </p:cNvPicPr>
          <p:nvPr/>
        </p:nvPicPr>
        <p:blipFill>
          <a:blip r:embed="rId5"/>
          <a:stretch>
            <a:fillRect/>
          </a:stretch>
        </p:blipFill>
        <p:spPr>
          <a:xfrm>
            <a:off x="4014917" y="4623840"/>
            <a:ext cx="4014122" cy="1416498"/>
          </a:xfrm>
          <a:prstGeom prst="rect">
            <a:avLst/>
          </a:prstGeom>
        </p:spPr>
      </p:pic>
      <p:pic>
        <p:nvPicPr>
          <p:cNvPr id="11" name="Picture 10">
            <a:extLst>
              <a:ext uri="{FF2B5EF4-FFF2-40B4-BE49-F238E27FC236}">
                <a16:creationId xmlns:a16="http://schemas.microsoft.com/office/drawing/2014/main" id="{A2091618-1A7C-1979-CD5D-C57C81B9D0CE}"/>
              </a:ext>
            </a:extLst>
          </p:cNvPr>
          <p:cNvPicPr>
            <a:picLocks noChangeAspect="1"/>
          </p:cNvPicPr>
          <p:nvPr/>
        </p:nvPicPr>
        <p:blipFill>
          <a:blip r:embed="rId6"/>
          <a:stretch>
            <a:fillRect/>
          </a:stretch>
        </p:blipFill>
        <p:spPr>
          <a:xfrm>
            <a:off x="7931658" y="4594970"/>
            <a:ext cx="4162020" cy="1474236"/>
          </a:xfrm>
          <a:prstGeom prst="rect">
            <a:avLst/>
          </a:prstGeom>
        </p:spPr>
      </p:pic>
    </p:spTree>
    <p:extLst>
      <p:ext uri="{BB962C8B-B14F-4D97-AF65-F5344CB8AC3E}">
        <p14:creationId xmlns:p14="http://schemas.microsoft.com/office/powerpoint/2010/main" val="40559651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DB594-E3E8-30D6-0B8F-248BF3FF9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EE0DA-6D09-4C5B-AC9D-8081F43E564B}"/>
              </a:ext>
            </a:extLst>
          </p:cNvPr>
          <p:cNvSpPr>
            <a:spLocks noGrp="1"/>
          </p:cNvSpPr>
          <p:nvPr>
            <p:ph type="title"/>
          </p:nvPr>
        </p:nvSpPr>
        <p:spPr>
          <a:xfrm>
            <a:off x="0" y="141256"/>
            <a:ext cx="12192000" cy="590751"/>
          </a:xfrm>
          <a:solidFill>
            <a:schemeClr val="tx2">
              <a:lumMod val="10000"/>
              <a:lumOff val="90000"/>
            </a:schemeClr>
          </a:solidFill>
        </p:spPr>
        <p:txBody>
          <a:bodyPr>
            <a:normAutofit fontScale="90000"/>
          </a:bodyPr>
          <a:lstStyle/>
          <a:p>
            <a:r>
              <a:rPr lang="en-US" sz="4000" b="1" dirty="0"/>
              <a:t>Future Work</a:t>
            </a:r>
            <a:endParaRPr lang="en-IN" sz="4000" b="1" dirty="0"/>
          </a:p>
        </p:txBody>
      </p:sp>
      <p:sp>
        <p:nvSpPr>
          <p:cNvPr id="4" name="TextBox 3">
            <a:extLst>
              <a:ext uri="{FF2B5EF4-FFF2-40B4-BE49-F238E27FC236}">
                <a16:creationId xmlns:a16="http://schemas.microsoft.com/office/drawing/2014/main" id="{7D06890F-C9CC-80D6-3950-6EBA46819C3E}"/>
              </a:ext>
            </a:extLst>
          </p:cNvPr>
          <p:cNvSpPr txBox="1"/>
          <p:nvPr/>
        </p:nvSpPr>
        <p:spPr>
          <a:xfrm>
            <a:off x="304800" y="875071"/>
            <a:ext cx="10628671" cy="1015663"/>
          </a:xfrm>
          <a:prstGeom prst="rect">
            <a:avLst/>
          </a:prstGeom>
          <a:noFill/>
        </p:spPr>
        <p:txBody>
          <a:bodyPr wrap="square" rtlCol="0">
            <a:spAutoFit/>
          </a:bodyPr>
          <a:lstStyle/>
          <a:p>
            <a:r>
              <a:rPr lang="en-US" sz="2000" dirty="0"/>
              <a:t>• Increase the complexity of the NADE architecture and evaluate its performance.</a:t>
            </a:r>
          </a:p>
          <a:p>
            <a:r>
              <a:rPr lang="en-US" sz="2000" dirty="0"/>
              <a:t>• Implement the model for the KS equation.</a:t>
            </a:r>
          </a:p>
          <a:p>
            <a:r>
              <a:rPr lang="en-US" sz="2000" dirty="0"/>
              <a:t>• Extend the implementation to high-dimensional datasets such as ERA5.</a:t>
            </a:r>
            <a:endParaRPr lang="en-IN" sz="2000" dirty="0"/>
          </a:p>
        </p:txBody>
      </p:sp>
    </p:spTree>
    <p:extLst>
      <p:ext uri="{BB962C8B-B14F-4D97-AF65-F5344CB8AC3E}">
        <p14:creationId xmlns:p14="http://schemas.microsoft.com/office/powerpoint/2010/main" val="3397661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BDAC-FCCA-5C82-0BBF-6D4778F9F4DA}"/>
              </a:ext>
            </a:extLst>
          </p:cNvPr>
          <p:cNvSpPr>
            <a:spLocks noGrp="1"/>
          </p:cNvSpPr>
          <p:nvPr>
            <p:ph type="title"/>
          </p:nvPr>
        </p:nvSpPr>
        <p:spPr>
          <a:xfrm>
            <a:off x="4345329" y="2529590"/>
            <a:ext cx="10515600" cy="1325563"/>
          </a:xfrm>
        </p:spPr>
        <p:txBody>
          <a:bodyPr/>
          <a:lstStyle/>
          <a:p>
            <a:r>
              <a:rPr lang="en-US" dirty="0"/>
              <a:t>Thank You</a:t>
            </a:r>
            <a:endParaRPr lang="en-IN" dirty="0"/>
          </a:p>
        </p:txBody>
      </p:sp>
    </p:spTree>
    <p:extLst>
      <p:ext uri="{BB962C8B-B14F-4D97-AF65-F5344CB8AC3E}">
        <p14:creationId xmlns:p14="http://schemas.microsoft.com/office/powerpoint/2010/main" val="2817668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3096</TotalTime>
  <Words>3877</Words>
  <Application>Microsoft Office PowerPoint</Application>
  <PresentationFormat>Widescreen</PresentationFormat>
  <Paragraphs>439</Paragraphs>
  <Slides>27</Slides>
  <Notes>14</Notes>
  <HiddenSlides>0</HiddenSlides>
  <MMClips>11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Cambria Math</vt:lpstr>
      <vt:lpstr>Office Theme</vt:lpstr>
      <vt:lpstr>Generative Forecasting with Joint Probability Models</vt:lpstr>
      <vt:lpstr>PowerPoint Presentation</vt:lpstr>
      <vt:lpstr> Chaotic Dynamical System</vt:lpstr>
      <vt:lpstr> Concepts related to Chaotic Dynamical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Extension to Joint Generative Framework</vt:lpstr>
      <vt:lpstr>Lorenz-63 model</vt:lpstr>
      <vt:lpstr>Lorenz-63 model</vt:lpstr>
      <vt:lpstr>NADE Implementation to Forecast Lorenz System</vt:lpstr>
      <vt:lpstr>NADE Implementation to Forecast Lorenz System</vt:lpstr>
      <vt:lpstr>Testing</vt:lpstr>
      <vt:lpstr>Testing</vt:lpstr>
      <vt:lpstr>Distribution adherence test</vt:lpstr>
      <vt:lpstr>Estimation UQ metrics</vt:lpstr>
      <vt:lpstr>Estimation UQ metrics</vt:lpstr>
      <vt:lpstr>Implementation of Conditional Joint Model </vt:lpstr>
      <vt:lpstr>Implementation of Conditional Joint Model </vt:lpstr>
      <vt:lpstr>Implementation of Conditional Joint Model </vt:lpstr>
      <vt:lpstr>Distribution adherence test</vt:lpstr>
      <vt:lpstr>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R Reddy</dc:creator>
  <cp:lastModifiedBy>Abhishek R Reddy</cp:lastModifiedBy>
  <cp:revision>119</cp:revision>
  <dcterms:created xsi:type="dcterms:W3CDTF">2026-03-10T06:33:45Z</dcterms:created>
  <dcterms:modified xsi:type="dcterms:W3CDTF">2026-05-07T13:13:02Z</dcterms:modified>
</cp:coreProperties>
</file>